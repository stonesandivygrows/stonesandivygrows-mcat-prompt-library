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8669000" cy="15430500"/>
  <p:notesSz cx="15430500" cy="18669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451832" y="152383"/>
            <a:ext cx="3161713" cy="159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83" kern="0" dirty="0">
                <a:solidFill>
                  <a:srgbClr val="9AA3A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C/P · MCAT PHYSICS · SI UNITS MIND MAP · STUDY</a:t>
            </a:r>
            <a:endParaRPr lang="en-US" sz="825" dirty="0"/>
          </a:p>
        </p:txBody>
      </p:sp>
      <p:sp>
        <p:nvSpPr>
          <p:cNvPr id="3" name="Shape 1"/>
          <p:cNvSpPr/>
          <p:nvPr/>
        </p:nvSpPr>
        <p:spPr>
          <a:xfrm>
            <a:off x="381000" y="304767"/>
            <a:ext cx="6858001" cy="690893"/>
          </a:xfrm>
          <a:prstGeom prst="roundRect">
            <a:avLst>
              <a:gd name="adj" fmla="val 19301"/>
            </a:avLst>
          </a:prstGeom>
          <a:ln w="10583">
            <a:solidFill>
              <a:srgbClr val="D6DAD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1100" y="526355"/>
            <a:ext cx="247633" cy="247633"/>
          </a:xfrm>
          <a:prstGeom prst="roundRect">
            <a:avLst>
              <a:gd name="adj" fmla="val 23079"/>
            </a:avLst>
          </a:prstGeom>
          <a:solidFill>
            <a:srgbClr val="2F6F8F"/>
          </a:solidFill>
          <a:ln/>
        </p:spPr>
      </p:sp>
      <p:sp>
        <p:nvSpPr>
          <p:cNvPr id="5" name="Text 3"/>
          <p:cNvSpPr/>
          <p:nvPr/>
        </p:nvSpPr>
        <p:spPr>
          <a:xfrm>
            <a:off x="943984" y="570756"/>
            <a:ext cx="936261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Units </a:t>
            </a:r>
            <a:pPr algn="l" indent="0" marL="0">
              <a:buNone/>
            </a:pPr>
            <a:r>
              <a:rPr lang="en-US" sz="1050" b="1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(SI)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51679" y="510481"/>
            <a:ext cx="279383" cy="279383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CE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26312" y="570756"/>
            <a:ext cx="532937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Derived</a:t>
            </a:r>
            <a:endParaRPr lang="en-US" sz="10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30682" y="489893"/>
            <a:ext cx="381000" cy="761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597341" y="448634"/>
            <a:ext cx="1187285" cy="196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Solid = multiply by</a:t>
            </a:r>
            <a:endParaRPr lang="en-US" sz="10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30682" y="734301"/>
            <a:ext cx="381000" cy="761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97341" y="693043"/>
            <a:ext cx="1195139" cy="1968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Dashed = divide by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963914" y="555542"/>
            <a:ext cx="667081" cy="189342"/>
          </a:xfrm>
          <a:prstGeom prst="roundRect">
            <a:avLst>
              <a:gd name="adj" fmla="val 50000"/>
            </a:avLst>
          </a:prstGeom>
          <a:solidFill>
            <a:srgbClr val="556677"/>
          </a:solidFill>
          <a:ln/>
        </p:spPr>
      </p:sp>
      <p:sp>
        <p:nvSpPr>
          <p:cNvPr id="13" name="Text 9"/>
          <p:cNvSpPr/>
          <p:nvPr/>
        </p:nvSpPr>
        <p:spPr>
          <a:xfrm>
            <a:off x="5049639" y="584117"/>
            <a:ext cx="571831" cy="17029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mass (kg)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5716654" y="491464"/>
            <a:ext cx="924603" cy="3556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the quantity applied</a:t>
            </a:r>
            <a:endParaRPr lang="en-US" sz="10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0" y="0"/>
            <a:ext cx="18669001" cy="15430501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2419284" y="1847784"/>
            <a:ext cx="876267" cy="876267"/>
          </a:xfrm>
          <a:prstGeom prst="roundRect">
            <a:avLst>
              <a:gd name="adj" fmla="val 13044"/>
            </a:avLst>
          </a:prstGeom>
          <a:solidFill>
            <a:srgbClr val="2F6F8F"/>
          </a:solidFill>
          <a:ln/>
          <a:effectLst>
            <a:outerShdw sx="100000" sy="100000" kx="0" ky="0" algn="bl" rotWithShape="0" blurRad="57150" dist="19050" dir="5400000">
              <a:srgbClr val="000000">
                <a:alpha val="18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2771263" y="2053084"/>
            <a:ext cx="248510" cy="503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3150" dirty="0"/>
          </a:p>
        </p:txBody>
      </p:sp>
      <p:sp>
        <p:nvSpPr>
          <p:cNvPr id="18" name="Shape 13"/>
          <p:cNvSpPr/>
          <p:nvPr/>
        </p:nvSpPr>
        <p:spPr>
          <a:xfrm>
            <a:off x="4895784" y="1847784"/>
            <a:ext cx="876267" cy="876267"/>
          </a:xfrm>
          <a:prstGeom prst="roundRect">
            <a:avLst>
              <a:gd name="adj" fmla="val 13044"/>
            </a:avLst>
          </a:prstGeom>
          <a:solidFill>
            <a:srgbClr val="C0392B"/>
          </a:solidFill>
          <a:ln/>
          <a:effectLst>
            <a:outerShdw sx="100000" sy="100000" kx="0" ky="0" algn="bl" rotWithShape="0" blurRad="57150" dist="19050" dir="5400000">
              <a:srgbClr val="000000">
                <a:alpha val="18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5162021" y="2053084"/>
            <a:ext cx="419993" cy="503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3150" dirty="0"/>
          </a:p>
        </p:txBody>
      </p:sp>
      <p:sp>
        <p:nvSpPr>
          <p:cNvPr id="20" name="Shape 15"/>
          <p:cNvSpPr/>
          <p:nvPr/>
        </p:nvSpPr>
        <p:spPr>
          <a:xfrm>
            <a:off x="7372284" y="1847784"/>
            <a:ext cx="876267" cy="876267"/>
          </a:xfrm>
          <a:prstGeom prst="roundRect">
            <a:avLst>
              <a:gd name="adj" fmla="val 13044"/>
            </a:avLst>
          </a:prstGeom>
          <a:solidFill>
            <a:srgbClr val="1A7A44"/>
          </a:solidFill>
          <a:ln/>
          <a:effectLst>
            <a:outerShdw sx="100000" sy="100000" kx="0" ky="0" algn="bl" rotWithShape="0" blurRad="57150" dist="19050" dir="5400000">
              <a:srgbClr val="000000">
                <a:alpha val="18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7600405" y="2053084"/>
            <a:ext cx="496226" cy="503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kg</a:t>
            </a:r>
            <a:endParaRPr lang="en-US" sz="3150" dirty="0"/>
          </a:p>
        </p:txBody>
      </p:sp>
      <p:sp>
        <p:nvSpPr>
          <p:cNvPr id="22" name="Shape 17"/>
          <p:cNvSpPr/>
          <p:nvPr/>
        </p:nvSpPr>
        <p:spPr>
          <a:xfrm>
            <a:off x="13658785" y="1847784"/>
            <a:ext cx="876267" cy="876267"/>
          </a:xfrm>
          <a:prstGeom prst="roundRect">
            <a:avLst>
              <a:gd name="adj" fmla="val 13044"/>
            </a:avLst>
          </a:prstGeom>
          <a:solidFill>
            <a:srgbClr val="E07B1A"/>
          </a:solidFill>
          <a:ln/>
          <a:effectLst>
            <a:outerShdw sx="100000" sy="100000" kx="0" ky="0" algn="bl" rotWithShape="0" blurRad="57150" dist="19050" dir="5400000">
              <a:srgbClr val="000000">
                <a:alpha val="18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13974466" y="2053084"/>
            <a:ext cx="321022" cy="503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3150" dirty="0"/>
          </a:p>
        </p:txBody>
      </p:sp>
      <p:sp>
        <p:nvSpPr>
          <p:cNvPr id="24" name="Shape 19"/>
          <p:cNvSpPr/>
          <p:nvPr/>
        </p:nvSpPr>
        <p:spPr>
          <a:xfrm>
            <a:off x="2686017" y="4400517"/>
            <a:ext cx="1485884" cy="14858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CED4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3174769" y="4994342"/>
            <a:ext cx="508380" cy="336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2025" b="1" dirty="0">
                <a:solidFill>
                  <a:srgbClr val="3F7F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m/s</a:t>
            </a:r>
            <a:endParaRPr lang="en-US" sz="2025" dirty="0"/>
          </a:p>
        </p:txBody>
      </p:sp>
      <p:sp>
        <p:nvSpPr>
          <p:cNvPr id="26" name="Shape 21"/>
          <p:cNvSpPr/>
          <p:nvPr/>
        </p:nvSpPr>
        <p:spPr>
          <a:xfrm>
            <a:off x="1924017" y="7067517"/>
            <a:ext cx="1485884" cy="14858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CED4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2375065" y="7672338"/>
            <a:ext cx="583787" cy="314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875" b="1" dirty="0">
                <a:solidFill>
                  <a:srgbClr val="6A5AC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m/s²</a:t>
            </a:r>
            <a:endParaRPr lang="en-US" sz="1875" dirty="0"/>
          </a:p>
        </p:txBody>
      </p:sp>
      <p:sp>
        <p:nvSpPr>
          <p:cNvPr id="28" name="Shape 23"/>
          <p:cNvSpPr/>
          <p:nvPr/>
        </p:nvSpPr>
        <p:spPr>
          <a:xfrm>
            <a:off x="5162517" y="4210017"/>
            <a:ext cx="1485884" cy="14858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CED4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557590" y="4754067"/>
            <a:ext cx="695738" cy="2701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575" b="1" dirty="0">
                <a:solidFill>
                  <a:srgbClr val="2E8B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kg·m/s</a:t>
            </a:r>
            <a:endParaRPr lang="en-US" sz="1575" dirty="0"/>
          </a:p>
        </p:txBody>
      </p:sp>
      <p:sp>
        <p:nvSpPr>
          <p:cNvPr id="30" name="Text 25"/>
          <p:cNvSpPr/>
          <p:nvPr/>
        </p:nvSpPr>
        <p:spPr>
          <a:xfrm>
            <a:off x="5699224" y="4986073"/>
            <a:ext cx="412386" cy="203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125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N·s</a:t>
            </a:r>
            <a:endParaRPr lang="en-US" sz="1125" dirty="0"/>
          </a:p>
        </p:txBody>
      </p:sp>
      <p:sp>
        <p:nvSpPr>
          <p:cNvPr id="31" name="Shape 26"/>
          <p:cNvSpPr/>
          <p:nvPr/>
        </p:nvSpPr>
        <p:spPr>
          <a:xfrm>
            <a:off x="4972017" y="7067517"/>
            <a:ext cx="1485884" cy="14858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CED4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5326658" y="7528719"/>
            <a:ext cx="776602" cy="2701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575" b="1" dirty="0">
                <a:solidFill>
                  <a:srgbClr val="D81B7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newton</a:t>
            </a:r>
            <a:endParaRPr lang="en-US" sz="1575" dirty="0"/>
          </a:p>
        </p:txBody>
      </p:sp>
      <p:sp>
        <p:nvSpPr>
          <p:cNvPr id="33" name="Text 28"/>
          <p:cNvSpPr/>
          <p:nvPr/>
        </p:nvSpPr>
        <p:spPr>
          <a:xfrm>
            <a:off x="5585288" y="7760726"/>
            <a:ext cx="259259" cy="192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(N)</a:t>
            </a:r>
            <a:endParaRPr lang="en-US" sz="1050" dirty="0"/>
          </a:p>
        </p:txBody>
      </p:sp>
      <p:sp>
        <p:nvSpPr>
          <p:cNvPr id="34" name="Text 29"/>
          <p:cNvSpPr/>
          <p:nvPr/>
        </p:nvSpPr>
        <p:spPr>
          <a:xfrm>
            <a:off x="5338812" y="7915424"/>
            <a:ext cx="752210" cy="21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kg·m/s²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7639017" y="4972017"/>
            <a:ext cx="1485884" cy="14858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CED4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8162413" y="5488451"/>
            <a:ext cx="439093" cy="325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950" b="1" dirty="0">
                <a:solidFill>
                  <a:srgbClr val="5F8F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N·s</a:t>
            </a:r>
            <a:endParaRPr lang="en-US" sz="1950" dirty="0"/>
          </a:p>
        </p:txBody>
      </p:sp>
      <p:sp>
        <p:nvSpPr>
          <p:cNvPr id="37" name="Text 32"/>
          <p:cNvSpPr/>
          <p:nvPr/>
        </p:nvSpPr>
        <p:spPr>
          <a:xfrm>
            <a:off x="8059226" y="5775689"/>
            <a:ext cx="645468" cy="203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125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kg·m/s</a:t>
            </a:r>
            <a:endParaRPr lang="en-US" sz="1125" dirty="0"/>
          </a:p>
        </p:txBody>
      </p:sp>
      <p:sp>
        <p:nvSpPr>
          <p:cNvPr id="38" name="Shape 33"/>
          <p:cNvSpPr/>
          <p:nvPr/>
        </p:nvSpPr>
        <p:spPr>
          <a:xfrm>
            <a:off x="4019517" y="8305767"/>
            <a:ext cx="1485884" cy="14858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CED4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4343400" y="8855357"/>
            <a:ext cx="838117" cy="259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500" b="1" dirty="0">
                <a:solidFill>
                  <a:srgbClr val="B886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kg·m²/s²</a:t>
            </a:r>
            <a:endParaRPr lang="en-US" sz="1500" dirty="0"/>
          </a:p>
        </p:txBody>
      </p:sp>
      <p:sp>
        <p:nvSpPr>
          <p:cNvPr id="40" name="Text 35"/>
          <p:cNvSpPr/>
          <p:nvPr/>
        </p:nvSpPr>
        <p:spPr>
          <a:xfrm>
            <a:off x="4622866" y="9076284"/>
            <a:ext cx="279102" cy="203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125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J</a:t>
            </a:r>
            <a:endParaRPr lang="en-US" sz="1125" dirty="0"/>
          </a:p>
        </p:txBody>
      </p:sp>
      <p:sp>
        <p:nvSpPr>
          <p:cNvPr id="41" name="Shape 36"/>
          <p:cNvSpPr/>
          <p:nvPr/>
        </p:nvSpPr>
        <p:spPr>
          <a:xfrm>
            <a:off x="2114517" y="9258267"/>
            <a:ext cx="1485884" cy="14858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CED4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2438400" y="9807857"/>
            <a:ext cx="838117" cy="2590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500" b="1" dirty="0">
                <a:solidFill>
                  <a:srgbClr val="B886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kg·m²/s²</a:t>
            </a:r>
            <a:endParaRPr lang="en-US" sz="1500" dirty="0"/>
          </a:p>
        </p:txBody>
      </p:sp>
      <p:sp>
        <p:nvSpPr>
          <p:cNvPr id="43" name="Text 38"/>
          <p:cNvSpPr/>
          <p:nvPr/>
        </p:nvSpPr>
        <p:spPr>
          <a:xfrm>
            <a:off x="2717866" y="10028783"/>
            <a:ext cx="279102" cy="203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125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J</a:t>
            </a:r>
            <a:endParaRPr lang="en-US" sz="1125" dirty="0"/>
          </a:p>
        </p:txBody>
      </p:sp>
      <p:sp>
        <p:nvSpPr>
          <p:cNvPr id="44" name="Shape 39"/>
          <p:cNvSpPr/>
          <p:nvPr/>
        </p:nvSpPr>
        <p:spPr>
          <a:xfrm>
            <a:off x="6591267" y="8782017"/>
            <a:ext cx="1485884" cy="14858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CED4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7079606" y="9309531"/>
            <a:ext cx="509124" cy="303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800" b="1" dirty="0">
                <a:solidFill>
                  <a:srgbClr val="8A6D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N·m</a:t>
            </a:r>
            <a:endParaRPr lang="en-US" sz="1800" dirty="0"/>
          </a:p>
        </p:txBody>
      </p:sp>
      <p:sp>
        <p:nvSpPr>
          <p:cNvPr id="46" name="Text 41"/>
          <p:cNvSpPr/>
          <p:nvPr/>
        </p:nvSpPr>
        <p:spPr>
          <a:xfrm>
            <a:off x="7194617" y="9574692"/>
            <a:ext cx="279102" cy="203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125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J</a:t>
            </a:r>
            <a:endParaRPr lang="en-US" sz="1125" dirty="0"/>
          </a:p>
        </p:txBody>
      </p:sp>
      <p:sp>
        <p:nvSpPr>
          <p:cNvPr id="47" name="Shape 42"/>
          <p:cNvSpPr/>
          <p:nvPr/>
        </p:nvSpPr>
        <p:spPr>
          <a:xfrm>
            <a:off x="4305267" y="10496517"/>
            <a:ext cx="2057384" cy="2057384"/>
          </a:xfrm>
          <a:prstGeom prst="ellipse">
            <a:avLst/>
          </a:prstGeom>
          <a:solidFill>
            <a:srgbClr val="FBF6E8"/>
          </a:solidFill>
          <a:ln w="26458">
            <a:solidFill>
              <a:srgbClr val="7A5C00"/>
            </a:solidFill>
            <a:prstDash val="solid"/>
          </a:ln>
          <a:effectLst>
            <a:outerShdw sx="100000" sy="100000" kx="0" ky="0" algn="bl" rotWithShape="0" blurRad="114300" dist="28575" dir="5400000">
              <a:srgbClr val="000000">
                <a:alpha val="12000"/>
              </a:srgbClr>
            </a:outerShdw>
          </a:effectLst>
        </p:spPr>
      </p:sp>
      <p:sp>
        <p:nvSpPr>
          <p:cNvPr id="48" name="Text 43"/>
          <p:cNvSpPr/>
          <p:nvPr/>
        </p:nvSpPr>
        <p:spPr>
          <a:xfrm>
            <a:off x="4837592" y="11199316"/>
            <a:ext cx="992733" cy="325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950" b="1" dirty="0">
                <a:solidFill>
                  <a:srgbClr val="7A5C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ENERGY</a:t>
            </a:r>
            <a:endParaRPr lang="en-US" sz="1950" dirty="0"/>
          </a:p>
        </p:txBody>
      </p:sp>
      <p:sp>
        <p:nvSpPr>
          <p:cNvPr id="49" name="Text 44"/>
          <p:cNvSpPr/>
          <p:nvPr/>
        </p:nvSpPr>
        <p:spPr>
          <a:xfrm>
            <a:off x="4949461" y="11486555"/>
            <a:ext cx="768995" cy="203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125" b="1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(J = joule)</a:t>
            </a:r>
            <a:endParaRPr lang="en-US" sz="1125" dirty="0"/>
          </a:p>
        </p:txBody>
      </p:sp>
      <p:sp>
        <p:nvSpPr>
          <p:cNvPr id="50" name="Text 45"/>
          <p:cNvSpPr/>
          <p:nvPr/>
        </p:nvSpPr>
        <p:spPr>
          <a:xfrm>
            <a:off x="4877032" y="11652250"/>
            <a:ext cx="913772" cy="2369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350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kg·m²/s²</a:t>
            </a:r>
            <a:endParaRPr lang="en-US" sz="1350" dirty="0"/>
          </a:p>
        </p:txBody>
      </p:sp>
      <p:sp>
        <p:nvSpPr>
          <p:cNvPr id="51" name="Shape 46"/>
          <p:cNvSpPr/>
          <p:nvPr/>
        </p:nvSpPr>
        <p:spPr>
          <a:xfrm>
            <a:off x="7829517" y="10115517"/>
            <a:ext cx="1485884" cy="14858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CED4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8323395" y="10576720"/>
            <a:ext cx="498128" cy="2701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575" b="1" dirty="0">
                <a:solidFill>
                  <a:srgbClr val="B56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watt</a:t>
            </a:r>
            <a:endParaRPr lang="en-US" sz="1575" dirty="0"/>
          </a:p>
        </p:txBody>
      </p:sp>
      <p:sp>
        <p:nvSpPr>
          <p:cNvPr id="53" name="Text 48"/>
          <p:cNvSpPr/>
          <p:nvPr/>
        </p:nvSpPr>
        <p:spPr>
          <a:xfrm>
            <a:off x="8428567" y="10808726"/>
            <a:ext cx="287784" cy="192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(W)</a:t>
            </a:r>
            <a:endParaRPr lang="en-US" sz="1050" dirty="0"/>
          </a:p>
        </p:txBody>
      </p:sp>
      <p:sp>
        <p:nvSpPr>
          <p:cNvPr id="54" name="Text 49"/>
          <p:cNvSpPr/>
          <p:nvPr/>
        </p:nvSpPr>
        <p:spPr>
          <a:xfrm>
            <a:off x="8363579" y="10963424"/>
            <a:ext cx="417761" cy="21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J/s</a:t>
            </a:r>
            <a:endParaRPr lang="en-US" sz="1200" dirty="0"/>
          </a:p>
        </p:txBody>
      </p:sp>
      <p:sp>
        <p:nvSpPr>
          <p:cNvPr id="55" name="Shape 50"/>
          <p:cNvSpPr/>
          <p:nvPr/>
        </p:nvSpPr>
        <p:spPr>
          <a:xfrm>
            <a:off x="9639267" y="9163017"/>
            <a:ext cx="1485884" cy="14858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CED4"/>
            </a:solidFill>
            <a:prstDash val="solid"/>
          </a:ln>
        </p:spPr>
      </p:sp>
      <p:sp>
        <p:nvSpPr>
          <p:cNvPr id="56" name="Text 51"/>
          <p:cNvSpPr/>
          <p:nvPr/>
        </p:nvSpPr>
        <p:spPr>
          <a:xfrm>
            <a:off x="10048726" y="9773378"/>
            <a:ext cx="666882" cy="303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800" b="1" dirty="0">
                <a:solidFill>
                  <a:srgbClr val="A072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W/m²</a:t>
            </a:r>
            <a:endParaRPr lang="en-US" sz="1800" dirty="0"/>
          </a:p>
        </p:txBody>
      </p:sp>
      <p:sp>
        <p:nvSpPr>
          <p:cNvPr id="57" name="Shape 52"/>
          <p:cNvSpPr/>
          <p:nvPr/>
        </p:nvSpPr>
        <p:spPr>
          <a:xfrm>
            <a:off x="11449017" y="4591017"/>
            <a:ext cx="1485884" cy="14858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CED4"/>
            </a:solidFill>
            <a:prstDash val="solid"/>
          </a:ln>
        </p:spPr>
      </p:sp>
      <p:sp>
        <p:nvSpPr>
          <p:cNvPr id="58" name="Text 53"/>
          <p:cNvSpPr/>
          <p:nvPr/>
        </p:nvSpPr>
        <p:spPr>
          <a:xfrm>
            <a:off x="11955049" y="5101994"/>
            <a:ext cx="473736" cy="314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875" b="1" dirty="0">
                <a:solidFill>
                  <a:srgbClr val="0F8B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N/C</a:t>
            </a:r>
            <a:endParaRPr lang="en-US" sz="1875" dirty="0"/>
          </a:p>
        </p:txBody>
      </p:sp>
      <p:sp>
        <p:nvSpPr>
          <p:cNvPr id="59" name="Text 54"/>
          <p:cNvSpPr/>
          <p:nvPr/>
        </p:nvSpPr>
        <p:spPr>
          <a:xfrm>
            <a:off x="11930575" y="5378153"/>
            <a:ext cx="522767" cy="2258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275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V/m</a:t>
            </a:r>
            <a:endParaRPr lang="en-US" sz="1275" dirty="0"/>
          </a:p>
        </p:txBody>
      </p:sp>
      <p:sp>
        <p:nvSpPr>
          <p:cNvPr id="60" name="Shape 55"/>
          <p:cNvSpPr/>
          <p:nvPr/>
        </p:nvSpPr>
        <p:spPr>
          <a:xfrm>
            <a:off x="14497017" y="3829017"/>
            <a:ext cx="1485884" cy="14858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CED4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15004373" y="4290219"/>
            <a:ext cx="471173" cy="2701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575" b="1" dirty="0">
                <a:solidFill>
                  <a:srgbClr val="D482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amp</a:t>
            </a:r>
            <a:endParaRPr lang="en-US" sz="1575" dirty="0"/>
          </a:p>
        </p:txBody>
      </p:sp>
      <p:sp>
        <p:nvSpPr>
          <p:cNvPr id="62" name="Text 57"/>
          <p:cNvSpPr/>
          <p:nvPr/>
        </p:nvSpPr>
        <p:spPr>
          <a:xfrm>
            <a:off x="15113514" y="4522225"/>
            <a:ext cx="252809" cy="192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(A)</a:t>
            </a:r>
            <a:endParaRPr lang="en-US" sz="1050" dirty="0"/>
          </a:p>
        </p:txBody>
      </p:sp>
      <p:sp>
        <p:nvSpPr>
          <p:cNvPr id="63" name="Text 58"/>
          <p:cNvSpPr/>
          <p:nvPr/>
        </p:nvSpPr>
        <p:spPr>
          <a:xfrm>
            <a:off x="15025043" y="4676924"/>
            <a:ext cx="429749" cy="21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C/s</a:t>
            </a:r>
            <a:endParaRPr lang="en-US" sz="1200" dirty="0"/>
          </a:p>
        </p:txBody>
      </p:sp>
      <p:sp>
        <p:nvSpPr>
          <p:cNvPr id="64" name="Shape 59"/>
          <p:cNvSpPr/>
          <p:nvPr/>
        </p:nvSpPr>
        <p:spPr>
          <a:xfrm>
            <a:off x="12973017" y="7162767"/>
            <a:ext cx="1485884" cy="14858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CED4"/>
            </a:solidFill>
            <a:prstDash val="solid"/>
          </a:ln>
        </p:spPr>
      </p:sp>
      <p:sp>
        <p:nvSpPr>
          <p:cNvPr id="65" name="Text 60"/>
          <p:cNvSpPr/>
          <p:nvPr/>
        </p:nvSpPr>
        <p:spPr>
          <a:xfrm>
            <a:off x="13490873" y="7618512"/>
            <a:ext cx="450089" cy="2811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650" b="1" dirty="0">
                <a:solidFill>
                  <a:srgbClr val="2B8F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volt</a:t>
            </a:r>
            <a:endParaRPr lang="en-US" sz="1650" dirty="0"/>
          </a:p>
        </p:txBody>
      </p:sp>
      <p:sp>
        <p:nvSpPr>
          <p:cNvPr id="66" name="Text 61"/>
          <p:cNvSpPr/>
          <p:nvPr/>
        </p:nvSpPr>
        <p:spPr>
          <a:xfrm>
            <a:off x="13589679" y="7861515"/>
            <a:ext cx="252479" cy="192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(V)</a:t>
            </a:r>
            <a:endParaRPr lang="en-US" sz="1050" dirty="0"/>
          </a:p>
        </p:txBody>
      </p:sp>
      <p:sp>
        <p:nvSpPr>
          <p:cNvPr id="67" name="Text 62"/>
          <p:cNvSpPr/>
          <p:nvPr/>
        </p:nvSpPr>
        <p:spPr>
          <a:xfrm>
            <a:off x="13493271" y="8016214"/>
            <a:ext cx="445294" cy="21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J/C</a:t>
            </a:r>
            <a:endParaRPr lang="en-US" sz="1200" dirty="0"/>
          </a:p>
        </p:txBody>
      </p:sp>
      <p:sp>
        <p:nvSpPr>
          <p:cNvPr id="68" name="Shape 63"/>
          <p:cNvSpPr/>
          <p:nvPr/>
        </p:nvSpPr>
        <p:spPr>
          <a:xfrm>
            <a:off x="15354267" y="5448267"/>
            <a:ext cx="1485884" cy="14858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CED4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15857240" y="5898473"/>
            <a:ext cx="479938" cy="2701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575" b="1" dirty="0">
                <a:solidFill>
                  <a:srgbClr val="5566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ohm</a:t>
            </a:r>
            <a:endParaRPr lang="en-US" sz="1575" dirty="0"/>
          </a:p>
        </p:txBody>
      </p:sp>
      <p:sp>
        <p:nvSpPr>
          <p:cNvPr id="70" name="Text 65"/>
          <p:cNvSpPr/>
          <p:nvPr/>
        </p:nvSpPr>
        <p:spPr>
          <a:xfrm>
            <a:off x="15952160" y="6130479"/>
            <a:ext cx="290099" cy="21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(Ω)</a:t>
            </a:r>
            <a:endParaRPr lang="en-US" sz="1200" dirty="0"/>
          </a:p>
        </p:txBody>
      </p:sp>
      <p:sp>
        <p:nvSpPr>
          <p:cNvPr id="71" name="Text 66"/>
          <p:cNvSpPr/>
          <p:nvPr/>
        </p:nvSpPr>
        <p:spPr>
          <a:xfrm>
            <a:off x="15866087" y="6307171"/>
            <a:ext cx="462161" cy="21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V/A</a:t>
            </a:r>
            <a:endParaRPr lang="en-US" sz="1200" dirty="0"/>
          </a:p>
        </p:txBody>
      </p:sp>
      <p:sp>
        <p:nvSpPr>
          <p:cNvPr id="72" name="Shape 67"/>
          <p:cNvSpPr/>
          <p:nvPr/>
        </p:nvSpPr>
        <p:spPr>
          <a:xfrm>
            <a:off x="14116017" y="9353517"/>
            <a:ext cx="1485884" cy="148588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9CED4"/>
            </a:solidFill>
            <a:prstDash val="solid"/>
          </a:ln>
        </p:spPr>
      </p:sp>
      <p:sp>
        <p:nvSpPr>
          <p:cNvPr id="73" name="Text 68"/>
          <p:cNvSpPr/>
          <p:nvPr/>
        </p:nvSpPr>
        <p:spPr>
          <a:xfrm>
            <a:off x="14579633" y="9814720"/>
            <a:ext cx="558651" cy="2701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575" b="1" dirty="0">
                <a:solidFill>
                  <a:srgbClr val="7A3B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farad</a:t>
            </a:r>
            <a:endParaRPr lang="en-US" sz="1575" dirty="0"/>
          </a:p>
        </p:txBody>
      </p:sp>
      <p:sp>
        <p:nvSpPr>
          <p:cNvPr id="74" name="Text 69"/>
          <p:cNvSpPr/>
          <p:nvPr/>
        </p:nvSpPr>
        <p:spPr>
          <a:xfrm>
            <a:off x="14736896" y="10046726"/>
            <a:ext cx="244128" cy="1927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(F)</a:t>
            </a:r>
            <a:endParaRPr lang="en-US" sz="1050" dirty="0"/>
          </a:p>
        </p:txBody>
      </p:sp>
      <p:sp>
        <p:nvSpPr>
          <p:cNvPr id="75" name="Text 70"/>
          <p:cNvSpPr/>
          <p:nvPr/>
        </p:nvSpPr>
        <p:spPr>
          <a:xfrm>
            <a:off x="14629491" y="10201424"/>
            <a:ext cx="458854" cy="21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C/V</a:t>
            </a:r>
            <a:endParaRPr lang="en-US" sz="1200" dirty="0"/>
          </a:p>
        </p:txBody>
      </p:sp>
      <p:sp>
        <p:nvSpPr>
          <p:cNvPr id="76" name="Shape 71"/>
          <p:cNvSpPr/>
          <p:nvPr/>
        </p:nvSpPr>
        <p:spPr>
          <a:xfrm>
            <a:off x="4010009" y="3468522"/>
            <a:ext cx="923892" cy="209517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  <a:effectLst>
            <a:outerShdw sx="100000" sy="100000" kx="0" ky="0" algn="bl" rotWithShape="0" blurRad="28575" dist="9525" dir="5400000">
              <a:srgbClr val="000000">
                <a:alpha val="22000"/>
              </a:srgbClr>
            </a:outerShdw>
          </a:effectLst>
        </p:spPr>
      </p:sp>
      <p:sp>
        <p:nvSpPr>
          <p:cNvPr id="77" name="Text 72"/>
          <p:cNvSpPr/>
          <p:nvPr/>
        </p:nvSpPr>
        <p:spPr>
          <a:xfrm>
            <a:off x="3971909" y="3468522"/>
            <a:ext cx="1000092" cy="2476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83333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distance (m)</a:t>
            </a:r>
            <a:endParaRPr lang="en-US" sz="900" dirty="0"/>
          </a:p>
        </p:txBody>
      </p:sp>
      <p:sp>
        <p:nvSpPr>
          <p:cNvPr id="78" name="Shape 73"/>
          <p:cNvSpPr/>
          <p:nvPr/>
        </p:nvSpPr>
        <p:spPr>
          <a:xfrm>
            <a:off x="2762250" y="3415358"/>
            <a:ext cx="676259" cy="209517"/>
          </a:xfrm>
          <a:prstGeom prst="roundRect">
            <a:avLst>
              <a:gd name="adj" fmla="val 50000"/>
            </a:avLst>
          </a:prstGeom>
          <a:solidFill>
            <a:srgbClr val="2F6F8F"/>
          </a:solidFill>
          <a:ln/>
          <a:effectLst>
            <a:outerShdw sx="100000" sy="100000" kx="0" ky="0" algn="bl" rotWithShape="0" blurRad="28575" dist="9525" dir="5400000">
              <a:srgbClr val="000000">
                <a:alpha val="22000"/>
              </a:srgbClr>
            </a:outerShdw>
          </a:effectLst>
        </p:spPr>
      </p:sp>
      <p:sp>
        <p:nvSpPr>
          <p:cNvPr id="79" name="Text 74"/>
          <p:cNvSpPr/>
          <p:nvPr/>
        </p:nvSpPr>
        <p:spPr>
          <a:xfrm>
            <a:off x="2724150" y="3415358"/>
            <a:ext cx="752459" cy="2476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83333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 (s)</a:t>
            </a:r>
            <a:endParaRPr lang="en-US" sz="900" dirty="0"/>
          </a:p>
        </p:txBody>
      </p:sp>
      <p:sp>
        <p:nvSpPr>
          <p:cNvPr id="80" name="Shape 75"/>
          <p:cNvSpPr/>
          <p:nvPr/>
        </p:nvSpPr>
        <p:spPr>
          <a:xfrm>
            <a:off x="2724134" y="6336110"/>
            <a:ext cx="676259" cy="209517"/>
          </a:xfrm>
          <a:prstGeom prst="roundRect">
            <a:avLst>
              <a:gd name="adj" fmla="val 50000"/>
            </a:avLst>
          </a:prstGeom>
          <a:solidFill>
            <a:srgbClr val="3F7FB0"/>
          </a:solidFill>
          <a:ln/>
          <a:effectLst>
            <a:outerShdw sx="100000" sy="100000" kx="0" ky="0" algn="bl" rotWithShape="0" blurRad="28575" dist="9525" dir="5400000">
              <a:srgbClr val="000000">
                <a:alpha val="22000"/>
              </a:srgbClr>
            </a:outerShdw>
          </a:effectLst>
        </p:spPr>
      </p:sp>
      <p:sp>
        <p:nvSpPr>
          <p:cNvPr id="81" name="Text 76"/>
          <p:cNvSpPr/>
          <p:nvPr/>
        </p:nvSpPr>
        <p:spPr>
          <a:xfrm>
            <a:off x="2686034" y="6336110"/>
            <a:ext cx="752459" cy="2476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83333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velocity</a:t>
            </a:r>
            <a:endParaRPr lang="en-US" sz="900" dirty="0"/>
          </a:p>
        </p:txBody>
      </p:sp>
      <p:sp>
        <p:nvSpPr>
          <p:cNvPr id="82" name="Shape 77"/>
          <p:cNvSpPr/>
          <p:nvPr/>
        </p:nvSpPr>
        <p:spPr>
          <a:xfrm>
            <a:off x="2438384" y="4662124"/>
            <a:ext cx="676259" cy="209517"/>
          </a:xfrm>
          <a:prstGeom prst="roundRect">
            <a:avLst>
              <a:gd name="adj" fmla="val 50000"/>
            </a:avLst>
          </a:prstGeom>
          <a:solidFill>
            <a:srgbClr val="2F6F8F"/>
          </a:solidFill>
          <a:ln/>
          <a:effectLst>
            <a:outerShdw sx="100000" sy="100000" kx="0" ky="0" algn="bl" rotWithShape="0" blurRad="28575" dist="9525" dir="5400000">
              <a:srgbClr val="000000">
                <a:alpha val="22000"/>
              </a:srgbClr>
            </a:outerShdw>
          </a:effectLst>
        </p:spPr>
      </p:sp>
      <p:sp>
        <p:nvSpPr>
          <p:cNvPr id="83" name="Text 78"/>
          <p:cNvSpPr/>
          <p:nvPr/>
        </p:nvSpPr>
        <p:spPr>
          <a:xfrm>
            <a:off x="2400284" y="4662124"/>
            <a:ext cx="752459" cy="2476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83333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 (s)</a:t>
            </a:r>
            <a:endParaRPr lang="en-US" sz="900" dirty="0"/>
          </a:p>
        </p:txBody>
      </p:sp>
      <p:sp>
        <p:nvSpPr>
          <p:cNvPr id="84" name="Shape 79"/>
          <p:cNvSpPr/>
          <p:nvPr/>
        </p:nvSpPr>
        <p:spPr>
          <a:xfrm>
            <a:off x="6581759" y="3385592"/>
            <a:ext cx="733392" cy="209517"/>
          </a:xfrm>
          <a:prstGeom prst="roundRect">
            <a:avLst>
              <a:gd name="adj" fmla="val 50000"/>
            </a:avLst>
          </a:prstGeom>
          <a:solidFill>
            <a:srgbClr val="1A7A44"/>
          </a:solidFill>
          <a:ln/>
          <a:effectLst>
            <a:outerShdw sx="100000" sy="100000" kx="0" ky="0" algn="bl" rotWithShape="0" blurRad="28575" dist="9525" dir="5400000">
              <a:srgbClr val="000000">
                <a:alpha val="22000"/>
              </a:srgbClr>
            </a:outerShdw>
          </a:effectLst>
        </p:spPr>
      </p:sp>
      <p:sp>
        <p:nvSpPr>
          <p:cNvPr id="85" name="Text 80"/>
          <p:cNvSpPr/>
          <p:nvPr/>
        </p:nvSpPr>
        <p:spPr>
          <a:xfrm>
            <a:off x="6543659" y="3385592"/>
            <a:ext cx="809592" cy="2476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83333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mass (kg)</a:t>
            </a:r>
            <a:endParaRPr lang="en-US" sz="900" dirty="0"/>
          </a:p>
        </p:txBody>
      </p:sp>
      <p:sp>
        <p:nvSpPr>
          <p:cNvPr id="86" name="Shape 81"/>
          <p:cNvSpPr/>
          <p:nvPr/>
        </p:nvSpPr>
        <p:spPr>
          <a:xfrm>
            <a:off x="4295759" y="4945642"/>
            <a:ext cx="676259" cy="209517"/>
          </a:xfrm>
          <a:prstGeom prst="roundRect">
            <a:avLst>
              <a:gd name="adj" fmla="val 50000"/>
            </a:avLst>
          </a:prstGeom>
          <a:solidFill>
            <a:srgbClr val="3F7FB0"/>
          </a:solidFill>
          <a:ln/>
          <a:effectLst>
            <a:outerShdw sx="100000" sy="100000" kx="0" ky="0" algn="bl" rotWithShape="0" blurRad="28575" dist="9525" dir="5400000">
              <a:srgbClr val="000000">
                <a:alpha val="22000"/>
              </a:srgbClr>
            </a:outerShdw>
          </a:effectLst>
        </p:spPr>
      </p:sp>
      <p:sp>
        <p:nvSpPr>
          <p:cNvPr id="87" name="Text 82"/>
          <p:cNvSpPr/>
          <p:nvPr/>
        </p:nvSpPr>
        <p:spPr>
          <a:xfrm>
            <a:off x="4257659" y="4945642"/>
            <a:ext cx="752459" cy="2476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83333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velocity</a:t>
            </a:r>
            <a:endParaRPr lang="en-US" sz="900" dirty="0"/>
          </a:p>
        </p:txBody>
      </p:sp>
      <p:sp>
        <p:nvSpPr>
          <p:cNvPr id="88" name="Shape 83"/>
          <p:cNvSpPr/>
          <p:nvPr/>
        </p:nvSpPr>
        <p:spPr>
          <a:xfrm>
            <a:off x="6496017" y="4685192"/>
            <a:ext cx="733392" cy="209517"/>
          </a:xfrm>
          <a:prstGeom prst="roundRect">
            <a:avLst>
              <a:gd name="adj" fmla="val 50000"/>
            </a:avLst>
          </a:prstGeom>
          <a:solidFill>
            <a:srgbClr val="1A7A44"/>
          </a:solidFill>
          <a:ln/>
          <a:effectLst>
            <a:outerShdw sx="100000" sy="100000" kx="0" ky="0" algn="bl" rotWithShape="0" blurRad="28575" dist="9525" dir="5400000">
              <a:srgbClr val="000000">
                <a:alpha val="22000"/>
              </a:srgbClr>
            </a:outerShdw>
          </a:effectLst>
        </p:spPr>
      </p:sp>
      <p:sp>
        <p:nvSpPr>
          <p:cNvPr id="89" name="Text 84"/>
          <p:cNvSpPr/>
          <p:nvPr/>
        </p:nvSpPr>
        <p:spPr>
          <a:xfrm>
            <a:off x="6457917" y="4685192"/>
            <a:ext cx="809592" cy="2476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83333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mass (kg)</a:t>
            </a:r>
            <a:endParaRPr lang="en-US" sz="900" dirty="0"/>
          </a:p>
        </p:txBody>
      </p:sp>
      <p:sp>
        <p:nvSpPr>
          <p:cNvPr id="90" name="Shape 85"/>
          <p:cNvSpPr/>
          <p:nvPr/>
        </p:nvSpPr>
        <p:spPr>
          <a:xfrm>
            <a:off x="3686142" y="7705659"/>
            <a:ext cx="923892" cy="209517"/>
          </a:xfrm>
          <a:prstGeom prst="roundRect">
            <a:avLst>
              <a:gd name="adj" fmla="val 50000"/>
            </a:avLst>
          </a:prstGeom>
          <a:solidFill>
            <a:srgbClr val="6A5ACD"/>
          </a:solidFill>
          <a:ln/>
          <a:effectLst>
            <a:outerShdw sx="100000" sy="100000" kx="0" ky="0" algn="bl" rotWithShape="0" blurRad="28575" dist="9525" dir="5400000">
              <a:srgbClr val="000000">
                <a:alpha val="22000"/>
              </a:srgbClr>
            </a:outerShdw>
          </a:effectLst>
        </p:spPr>
      </p:sp>
      <p:sp>
        <p:nvSpPr>
          <p:cNvPr id="91" name="Text 86"/>
          <p:cNvSpPr/>
          <p:nvPr/>
        </p:nvSpPr>
        <p:spPr>
          <a:xfrm>
            <a:off x="3648042" y="7705659"/>
            <a:ext cx="1000092" cy="2476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83333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acceleration</a:t>
            </a:r>
            <a:endParaRPr lang="en-US" sz="900" dirty="0"/>
          </a:p>
        </p:txBody>
      </p:sp>
      <p:sp>
        <p:nvSpPr>
          <p:cNvPr id="92" name="Shape 87"/>
          <p:cNvSpPr/>
          <p:nvPr/>
        </p:nvSpPr>
        <p:spPr>
          <a:xfrm>
            <a:off x="6638892" y="6692553"/>
            <a:ext cx="733392" cy="209517"/>
          </a:xfrm>
          <a:prstGeom prst="roundRect">
            <a:avLst>
              <a:gd name="adj" fmla="val 50000"/>
            </a:avLst>
          </a:prstGeom>
          <a:solidFill>
            <a:srgbClr val="D81B74"/>
          </a:solidFill>
          <a:ln/>
          <a:effectLst>
            <a:outerShdw sx="100000" sy="100000" kx="0" ky="0" algn="bl" rotWithShape="0" blurRad="28575" dist="9525" dir="5400000">
              <a:srgbClr val="000000">
                <a:alpha val="22000"/>
              </a:srgbClr>
            </a:outerShdw>
          </a:effectLst>
        </p:spPr>
      </p:sp>
      <p:sp>
        <p:nvSpPr>
          <p:cNvPr id="93" name="Text 88"/>
          <p:cNvSpPr/>
          <p:nvPr/>
        </p:nvSpPr>
        <p:spPr>
          <a:xfrm>
            <a:off x="6600792" y="6692553"/>
            <a:ext cx="809592" cy="2476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83333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force (N)</a:t>
            </a:r>
            <a:endParaRPr lang="en-US" sz="900" dirty="0"/>
          </a:p>
        </p:txBody>
      </p:sp>
      <p:sp>
        <p:nvSpPr>
          <p:cNvPr id="94" name="Shape 89"/>
          <p:cNvSpPr/>
          <p:nvPr/>
        </p:nvSpPr>
        <p:spPr>
          <a:xfrm>
            <a:off x="6143626" y="8544719"/>
            <a:ext cx="733392" cy="209517"/>
          </a:xfrm>
          <a:prstGeom prst="roundRect">
            <a:avLst>
              <a:gd name="adj" fmla="val 50000"/>
            </a:avLst>
          </a:prstGeom>
          <a:solidFill>
            <a:srgbClr val="D81B74"/>
          </a:solidFill>
          <a:ln/>
          <a:effectLst>
            <a:outerShdw sx="100000" sy="100000" kx="0" ky="0" algn="bl" rotWithShape="0" blurRad="28575" dist="9525" dir="5400000">
              <a:srgbClr val="000000">
                <a:alpha val="22000"/>
              </a:srgbClr>
            </a:outerShdw>
          </a:effectLst>
        </p:spPr>
      </p:sp>
      <p:sp>
        <p:nvSpPr>
          <p:cNvPr id="95" name="Text 90"/>
          <p:cNvSpPr/>
          <p:nvPr/>
        </p:nvSpPr>
        <p:spPr>
          <a:xfrm>
            <a:off x="6105526" y="8544719"/>
            <a:ext cx="809592" cy="2476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83333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force (N)</a:t>
            </a:r>
            <a:endParaRPr lang="en-US" sz="900" dirty="0"/>
          </a:p>
        </p:txBody>
      </p:sp>
      <p:sp>
        <p:nvSpPr>
          <p:cNvPr id="96" name="Shape 91"/>
          <p:cNvSpPr/>
          <p:nvPr/>
        </p:nvSpPr>
        <p:spPr>
          <a:xfrm>
            <a:off x="5781642" y="5480596"/>
            <a:ext cx="923892" cy="209517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  <a:effectLst>
            <a:outerShdw sx="100000" sy="100000" kx="0" ky="0" algn="bl" rotWithShape="0" blurRad="28575" dist="9525" dir="5400000">
              <a:srgbClr val="000000">
                <a:alpha val="22000"/>
              </a:srgbClr>
            </a:outerShdw>
          </a:effectLst>
        </p:spPr>
      </p:sp>
      <p:sp>
        <p:nvSpPr>
          <p:cNvPr id="97" name="Text 92"/>
          <p:cNvSpPr/>
          <p:nvPr/>
        </p:nvSpPr>
        <p:spPr>
          <a:xfrm>
            <a:off x="5743542" y="5480596"/>
            <a:ext cx="1000092" cy="2476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83333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distance (m)</a:t>
            </a:r>
            <a:endParaRPr lang="en-US" sz="900" dirty="0"/>
          </a:p>
        </p:txBody>
      </p:sp>
      <p:sp>
        <p:nvSpPr>
          <p:cNvPr id="98" name="Shape 93"/>
          <p:cNvSpPr/>
          <p:nvPr/>
        </p:nvSpPr>
        <p:spPr>
          <a:xfrm>
            <a:off x="6048375" y="5275461"/>
            <a:ext cx="733392" cy="209517"/>
          </a:xfrm>
          <a:prstGeom prst="roundRect">
            <a:avLst>
              <a:gd name="adj" fmla="val 50000"/>
            </a:avLst>
          </a:prstGeom>
          <a:solidFill>
            <a:srgbClr val="1A7A44"/>
          </a:solidFill>
          <a:ln/>
          <a:effectLst>
            <a:outerShdw sx="100000" sy="100000" kx="0" ky="0" algn="bl" rotWithShape="0" blurRad="28575" dist="9525" dir="5400000">
              <a:srgbClr val="000000">
                <a:alpha val="22000"/>
              </a:srgbClr>
            </a:outerShdw>
          </a:effectLst>
        </p:spPr>
      </p:sp>
      <p:sp>
        <p:nvSpPr>
          <p:cNvPr id="99" name="Text 94"/>
          <p:cNvSpPr/>
          <p:nvPr/>
        </p:nvSpPr>
        <p:spPr>
          <a:xfrm>
            <a:off x="6010275" y="5275461"/>
            <a:ext cx="809592" cy="2476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83333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mass (kg)</a:t>
            </a:r>
            <a:endParaRPr lang="en-US" sz="900" dirty="0"/>
          </a:p>
        </p:txBody>
      </p:sp>
      <p:sp>
        <p:nvSpPr>
          <p:cNvPr id="100" name="Shape 95"/>
          <p:cNvSpPr/>
          <p:nvPr/>
        </p:nvSpPr>
        <p:spPr>
          <a:xfrm>
            <a:off x="3733767" y="6917449"/>
            <a:ext cx="676259" cy="209517"/>
          </a:xfrm>
          <a:prstGeom prst="roundRect">
            <a:avLst>
              <a:gd name="adj" fmla="val 50000"/>
            </a:avLst>
          </a:prstGeom>
          <a:solidFill>
            <a:srgbClr val="3F7FB0"/>
          </a:solidFill>
          <a:ln/>
          <a:effectLst>
            <a:outerShdw sx="100000" sy="100000" kx="0" ky="0" algn="bl" rotWithShape="0" blurRad="28575" dist="9525" dir="5400000">
              <a:srgbClr val="000000">
                <a:alpha val="22000"/>
              </a:srgbClr>
            </a:outerShdw>
          </a:effectLst>
        </p:spPr>
      </p:sp>
      <p:sp>
        <p:nvSpPr>
          <p:cNvPr id="101" name="Text 96"/>
          <p:cNvSpPr/>
          <p:nvPr/>
        </p:nvSpPr>
        <p:spPr>
          <a:xfrm>
            <a:off x="3695667" y="6917449"/>
            <a:ext cx="752459" cy="2476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83333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velocity</a:t>
            </a:r>
            <a:endParaRPr lang="en-US" sz="900" dirty="0"/>
          </a:p>
        </p:txBody>
      </p:sp>
      <p:sp>
        <p:nvSpPr>
          <p:cNvPr id="102" name="Shape 97"/>
          <p:cNvSpPr/>
          <p:nvPr/>
        </p:nvSpPr>
        <p:spPr>
          <a:xfrm>
            <a:off x="5153009" y="5748321"/>
            <a:ext cx="733392" cy="209517"/>
          </a:xfrm>
          <a:prstGeom prst="roundRect">
            <a:avLst>
              <a:gd name="adj" fmla="val 50000"/>
            </a:avLst>
          </a:prstGeom>
          <a:solidFill>
            <a:srgbClr val="1A7A44"/>
          </a:solidFill>
          <a:ln/>
          <a:effectLst>
            <a:outerShdw sx="100000" sy="100000" kx="0" ky="0" algn="bl" rotWithShape="0" blurRad="28575" dist="9525" dir="5400000">
              <a:srgbClr val="000000">
                <a:alpha val="22000"/>
              </a:srgbClr>
            </a:outerShdw>
          </a:effectLst>
        </p:spPr>
      </p:sp>
      <p:sp>
        <p:nvSpPr>
          <p:cNvPr id="103" name="Text 98"/>
          <p:cNvSpPr/>
          <p:nvPr/>
        </p:nvSpPr>
        <p:spPr>
          <a:xfrm>
            <a:off x="5114909" y="5748321"/>
            <a:ext cx="809592" cy="2476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83333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mass (kg)</a:t>
            </a:r>
            <a:endParaRPr lang="en-US" sz="900" dirty="0"/>
          </a:p>
        </p:txBody>
      </p:sp>
      <p:sp>
        <p:nvSpPr>
          <p:cNvPr id="104" name="Shape 99"/>
          <p:cNvSpPr/>
          <p:nvPr/>
        </p:nvSpPr>
        <p:spPr>
          <a:xfrm>
            <a:off x="3800409" y="5708634"/>
            <a:ext cx="800034" cy="209517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  <a:effectLst>
            <a:outerShdw sx="100000" sy="100000" kx="0" ky="0" algn="bl" rotWithShape="0" blurRad="28575" dist="9525" dir="5400000">
              <a:srgbClr val="000000">
                <a:alpha val="22000"/>
              </a:srgbClr>
            </a:outerShdw>
          </a:effectLst>
        </p:spPr>
      </p:sp>
      <p:sp>
        <p:nvSpPr>
          <p:cNvPr id="105" name="Text 100"/>
          <p:cNvSpPr/>
          <p:nvPr/>
        </p:nvSpPr>
        <p:spPr>
          <a:xfrm>
            <a:off x="3762309" y="5708634"/>
            <a:ext cx="876234" cy="2476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83333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height (m)</a:t>
            </a:r>
            <a:endParaRPr lang="en-US" sz="900" dirty="0"/>
          </a:p>
        </p:txBody>
      </p:sp>
      <p:sp>
        <p:nvSpPr>
          <p:cNvPr id="106" name="Shape 101"/>
          <p:cNvSpPr/>
          <p:nvPr/>
        </p:nvSpPr>
        <p:spPr>
          <a:xfrm>
            <a:off x="4857750" y="10128498"/>
            <a:ext cx="361900" cy="209517"/>
          </a:xfrm>
          <a:prstGeom prst="roundRect">
            <a:avLst>
              <a:gd name="adj" fmla="val 50000"/>
            </a:avLst>
          </a:prstGeom>
          <a:solidFill>
            <a:srgbClr val="7A5C00"/>
          </a:solidFill>
          <a:ln/>
          <a:effectLst>
            <a:outerShdw sx="100000" sy="100000" kx="0" ky="0" algn="bl" rotWithShape="0" blurRad="28575" dist="9525" dir="5400000">
              <a:srgbClr val="000000">
                <a:alpha val="22000"/>
              </a:srgbClr>
            </a:outerShdw>
          </a:effectLst>
        </p:spPr>
      </p:sp>
      <p:sp>
        <p:nvSpPr>
          <p:cNvPr id="107" name="Text 102"/>
          <p:cNvSpPr/>
          <p:nvPr/>
        </p:nvSpPr>
        <p:spPr>
          <a:xfrm>
            <a:off x="4819650" y="10128498"/>
            <a:ext cx="438100" cy="2476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83333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J</a:t>
            </a:r>
            <a:endParaRPr lang="en-US" sz="900" dirty="0"/>
          </a:p>
        </p:txBody>
      </p:sp>
      <p:sp>
        <p:nvSpPr>
          <p:cNvPr id="108" name="Shape 103"/>
          <p:cNvSpPr/>
          <p:nvPr/>
        </p:nvSpPr>
        <p:spPr>
          <a:xfrm>
            <a:off x="3905250" y="10652622"/>
            <a:ext cx="361900" cy="209517"/>
          </a:xfrm>
          <a:prstGeom prst="roundRect">
            <a:avLst>
              <a:gd name="adj" fmla="val 50000"/>
            </a:avLst>
          </a:prstGeom>
          <a:solidFill>
            <a:srgbClr val="7A5C00"/>
          </a:solidFill>
          <a:ln/>
          <a:effectLst>
            <a:outerShdw sx="100000" sy="100000" kx="0" ky="0" algn="bl" rotWithShape="0" blurRad="28575" dist="9525" dir="5400000">
              <a:srgbClr val="000000">
                <a:alpha val="22000"/>
              </a:srgbClr>
            </a:outerShdw>
          </a:effectLst>
        </p:spPr>
      </p:sp>
      <p:sp>
        <p:nvSpPr>
          <p:cNvPr id="109" name="Text 104"/>
          <p:cNvSpPr/>
          <p:nvPr/>
        </p:nvSpPr>
        <p:spPr>
          <a:xfrm>
            <a:off x="3867150" y="10652622"/>
            <a:ext cx="438100" cy="2476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83333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J</a:t>
            </a:r>
            <a:endParaRPr lang="en-US" sz="900" dirty="0"/>
          </a:p>
        </p:txBody>
      </p:sp>
      <p:sp>
        <p:nvSpPr>
          <p:cNvPr id="110" name="Shape 105"/>
          <p:cNvSpPr/>
          <p:nvPr/>
        </p:nvSpPr>
        <p:spPr>
          <a:xfrm>
            <a:off x="6172151" y="10405732"/>
            <a:ext cx="361900" cy="209517"/>
          </a:xfrm>
          <a:prstGeom prst="roundRect">
            <a:avLst>
              <a:gd name="adj" fmla="val 50000"/>
            </a:avLst>
          </a:prstGeom>
          <a:solidFill>
            <a:srgbClr val="7A5C00"/>
          </a:solidFill>
          <a:ln/>
          <a:effectLst>
            <a:outerShdw sx="100000" sy="100000" kx="0" ky="0" algn="bl" rotWithShape="0" blurRad="28575" dist="9525" dir="5400000">
              <a:srgbClr val="000000">
                <a:alpha val="22000"/>
              </a:srgbClr>
            </a:outerShdw>
          </a:effectLst>
        </p:spPr>
      </p:sp>
      <p:sp>
        <p:nvSpPr>
          <p:cNvPr id="111" name="Text 106"/>
          <p:cNvSpPr/>
          <p:nvPr/>
        </p:nvSpPr>
        <p:spPr>
          <a:xfrm>
            <a:off x="6134051" y="10405732"/>
            <a:ext cx="438100" cy="2476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83333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J</a:t>
            </a:r>
            <a:endParaRPr lang="en-US" sz="900" dirty="0"/>
          </a:p>
        </p:txBody>
      </p:sp>
      <p:sp>
        <p:nvSpPr>
          <p:cNvPr id="112" name="Shape 107"/>
          <p:cNvSpPr/>
          <p:nvPr/>
        </p:nvSpPr>
        <p:spPr>
          <a:xfrm>
            <a:off x="6715126" y="11067273"/>
            <a:ext cx="676259" cy="209517"/>
          </a:xfrm>
          <a:prstGeom prst="roundRect">
            <a:avLst>
              <a:gd name="adj" fmla="val 50000"/>
            </a:avLst>
          </a:prstGeom>
          <a:solidFill>
            <a:srgbClr val="7A5C00"/>
          </a:solidFill>
          <a:ln/>
          <a:effectLst>
            <a:outerShdw sx="100000" sy="100000" kx="0" ky="0" algn="bl" rotWithShape="0" blurRad="28575" dist="9525" dir="5400000">
              <a:srgbClr val="000000">
                <a:alpha val="22000"/>
              </a:srgbClr>
            </a:outerShdw>
          </a:effectLst>
        </p:spPr>
      </p:sp>
      <p:sp>
        <p:nvSpPr>
          <p:cNvPr id="113" name="Text 108"/>
          <p:cNvSpPr/>
          <p:nvPr/>
        </p:nvSpPr>
        <p:spPr>
          <a:xfrm>
            <a:off x="6677026" y="11067273"/>
            <a:ext cx="752459" cy="2476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83333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 (s)</a:t>
            </a:r>
            <a:endParaRPr lang="en-US" sz="900" dirty="0"/>
          </a:p>
        </p:txBody>
      </p:sp>
      <p:sp>
        <p:nvSpPr>
          <p:cNvPr id="114" name="Shape 109"/>
          <p:cNvSpPr/>
          <p:nvPr/>
        </p:nvSpPr>
        <p:spPr>
          <a:xfrm>
            <a:off x="9096376" y="10284685"/>
            <a:ext cx="733392" cy="209517"/>
          </a:xfrm>
          <a:prstGeom prst="roundRect">
            <a:avLst>
              <a:gd name="adj" fmla="val 50000"/>
            </a:avLst>
          </a:prstGeom>
          <a:solidFill>
            <a:srgbClr val="B5651D"/>
          </a:solidFill>
          <a:ln/>
          <a:effectLst>
            <a:outerShdw sx="100000" sy="100000" kx="0" ky="0" algn="bl" rotWithShape="0" blurRad="28575" dist="9525" dir="5400000">
              <a:srgbClr val="000000">
                <a:alpha val="22000"/>
              </a:srgbClr>
            </a:outerShdw>
          </a:effectLst>
        </p:spPr>
      </p:sp>
      <p:sp>
        <p:nvSpPr>
          <p:cNvPr id="115" name="Text 110"/>
          <p:cNvSpPr/>
          <p:nvPr/>
        </p:nvSpPr>
        <p:spPr>
          <a:xfrm>
            <a:off x="9058276" y="10284685"/>
            <a:ext cx="809592" cy="2476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83333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area (m²)</a:t>
            </a:r>
            <a:endParaRPr lang="en-US" sz="900" dirty="0"/>
          </a:p>
        </p:txBody>
      </p:sp>
      <p:sp>
        <p:nvSpPr>
          <p:cNvPr id="116" name="Shape 111"/>
          <p:cNvSpPr/>
          <p:nvPr/>
        </p:nvSpPr>
        <p:spPr>
          <a:xfrm>
            <a:off x="8439134" y="6525370"/>
            <a:ext cx="733392" cy="209517"/>
          </a:xfrm>
          <a:prstGeom prst="roundRect">
            <a:avLst>
              <a:gd name="adj" fmla="val 50000"/>
            </a:avLst>
          </a:prstGeom>
          <a:solidFill>
            <a:srgbClr val="D81B74"/>
          </a:solidFill>
          <a:ln/>
          <a:effectLst>
            <a:outerShdw sx="100000" sy="100000" kx="0" ky="0" algn="bl" rotWithShape="0" blurRad="28575" dist="9525" dir="5400000">
              <a:srgbClr val="000000">
                <a:alpha val="22000"/>
              </a:srgbClr>
            </a:outerShdw>
          </a:effectLst>
        </p:spPr>
      </p:sp>
      <p:sp>
        <p:nvSpPr>
          <p:cNvPr id="117" name="Text 112"/>
          <p:cNvSpPr/>
          <p:nvPr/>
        </p:nvSpPr>
        <p:spPr>
          <a:xfrm>
            <a:off x="8401034" y="6525370"/>
            <a:ext cx="809592" cy="2476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83333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force (N)</a:t>
            </a:r>
            <a:endParaRPr lang="en-US" sz="900" dirty="0"/>
          </a:p>
        </p:txBody>
      </p:sp>
      <p:sp>
        <p:nvSpPr>
          <p:cNvPr id="118" name="Shape 113"/>
          <p:cNvSpPr/>
          <p:nvPr/>
        </p:nvSpPr>
        <p:spPr>
          <a:xfrm>
            <a:off x="12839651" y="3552362"/>
            <a:ext cx="800034" cy="209517"/>
          </a:xfrm>
          <a:prstGeom prst="roundRect">
            <a:avLst>
              <a:gd name="adj" fmla="val 50000"/>
            </a:avLst>
          </a:prstGeom>
          <a:solidFill>
            <a:srgbClr val="E07B1A"/>
          </a:solidFill>
          <a:ln/>
          <a:effectLst>
            <a:outerShdw sx="100000" sy="100000" kx="0" ky="0" algn="bl" rotWithShape="0" blurRad="28575" dist="9525" dir="5400000">
              <a:srgbClr val="000000">
                <a:alpha val="22000"/>
              </a:srgbClr>
            </a:outerShdw>
          </a:effectLst>
        </p:spPr>
      </p:sp>
      <p:sp>
        <p:nvSpPr>
          <p:cNvPr id="119" name="Text 114"/>
          <p:cNvSpPr/>
          <p:nvPr/>
        </p:nvSpPr>
        <p:spPr>
          <a:xfrm>
            <a:off x="12801551" y="3552362"/>
            <a:ext cx="876234" cy="2476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83333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charge (C)</a:t>
            </a:r>
            <a:endParaRPr lang="en-US" sz="900" dirty="0"/>
          </a:p>
        </p:txBody>
      </p:sp>
      <p:sp>
        <p:nvSpPr>
          <p:cNvPr id="120" name="Shape 115"/>
          <p:cNvSpPr/>
          <p:nvPr/>
        </p:nvSpPr>
        <p:spPr>
          <a:xfrm>
            <a:off x="14192251" y="3177563"/>
            <a:ext cx="800034" cy="209517"/>
          </a:xfrm>
          <a:prstGeom prst="roundRect">
            <a:avLst>
              <a:gd name="adj" fmla="val 50000"/>
            </a:avLst>
          </a:prstGeom>
          <a:solidFill>
            <a:srgbClr val="E07B1A"/>
          </a:solidFill>
          <a:ln/>
          <a:effectLst>
            <a:outerShdw sx="100000" sy="100000" kx="0" ky="0" algn="bl" rotWithShape="0" blurRad="28575" dist="9525" dir="5400000">
              <a:srgbClr val="000000">
                <a:alpha val="22000"/>
              </a:srgbClr>
            </a:outerShdw>
          </a:effectLst>
        </p:spPr>
      </p:sp>
      <p:sp>
        <p:nvSpPr>
          <p:cNvPr id="121" name="Text 116"/>
          <p:cNvSpPr/>
          <p:nvPr/>
        </p:nvSpPr>
        <p:spPr>
          <a:xfrm>
            <a:off x="14154151" y="3177563"/>
            <a:ext cx="876234" cy="2476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83333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charge (C)</a:t>
            </a:r>
            <a:endParaRPr lang="en-US" sz="900" dirty="0"/>
          </a:p>
        </p:txBody>
      </p:sp>
      <p:sp>
        <p:nvSpPr>
          <p:cNvPr id="122" name="Shape 117"/>
          <p:cNvSpPr/>
          <p:nvPr/>
        </p:nvSpPr>
        <p:spPr>
          <a:xfrm>
            <a:off x="13525501" y="4707434"/>
            <a:ext cx="800034" cy="209517"/>
          </a:xfrm>
          <a:prstGeom prst="roundRect">
            <a:avLst>
              <a:gd name="adj" fmla="val 50000"/>
            </a:avLst>
          </a:prstGeom>
          <a:solidFill>
            <a:srgbClr val="E07B1A"/>
          </a:solidFill>
          <a:ln/>
          <a:effectLst>
            <a:outerShdw sx="100000" sy="100000" kx="0" ky="0" algn="bl" rotWithShape="0" blurRad="28575" dist="9525" dir="5400000">
              <a:srgbClr val="000000">
                <a:alpha val="22000"/>
              </a:srgbClr>
            </a:outerShdw>
          </a:effectLst>
        </p:spPr>
      </p:sp>
      <p:sp>
        <p:nvSpPr>
          <p:cNvPr id="123" name="Text 118"/>
          <p:cNvSpPr/>
          <p:nvPr/>
        </p:nvSpPr>
        <p:spPr>
          <a:xfrm>
            <a:off x="13487401" y="4707434"/>
            <a:ext cx="876234" cy="2476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83333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charge (C)</a:t>
            </a:r>
            <a:endParaRPr lang="en-US" sz="900" dirty="0"/>
          </a:p>
        </p:txBody>
      </p:sp>
      <p:sp>
        <p:nvSpPr>
          <p:cNvPr id="124" name="Shape 119"/>
          <p:cNvSpPr/>
          <p:nvPr/>
        </p:nvSpPr>
        <p:spPr>
          <a:xfrm>
            <a:off x="14439884" y="6968381"/>
            <a:ext cx="866759" cy="209517"/>
          </a:xfrm>
          <a:prstGeom prst="roundRect">
            <a:avLst>
              <a:gd name="adj" fmla="val 50000"/>
            </a:avLst>
          </a:prstGeom>
          <a:solidFill>
            <a:srgbClr val="2B8F5F"/>
          </a:solidFill>
          <a:ln/>
          <a:effectLst>
            <a:outerShdw sx="100000" sy="100000" kx="0" ky="0" algn="bl" rotWithShape="0" blurRad="28575" dist="9525" dir="5400000">
              <a:srgbClr val="000000">
                <a:alpha val="22000"/>
              </a:srgbClr>
            </a:outerShdw>
          </a:effectLst>
        </p:spPr>
      </p:sp>
      <p:sp>
        <p:nvSpPr>
          <p:cNvPr id="125" name="Text 120"/>
          <p:cNvSpPr/>
          <p:nvPr/>
        </p:nvSpPr>
        <p:spPr>
          <a:xfrm>
            <a:off x="14401784" y="6968381"/>
            <a:ext cx="942959" cy="2476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83333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voltage (V)</a:t>
            </a:r>
            <a:endParaRPr lang="en-US" sz="900" dirty="0"/>
          </a:p>
        </p:txBody>
      </p:sp>
      <p:sp>
        <p:nvSpPr>
          <p:cNvPr id="126" name="Shape 121"/>
          <p:cNvSpPr/>
          <p:nvPr/>
        </p:nvSpPr>
        <p:spPr>
          <a:xfrm>
            <a:off x="15230410" y="5268599"/>
            <a:ext cx="866759" cy="209517"/>
          </a:xfrm>
          <a:prstGeom prst="roundRect">
            <a:avLst>
              <a:gd name="adj" fmla="val 50000"/>
            </a:avLst>
          </a:prstGeom>
          <a:solidFill>
            <a:srgbClr val="D4820A"/>
          </a:solidFill>
          <a:ln/>
          <a:effectLst>
            <a:outerShdw sx="100000" sy="100000" kx="0" ky="0" algn="bl" rotWithShape="0" blurRad="28575" dist="9525" dir="5400000">
              <a:srgbClr val="000000">
                <a:alpha val="22000"/>
              </a:srgbClr>
            </a:outerShdw>
          </a:effectLst>
        </p:spPr>
      </p:sp>
      <p:sp>
        <p:nvSpPr>
          <p:cNvPr id="127" name="Text 122"/>
          <p:cNvSpPr/>
          <p:nvPr/>
        </p:nvSpPr>
        <p:spPr>
          <a:xfrm>
            <a:off x="15192310" y="5268599"/>
            <a:ext cx="942959" cy="2476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83333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(A)</a:t>
            </a:r>
            <a:endParaRPr lang="en-US" sz="900" dirty="0"/>
          </a:p>
        </p:txBody>
      </p:sp>
      <p:sp>
        <p:nvSpPr>
          <p:cNvPr id="128" name="Shape 123"/>
          <p:cNvSpPr/>
          <p:nvPr/>
        </p:nvSpPr>
        <p:spPr>
          <a:xfrm>
            <a:off x="14039785" y="5737986"/>
            <a:ext cx="800034" cy="209517"/>
          </a:xfrm>
          <a:prstGeom prst="roundRect">
            <a:avLst>
              <a:gd name="adj" fmla="val 50000"/>
            </a:avLst>
          </a:prstGeom>
          <a:solidFill>
            <a:srgbClr val="E07B1A"/>
          </a:solidFill>
          <a:ln/>
          <a:effectLst>
            <a:outerShdw sx="100000" sy="100000" kx="0" ky="0" algn="bl" rotWithShape="0" blurRad="28575" dist="9525" dir="5400000">
              <a:srgbClr val="000000">
                <a:alpha val="22000"/>
              </a:srgbClr>
            </a:outerShdw>
          </a:effectLst>
        </p:spPr>
      </p:sp>
      <p:sp>
        <p:nvSpPr>
          <p:cNvPr id="129" name="Text 124"/>
          <p:cNvSpPr/>
          <p:nvPr/>
        </p:nvSpPr>
        <p:spPr>
          <a:xfrm>
            <a:off x="14001685" y="5737986"/>
            <a:ext cx="876234" cy="2476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83333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charge (C)</a:t>
            </a:r>
            <a:endParaRPr lang="en-US" sz="900" dirty="0"/>
          </a:p>
        </p:txBody>
      </p:sp>
      <p:sp>
        <p:nvSpPr>
          <p:cNvPr id="130" name="Shape 125"/>
          <p:cNvSpPr/>
          <p:nvPr/>
        </p:nvSpPr>
        <p:spPr>
          <a:xfrm>
            <a:off x="13839776" y="8871149"/>
            <a:ext cx="866759" cy="209517"/>
          </a:xfrm>
          <a:prstGeom prst="roundRect">
            <a:avLst>
              <a:gd name="adj" fmla="val 50000"/>
            </a:avLst>
          </a:prstGeom>
          <a:solidFill>
            <a:srgbClr val="2B8F5F"/>
          </a:solidFill>
          <a:ln/>
          <a:effectLst>
            <a:outerShdw sx="100000" sy="100000" kx="0" ky="0" algn="bl" rotWithShape="0" blurRad="28575" dist="9525" dir="5400000">
              <a:srgbClr val="000000">
                <a:alpha val="22000"/>
              </a:srgbClr>
            </a:outerShdw>
          </a:effectLst>
        </p:spPr>
      </p:sp>
      <p:sp>
        <p:nvSpPr>
          <p:cNvPr id="131" name="Text 126"/>
          <p:cNvSpPr/>
          <p:nvPr/>
        </p:nvSpPr>
        <p:spPr>
          <a:xfrm>
            <a:off x="13801676" y="8871149"/>
            <a:ext cx="942959" cy="2476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83333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voltage (V)</a:t>
            </a:r>
            <a:endParaRPr lang="en-US" sz="900" dirty="0"/>
          </a:p>
        </p:txBody>
      </p:sp>
      <p:sp>
        <p:nvSpPr>
          <p:cNvPr id="132" name="Text 127"/>
          <p:cNvSpPr/>
          <p:nvPr/>
        </p:nvSpPr>
        <p:spPr>
          <a:xfrm>
            <a:off x="2552254" y="1371534"/>
            <a:ext cx="610493" cy="202142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50800" dir="16200000">
              <a:srgbClr val="FFFFFF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25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 (t)</a:t>
            </a:r>
            <a:endParaRPr lang="en-US" sz="1125" dirty="0"/>
          </a:p>
        </p:txBody>
      </p:sp>
      <p:sp>
        <p:nvSpPr>
          <p:cNvPr id="133" name="Text 128"/>
          <p:cNvSpPr/>
          <p:nvPr/>
        </p:nvSpPr>
        <p:spPr>
          <a:xfrm>
            <a:off x="2540513" y="1594859"/>
            <a:ext cx="633975" cy="233892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50800" dir="16200000">
              <a:srgbClr val="FFFFFF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F6F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second</a:t>
            </a:r>
            <a:endParaRPr lang="en-US" sz="1350" dirty="0"/>
          </a:p>
        </p:txBody>
      </p:sp>
      <p:sp>
        <p:nvSpPr>
          <p:cNvPr id="134" name="Text 129"/>
          <p:cNvSpPr/>
          <p:nvPr/>
        </p:nvSpPr>
        <p:spPr>
          <a:xfrm>
            <a:off x="4809067" y="1371534"/>
            <a:ext cx="1049867" cy="202142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50800" dir="16200000">
              <a:srgbClr val="FFFFFF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25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Distance (d, x)</a:t>
            </a:r>
            <a:endParaRPr lang="en-US" sz="1125" dirty="0"/>
          </a:p>
        </p:txBody>
      </p:sp>
      <p:sp>
        <p:nvSpPr>
          <p:cNvPr id="135" name="Text 130"/>
          <p:cNvSpPr/>
          <p:nvPr/>
        </p:nvSpPr>
        <p:spPr>
          <a:xfrm>
            <a:off x="5053145" y="1594859"/>
            <a:ext cx="561710" cy="233892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50800" dir="16200000">
              <a:srgbClr val="FFFFFF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meter</a:t>
            </a:r>
            <a:endParaRPr lang="en-US" sz="1350" dirty="0"/>
          </a:p>
        </p:txBody>
      </p:sp>
      <p:sp>
        <p:nvSpPr>
          <p:cNvPr id="136" name="Text 131"/>
          <p:cNvSpPr/>
          <p:nvPr/>
        </p:nvSpPr>
        <p:spPr>
          <a:xfrm>
            <a:off x="7484170" y="1371534"/>
            <a:ext cx="652661" cy="202142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50800" dir="16200000">
              <a:srgbClr val="FFFFFF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25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Mass (m)</a:t>
            </a:r>
            <a:endParaRPr lang="en-US" sz="1125" dirty="0"/>
          </a:p>
        </p:txBody>
      </p:sp>
      <p:sp>
        <p:nvSpPr>
          <p:cNvPr id="137" name="Text 132"/>
          <p:cNvSpPr/>
          <p:nvPr/>
        </p:nvSpPr>
        <p:spPr>
          <a:xfrm>
            <a:off x="7429848" y="1594859"/>
            <a:ext cx="761305" cy="233892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50800" dir="16200000">
              <a:srgbClr val="FFFFFF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A7A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kilogram</a:t>
            </a:r>
            <a:endParaRPr lang="en-US" sz="1350" dirty="0"/>
          </a:p>
        </p:txBody>
      </p:sp>
      <p:sp>
        <p:nvSpPr>
          <p:cNvPr id="138" name="Text 133"/>
          <p:cNvSpPr/>
          <p:nvPr/>
        </p:nvSpPr>
        <p:spPr>
          <a:xfrm>
            <a:off x="13613243" y="1371534"/>
            <a:ext cx="967515" cy="202142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50800" dir="16200000">
              <a:srgbClr val="FFFFFF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25" b="1" dirty="0">
                <a:solidFill>
                  <a:srgbClr val="3333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Charge (Q, q)</a:t>
            </a:r>
            <a:endParaRPr lang="en-US" sz="1125" dirty="0"/>
          </a:p>
        </p:txBody>
      </p:sp>
      <p:sp>
        <p:nvSpPr>
          <p:cNvPr id="139" name="Text 134"/>
          <p:cNvSpPr/>
          <p:nvPr/>
        </p:nvSpPr>
        <p:spPr>
          <a:xfrm>
            <a:off x="13718580" y="1594859"/>
            <a:ext cx="756758" cy="233892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50800" dir="16200000">
              <a:srgbClr val="FFFFFF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E07B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coulomb</a:t>
            </a:r>
            <a:endParaRPr lang="en-US" sz="1350" dirty="0"/>
          </a:p>
        </p:txBody>
      </p:sp>
      <p:sp>
        <p:nvSpPr>
          <p:cNvPr id="140" name="Text 135"/>
          <p:cNvSpPr/>
          <p:nvPr/>
        </p:nvSpPr>
        <p:spPr>
          <a:xfrm>
            <a:off x="3024618" y="5962634"/>
            <a:ext cx="808682" cy="196850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50800" dir="16200000">
              <a:srgbClr val="FFFFFF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88" b="1" dirty="0">
                <a:solidFill>
                  <a:srgbClr val="3F7F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Velocity (v)</a:t>
            </a:r>
            <a:endParaRPr lang="en-US" sz="1088" dirty="0"/>
          </a:p>
        </p:txBody>
      </p:sp>
      <p:sp>
        <p:nvSpPr>
          <p:cNvPr id="141" name="Text 136"/>
          <p:cNvSpPr/>
          <p:nvPr/>
        </p:nvSpPr>
        <p:spPr>
          <a:xfrm>
            <a:off x="2944664" y="6143626"/>
            <a:ext cx="968590" cy="186267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50800" dir="16200000">
              <a:srgbClr val="FFFFFF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13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distance ÷ time</a:t>
            </a:r>
            <a:endParaRPr lang="en-US" sz="1013" dirty="0"/>
          </a:p>
        </p:txBody>
      </p:sp>
      <p:sp>
        <p:nvSpPr>
          <p:cNvPr id="142" name="Text 137"/>
          <p:cNvSpPr/>
          <p:nvPr/>
        </p:nvSpPr>
        <p:spPr>
          <a:xfrm>
            <a:off x="2114616" y="8629634"/>
            <a:ext cx="1104685" cy="196850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50800" dir="16200000">
              <a:srgbClr val="FFFFFF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88" b="1" dirty="0">
                <a:solidFill>
                  <a:srgbClr val="6A5AC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Acceleration (a)</a:t>
            </a:r>
            <a:endParaRPr lang="en-US" sz="1088" dirty="0"/>
          </a:p>
        </p:txBody>
      </p:sp>
      <p:sp>
        <p:nvSpPr>
          <p:cNvPr id="143" name="Text 138"/>
          <p:cNvSpPr/>
          <p:nvPr/>
        </p:nvSpPr>
        <p:spPr>
          <a:xfrm>
            <a:off x="2196720" y="8810626"/>
            <a:ext cx="940478" cy="186267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50800" dir="16200000">
              <a:srgbClr val="FFFFFF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13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velocity ÷ time</a:t>
            </a:r>
            <a:endParaRPr lang="en-US" sz="1013" dirty="0"/>
          </a:p>
        </p:txBody>
      </p:sp>
      <p:sp>
        <p:nvSpPr>
          <p:cNvPr id="144" name="Text 139"/>
          <p:cNvSpPr/>
          <p:nvPr/>
        </p:nvSpPr>
        <p:spPr>
          <a:xfrm>
            <a:off x="5397930" y="5772134"/>
            <a:ext cx="1015057" cy="196850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50800" dir="16200000">
              <a:srgbClr val="FFFFFF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88" b="1" dirty="0">
                <a:solidFill>
                  <a:srgbClr val="2E8B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Momentum (p)</a:t>
            </a:r>
            <a:endParaRPr lang="en-US" sz="1088" dirty="0"/>
          </a:p>
        </p:txBody>
      </p:sp>
      <p:sp>
        <p:nvSpPr>
          <p:cNvPr id="145" name="Text 140"/>
          <p:cNvSpPr/>
          <p:nvPr/>
        </p:nvSpPr>
        <p:spPr>
          <a:xfrm>
            <a:off x="5428357" y="5953125"/>
            <a:ext cx="954286" cy="186267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50800" dir="16200000">
              <a:srgbClr val="FFFFFF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13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mass × velocity</a:t>
            </a:r>
            <a:endParaRPr lang="en-US" sz="1013" dirty="0"/>
          </a:p>
        </p:txBody>
      </p:sp>
      <p:sp>
        <p:nvSpPr>
          <p:cNvPr id="146" name="Text 141"/>
          <p:cNvSpPr/>
          <p:nvPr/>
        </p:nvSpPr>
        <p:spPr>
          <a:xfrm>
            <a:off x="5384453" y="8629634"/>
            <a:ext cx="661012" cy="196850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50800" dir="16200000">
              <a:srgbClr val="FFFFFF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88" b="1" dirty="0">
                <a:solidFill>
                  <a:srgbClr val="D81B7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Force (F)</a:t>
            </a:r>
            <a:endParaRPr lang="en-US" sz="1088" dirty="0"/>
          </a:p>
        </p:txBody>
      </p:sp>
      <p:sp>
        <p:nvSpPr>
          <p:cNvPr id="147" name="Text 142"/>
          <p:cNvSpPr/>
          <p:nvPr/>
        </p:nvSpPr>
        <p:spPr>
          <a:xfrm>
            <a:off x="5106475" y="8810626"/>
            <a:ext cx="1217050" cy="186267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50800" dir="16200000">
              <a:srgbClr val="FFFFFF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13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mass × acceleration</a:t>
            </a:r>
            <a:endParaRPr lang="en-US" sz="1013" dirty="0"/>
          </a:p>
        </p:txBody>
      </p:sp>
      <p:sp>
        <p:nvSpPr>
          <p:cNvPr id="148" name="Text 143"/>
          <p:cNvSpPr/>
          <p:nvPr/>
        </p:nvSpPr>
        <p:spPr>
          <a:xfrm>
            <a:off x="7986300" y="6534134"/>
            <a:ext cx="791319" cy="196850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50800" dir="16200000">
              <a:srgbClr val="FFFFFF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88" b="1" dirty="0">
                <a:solidFill>
                  <a:srgbClr val="5F8F3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Impulse (J)</a:t>
            </a:r>
            <a:endParaRPr lang="en-US" sz="1088" dirty="0"/>
          </a:p>
        </p:txBody>
      </p:sp>
      <p:sp>
        <p:nvSpPr>
          <p:cNvPr id="149" name="Text 144"/>
          <p:cNvSpPr/>
          <p:nvPr/>
        </p:nvSpPr>
        <p:spPr>
          <a:xfrm>
            <a:off x="7989028" y="6715126"/>
            <a:ext cx="785945" cy="186267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50800" dir="16200000">
              <a:srgbClr val="FFFFFF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13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force × time</a:t>
            </a:r>
            <a:endParaRPr lang="en-US" sz="1013" dirty="0"/>
          </a:p>
        </p:txBody>
      </p:sp>
      <p:sp>
        <p:nvSpPr>
          <p:cNvPr id="150" name="Text 145"/>
          <p:cNvSpPr/>
          <p:nvPr/>
        </p:nvSpPr>
        <p:spPr>
          <a:xfrm>
            <a:off x="4256005" y="9867884"/>
            <a:ext cx="1012990" cy="196850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50800" dir="16200000">
              <a:srgbClr val="FFFFFF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88" b="1" dirty="0">
                <a:solidFill>
                  <a:srgbClr val="B886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Kinetic Energy</a:t>
            </a:r>
            <a:endParaRPr lang="en-US" sz="1088" dirty="0"/>
          </a:p>
        </p:txBody>
      </p:sp>
      <p:sp>
        <p:nvSpPr>
          <p:cNvPr id="151" name="Text 146"/>
          <p:cNvSpPr/>
          <p:nvPr/>
        </p:nvSpPr>
        <p:spPr>
          <a:xfrm>
            <a:off x="4151743" y="10048875"/>
            <a:ext cx="1221515" cy="186267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50800" dir="16200000">
              <a:srgbClr val="FFFFFF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13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½ · mass · velocity²</a:t>
            </a:r>
            <a:endParaRPr lang="en-US" sz="1013" dirty="0"/>
          </a:p>
        </p:txBody>
      </p:sp>
      <p:sp>
        <p:nvSpPr>
          <p:cNvPr id="152" name="Text 147"/>
          <p:cNvSpPr/>
          <p:nvPr/>
        </p:nvSpPr>
        <p:spPr>
          <a:xfrm>
            <a:off x="2288662" y="10820384"/>
            <a:ext cx="1137675" cy="196850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50800" dir="16200000">
              <a:srgbClr val="FFFFFF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88" b="1" dirty="0">
                <a:solidFill>
                  <a:srgbClr val="B886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Potential Energy</a:t>
            </a:r>
            <a:endParaRPr lang="en-US" sz="1088" dirty="0"/>
          </a:p>
        </p:txBody>
      </p:sp>
      <p:sp>
        <p:nvSpPr>
          <p:cNvPr id="153" name="Text 148"/>
          <p:cNvSpPr/>
          <p:nvPr/>
        </p:nvSpPr>
        <p:spPr>
          <a:xfrm>
            <a:off x="2341745" y="11001375"/>
            <a:ext cx="1031429" cy="186267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50800" dir="16200000">
              <a:srgbClr val="FFFFFF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13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mass · g · height</a:t>
            </a:r>
            <a:endParaRPr lang="en-US" sz="1013" dirty="0"/>
          </a:p>
        </p:txBody>
      </p:sp>
      <p:sp>
        <p:nvSpPr>
          <p:cNvPr id="154" name="Text 149"/>
          <p:cNvSpPr/>
          <p:nvPr/>
        </p:nvSpPr>
        <p:spPr>
          <a:xfrm>
            <a:off x="6997502" y="10344134"/>
            <a:ext cx="673497" cy="196850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50800" dir="16200000">
              <a:srgbClr val="FFFFFF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88" b="1" dirty="0">
                <a:solidFill>
                  <a:srgbClr val="8A6D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 (W)</a:t>
            </a:r>
            <a:endParaRPr lang="en-US" sz="1088" dirty="0"/>
          </a:p>
        </p:txBody>
      </p:sp>
      <p:sp>
        <p:nvSpPr>
          <p:cNvPr id="155" name="Text 150"/>
          <p:cNvSpPr/>
          <p:nvPr/>
        </p:nvSpPr>
        <p:spPr>
          <a:xfrm>
            <a:off x="6832054" y="10525125"/>
            <a:ext cx="1004391" cy="186267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50800" dir="16200000">
              <a:srgbClr val="FFFFFF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13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force × distance</a:t>
            </a:r>
            <a:endParaRPr lang="en-US" sz="1013" dirty="0"/>
          </a:p>
        </p:txBody>
      </p:sp>
      <p:sp>
        <p:nvSpPr>
          <p:cNvPr id="156" name="Text 151"/>
          <p:cNvSpPr/>
          <p:nvPr/>
        </p:nvSpPr>
        <p:spPr>
          <a:xfrm>
            <a:off x="8222771" y="11677634"/>
            <a:ext cx="699459" cy="196850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50800" dir="16200000">
              <a:srgbClr val="FFFFFF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88" b="1" dirty="0">
                <a:solidFill>
                  <a:srgbClr val="B56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(P)</a:t>
            </a:r>
            <a:endParaRPr lang="en-US" sz="1088" dirty="0"/>
          </a:p>
        </p:txBody>
      </p:sp>
      <p:sp>
        <p:nvSpPr>
          <p:cNvPr id="157" name="Text 152"/>
          <p:cNvSpPr/>
          <p:nvPr/>
        </p:nvSpPr>
        <p:spPr>
          <a:xfrm>
            <a:off x="8135376" y="11858625"/>
            <a:ext cx="874167" cy="186267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50800" dir="16200000">
              <a:srgbClr val="FFFFFF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13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energy ÷ time</a:t>
            </a:r>
            <a:endParaRPr lang="en-US" sz="1013" dirty="0"/>
          </a:p>
        </p:txBody>
      </p:sp>
      <p:sp>
        <p:nvSpPr>
          <p:cNvPr id="158" name="Text 153"/>
          <p:cNvSpPr/>
          <p:nvPr/>
        </p:nvSpPr>
        <p:spPr>
          <a:xfrm>
            <a:off x="9971088" y="10725134"/>
            <a:ext cx="822242" cy="196850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50800" dir="16200000">
              <a:srgbClr val="FFFFFF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88" b="1" dirty="0">
                <a:solidFill>
                  <a:srgbClr val="A072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Intensity (I)</a:t>
            </a:r>
            <a:endParaRPr lang="en-US" sz="1088" dirty="0"/>
          </a:p>
        </p:txBody>
      </p:sp>
      <p:sp>
        <p:nvSpPr>
          <p:cNvPr id="159" name="Text 154"/>
          <p:cNvSpPr/>
          <p:nvPr/>
        </p:nvSpPr>
        <p:spPr>
          <a:xfrm>
            <a:off x="9965796" y="10906125"/>
            <a:ext cx="832826" cy="186267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50800" dir="16200000">
              <a:srgbClr val="FFFFFF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13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÷ area</a:t>
            </a:r>
            <a:endParaRPr lang="en-US" sz="1013" dirty="0"/>
          </a:p>
        </p:txBody>
      </p:sp>
      <p:sp>
        <p:nvSpPr>
          <p:cNvPr id="160" name="Text 155"/>
          <p:cNvSpPr/>
          <p:nvPr/>
        </p:nvSpPr>
        <p:spPr>
          <a:xfrm>
            <a:off x="11613903" y="6153134"/>
            <a:ext cx="1156113" cy="196850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50800" dir="16200000">
              <a:srgbClr val="FFFFFF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88" b="1" dirty="0">
                <a:solidFill>
                  <a:srgbClr val="0F8B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Electric Field (E)</a:t>
            </a:r>
            <a:endParaRPr lang="en-US" sz="1088" dirty="0"/>
          </a:p>
        </p:txBody>
      </p:sp>
      <p:sp>
        <p:nvSpPr>
          <p:cNvPr id="161" name="Text 156"/>
          <p:cNvSpPr/>
          <p:nvPr/>
        </p:nvSpPr>
        <p:spPr>
          <a:xfrm>
            <a:off x="11738174" y="6334126"/>
            <a:ext cx="907570" cy="186267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50800" dir="16200000">
              <a:srgbClr val="FFFFFF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13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force ÷ charge</a:t>
            </a:r>
            <a:endParaRPr lang="en-US" sz="1013" dirty="0"/>
          </a:p>
        </p:txBody>
      </p:sp>
      <p:sp>
        <p:nvSpPr>
          <p:cNvPr id="162" name="Text 157"/>
          <p:cNvSpPr/>
          <p:nvPr/>
        </p:nvSpPr>
        <p:spPr>
          <a:xfrm>
            <a:off x="14861332" y="5391134"/>
            <a:ext cx="757254" cy="196850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50800" dir="16200000">
              <a:srgbClr val="FFFFFF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88" b="1" dirty="0">
                <a:solidFill>
                  <a:srgbClr val="D482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(I)</a:t>
            </a:r>
            <a:endParaRPr lang="en-US" sz="1088" dirty="0"/>
          </a:p>
        </p:txBody>
      </p:sp>
      <p:sp>
        <p:nvSpPr>
          <p:cNvPr id="163" name="Text 158"/>
          <p:cNvSpPr/>
          <p:nvPr/>
        </p:nvSpPr>
        <p:spPr>
          <a:xfrm>
            <a:off x="14804034" y="5572125"/>
            <a:ext cx="871852" cy="186267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50800" dir="16200000">
              <a:srgbClr val="FFFFFF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13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charge ÷ time</a:t>
            </a:r>
            <a:endParaRPr lang="en-US" sz="1013" dirty="0"/>
          </a:p>
        </p:txBody>
      </p:sp>
      <p:sp>
        <p:nvSpPr>
          <p:cNvPr id="164" name="Text 159"/>
          <p:cNvSpPr/>
          <p:nvPr/>
        </p:nvSpPr>
        <p:spPr>
          <a:xfrm>
            <a:off x="13327327" y="8724884"/>
            <a:ext cx="777346" cy="196850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50800" dir="16200000">
              <a:srgbClr val="FFFFFF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88" b="1" dirty="0">
                <a:solidFill>
                  <a:srgbClr val="2B8F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Voltage (V)</a:t>
            </a:r>
            <a:endParaRPr lang="en-US" sz="1088" dirty="0"/>
          </a:p>
        </p:txBody>
      </p:sp>
      <p:sp>
        <p:nvSpPr>
          <p:cNvPr id="165" name="Text 160"/>
          <p:cNvSpPr/>
          <p:nvPr/>
        </p:nvSpPr>
        <p:spPr>
          <a:xfrm>
            <a:off x="13218105" y="8905876"/>
            <a:ext cx="995792" cy="186267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50800" dir="16200000">
              <a:srgbClr val="FFFFFF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13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energy ÷ charge</a:t>
            </a:r>
            <a:endParaRPr lang="en-US" sz="1013" dirty="0"/>
          </a:p>
        </p:txBody>
      </p:sp>
      <p:sp>
        <p:nvSpPr>
          <p:cNvPr id="166" name="Text 161"/>
          <p:cNvSpPr/>
          <p:nvPr/>
        </p:nvSpPr>
        <p:spPr>
          <a:xfrm>
            <a:off x="15603655" y="7010384"/>
            <a:ext cx="987111" cy="196850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50800" dir="16200000">
              <a:srgbClr val="FFFFFF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88" b="1" dirty="0">
                <a:solidFill>
                  <a:srgbClr val="5566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Resistance (R)</a:t>
            </a:r>
            <a:endParaRPr lang="en-US" sz="1088" dirty="0"/>
          </a:p>
        </p:txBody>
      </p:sp>
      <p:sp>
        <p:nvSpPr>
          <p:cNvPr id="167" name="Text 162"/>
          <p:cNvSpPr/>
          <p:nvPr/>
        </p:nvSpPr>
        <p:spPr>
          <a:xfrm>
            <a:off x="15562478" y="7191376"/>
            <a:ext cx="1069545" cy="186267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50800" dir="16200000">
              <a:srgbClr val="FFFFFF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13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voltage ÷ current</a:t>
            </a:r>
            <a:endParaRPr lang="en-US" sz="1013" dirty="0"/>
          </a:p>
        </p:txBody>
      </p:sp>
      <p:sp>
        <p:nvSpPr>
          <p:cNvPr id="168" name="Text 163"/>
          <p:cNvSpPr/>
          <p:nvPr/>
        </p:nvSpPr>
        <p:spPr>
          <a:xfrm>
            <a:off x="14315298" y="10915634"/>
            <a:ext cx="1087322" cy="196850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50800" dir="16200000">
              <a:srgbClr val="FFFFFF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88" b="1" dirty="0">
                <a:solidFill>
                  <a:srgbClr val="7A3B9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Capacitance (C)</a:t>
            </a:r>
            <a:endParaRPr lang="en-US" sz="1088" dirty="0"/>
          </a:p>
        </p:txBody>
      </p:sp>
      <p:sp>
        <p:nvSpPr>
          <p:cNvPr id="169" name="Text 164"/>
          <p:cNvSpPr/>
          <p:nvPr/>
        </p:nvSpPr>
        <p:spPr>
          <a:xfrm>
            <a:off x="14343741" y="11096625"/>
            <a:ext cx="1030436" cy="186267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50800" dir="16200000">
              <a:srgbClr val="FFFFFF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2000"/>
              </a:lnSpc>
              <a:buNone/>
            </a:pPr>
            <a:r>
              <a:rPr lang="en-US" sz="1013" dirty="0">
                <a:solidFill>
                  <a:srgbClr val="5555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charge ÷ voltage</a:t>
            </a:r>
            <a:endParaRPr lang="en-US" sz="1013" dirty="0"/>
          </a:p>
        </p:txBody>
      </p:sp>
      <p:sp>
        <p:nvSpPr>
          <p:cNvPr id="170" name="Text 165"/>
          <p:cNvSpPr/>
          <p:nvPr/>
        </p:nvSpPr>
        <p:spPr>
          <a:xfrm>
            <a:off x="12671079" y="6533059"/>
            <a:ext cx="565597" cy="180975"/>
          </a:xfrm>
          <a:prstGeom prst="rect">
            <a:avLst/>
          </a:prstGeom>
          <a:noFill/>
          <a:ln/>
          <a:effectLst>
            <a:outerShdw sx="100000" sy="100000" kx="0" ky="0" algn="bl" rotWithShape="0" blurRad="28575" dist="50800" dir="16200000">
              <a:srgbClr val="FFFFFF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75" b="1" dirty="0">
                <a:solidFill>
                  <a:srgbClr val="0F8B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 = V / d</a:t>
            </a:r>
            <a:endParaRPr lang="en-US" sz="975" dirty="0"/>
          </a:p>
        </p:txBody>
      </p:sp>
      <p:sp>
        <p:nvSpPr>
          <p:cNvPr id="171" name="Shape 166"/>
          <p:cNvSpPr/>
          <p:nvPr/>
        </p:nvSpPr>
        <p:spPr>
          <a:xfrm>
            <a:off x="381000" y="12668251"/>
            <a:ext cx="8382001" cy="2214728"/>
          </a:xfrm>
          <a:prstGeom prst="roundRect">
            <a:avLst>
              <a:gd name="adj" fmla="val 6021"/>
            </a:avLst>
          </a:prstGeom>
          <a:solidFill>
            <a:srgbClr val="FDF6EE"/>
          </a:solidFill>
          <a:ln w="15875">
            <a:solidFill>
              <a:srgbClr val="E07B1A"/>
            </a:solidFill>
            <a:prstDash val="solid"/>
          </a:ln>
        </p:spPr>
      </p:sp>
      <p:sp>
        <p:nvSpPr>
          <p:cNvPr id="172" name="Shape 167"/>
          <p:cNvSpPr/>
          <p:nvPr/>
        </p:nvSpPr>
        <p:spPr>
          <a:xfrm>
            <a:off x="396875" y="12684126"/>
            <a:ext cx="8350250" cy="365125"/>
          </a:xfrm>
          <a:prstGeom prst="rect">
            <a:avLst/>
          </a:prstGeom>
          <a:solidFill>
            <a:srgbClr val="E07B1A"/>
          </a:solidFill>
          <a:ln/>
        </p:spPr>
      </p:sp>
      <p:sp>
        <p:nvSpPr>
          <p:cNvPr id="173" name="Text 168"/>
          <p:cNvSpPr/>
          <p:nvPr/>
        </p:nvSpPr>
        <p:spPr>
          <a:xfrm>
            <a:off x="568325" y="12779376"/>
            <a:ext cx="8257858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Don't confuse the UNIT with the VARIABLE</a:t>
            </a:r>
            <a:endParaRPr lang="en-US" sz="1200" dirty="0"/>
          </a:p>
        </p:txBody>
      </p:sp>
      <p:sp>
        <p:nvSpPr>
          <p:cNvPr id="174" name="Text 169"/>
          <p:cNvSpPr/>
          <p:nvPr/>
        </p:nvSpPr>
        <p:spPr>
          <a:xfrm>
            <a:off x="568275" y="13192126"/>
            <a:ext cx="8808195" cy="222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05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 </a:t>
            </a:r>
            <a:pPr algn="l" indent="0" marL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 the </a:t>
            </a:r>
            <a:pPr algn="l" indent="0" marL="0">
              <a:lnSpc>
                <a:spcPct val="138000"/>
              </a:lnSpc>
              <a:buNone/>
            </a:pPr>
            <a:r>
              <a:rPr lang="en-US" sz="1050" b="1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 </a:t>
            </a:r>
            <a:pPr algn="l" indent="0" marL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 the meter (measures </a:t>
            </a:r>
            <a:pPr algn="l" indent="0" marL="0">
              <a:lnSpc>
                <a:spcPct val="138000"/>
              </a:lnSpc>
              <a:buNone/>
            </a:pPr>
            <a:r>
              <a:rPr lang="en-US" sz="1050" b="1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distance</a:t>
            </a:r>
            <a:pPr algn="l" indent="0" marL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); the </a:t>
            </a:r>
            <a:pPr algn="l" indent="0" marL="0">
              <a:lnSpc>
                <a:spcPct val="138000"/>
              </a:lnSpc>
              <a:buNone/>
            </a:pPr>
            <a:r>
              <a:rPr lang="en-US" sz="1050" b="1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variable </a:t>
            </a:r>
            <a:pPr algn="l" indent="0" marL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 is </a:t>
            </a:r>
            <a:pPr algn="l" indent="0" marL="0">
              <a:lnSpc>
                <a:spcPct val="138000"/>
              </a:lnSpc>
              <a:buNone/>
            </a:pPr>
            <a:r>
              <a:rPr lang="en-US" sz="1050" b="1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mass</a:t>
            </a:r>
            <a:pPr algn="l" indent="0" marL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 whose unit is the </a:t>
            </a:r>
            <a:pPr algn="l" indent="0" marL="0">
              <a:lnSpc>
                <a:spcPct val="138000"/>
              </a:lnSpc>
              <a:buNone/>
            </a:pPr>
            <a:r>
              <a:rPr lang="en-US" sz="1050" b="1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kilogram (kg)</a:t>
            </a:r>
            <a:pPr algn="l" indent="0" marL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</a:t>
            </a:r>
            <a:endParaRPr lang="en-US" sz="1050" dirty="0"/>
          </a:p>
        </p:txBody>
      </p:sp>
      <p:sp>
        <p:nvSpPr>
          <p:cNvPr id="175" name="Text 170"/>
          <p:cNvSpPr/>
          <p:nvPr/>
        </p:nvSpPr>
        <p:spPr>
          <a:xfrm>
            <a:off x="568275" y="13461753"/>
            <a:ext cx="8808195" cy="222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050" b="1" dirty="0">
                <a:solidFill>
                  <a:srgbClr val="D81B7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 </a:t>
            </a:r>
            <a:pPr algn="l" indent="0" marL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 the </a:t>
            </a:r>
            <a:pPr algn="l" indent="0" marL="0">
              <a:lnSpc>
                <a:spcPct val="138000"/>
              </a:lnSpc>
              <a:buNone/>
            </a:pPr>
            <a:r>
              <a:rPr lang="en-US" sz="1050" b="1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variable </a:t>
            </a:r>
            <a:pPr algn="l" indent="0" marL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 is </a:t>
            </a:r>
            <a:pPr algn="l" indent="0" marL="0">
              <a:lnSpc>
                <a:spcPct val="138000"/>
              </a:lnSpc>
              <a:buNone/>
            </a:pPr>
            <a:r>
              <a:rPr lang="en-US" sz="1050" b="1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force</a:t>
            </a:r>
            <a:pPr algn="l" indent="0" marL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 measured in </a:t>
            </a:r>
            <a:pPr algn="l" indent="0" marL="0">
              <a:lnSpc>
                <a:spcPct val="138000"/>
              </a:lnSpc>
              <a:buNone/>
            </a:pPr>
            <a:r>
              <a:rPr lang="en-US" sz="1050" b="1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newtons (N)</a:t>
            </a:r>
            <a:pPr algn="l" indent="0" marL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; the </a:t>
            </a:r>
            <a:pPr algn="l" indent="0" marL="0">
              <a:lnSpc>
                <a:spcPct val="138000"/>
              </a:lnSpc>
              <a:buNone/>
            </a:pPr>
            <a:r>
              <a:rPr lang="en-US" sz="1050" b="1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 </a:t>
            </a:r>
            <a:pPr algn="l" indent="0" marL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 is the </a:t>
            </a:r>
            <a:pPr algn="l" indent="0" marL="0">
              <a:lnSpc>
                <a:spcPct val="138000"/>
              </a:lnSpc>
              <a:buNone/>
            </a:pPr>
            <a:r>
              <a:rPr lang="en-US" sz="1050" b="1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farad </a:t>
            </a:r>
            <a:pPr algn="l" indent="0" marL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(measures capacitance).</a:t>
            </a:r>
            <a:endParaRPr lang="en-US" sz="1050" dirty="0"/>
          </a:p>
        </p:txBody>
      </p:sp>
      <p:sp>
        <p:nvSpPr>
          <p:cNvPr id="176" name="Text 171"/>
          <p:cNvSpPr/>
          <p:nvPr/>
        </p:nvSpPr>
        <p:spPr>
          <a:xfrm>
            <a:off x="568275" y="13731379"/>
            <a:ext cx="8808195" cy="222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050" b="1" dirty="0">
                <a:solidFill>
                  <a:srgbClr val="8A6D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 </a:t>
            </a:r>
            <a:pPr algn="l" indent="0" marL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 the </a:t>
            </a:r>
            <a:pPr algn="l" indent="0" marL="0">
              <a:lnSpc>
                <a:spcPct val="138000"/>
              </a:lnSpc>
              <a:buNone/>
            </a:pPr>
            <a:r>
              <a:rPr lang="en-US" sz="1050" b="1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variable </a:t>
            </a:r>
            <a:pPr algn="l" indent="0" marL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 can mean </a:t>
            </a:r>
            <a:pPr algn="l" indent="0" marL="0">
              <a:lnSpc>
                <a:spcPct val="138000"/>
              </a:lnSpc>
              <a:buNone/>
            </a:pPr>
            <a:r>
              <a:rPr lang="en-US" sz="1050" b="1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energy (J) </a:t>
            </a:r>
            <a:pPr algn="l" indent="0" marL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 </a:t>
            </a:r>
            <a:pPr algn="l" indent="0" marL="0">
              <a:lnSpc>
                <a:spcPct val="138000"/>
              </a:lnSpc>
              <a:buNone/>
            </a:pPr>
            <a:r>
              <a:rPr lang="en-US" sz="1050" b="1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electric field (N/C) </a:t>
            </a:r>
            <a:pPr algn="l" indent="0" marL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 read the context.</a:t>
            </a:r>
            <a:endParaRPr lang="en-US" sz="1050" dirty="0"/>
          </a:p>
        </p:txBody>
      </p:sp>
      <p:sp>
        <p:nvSpPr>
          <p:cNvPr id="177" name="Text 172"/>
          <p:cNvSpPr/>
          <p:nvPr/>
        </p:nvSpPr>
        <p:spPr>
          <a:xfrm>
            <a:off x="568275" y="14001007"/>
            <a:ext cx="8808195" cy="222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050" b="1" dirty="0">
                <a:solidFill>
                  <a:srgbClr val="E07B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 </a:t>
            </a:r>
            <a:pPr algn="l" indent="0" marL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 the </a:t>
            </a:r>
            <a:pPr algn="l" indent="0" marL="0">
              <a:lnSpc>
                <a:spcPct val="138000"/>
              </a:lnSpc>
              <a:buNone/>
            </a:pPr>
            <a:r>
              <a:rPr lang="en-US" sz="1050" b="1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 </a:t>
            </a:r>
            <a:pPr algn="l" indent="0" marL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 the coulomb (</a:t>
            </a:r>
            <a:pPr algn="l" indent="0" marL="0">
              <a:lnSpc>
                <a:spcPct val="138000"/>
              </a:lnSpc>
              <a:buNone/>
            </a:pPr>
            <a:r>
              <a:rPr lang="en-US" sz="1050" b="1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charge</a:t>
            </a:r>
            <a:pPr algn="l" indent="0" marL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 variable Q); the </a:t>
            </a:r>
            <a:pPr algn="l" indent="0" marL="0">
              <a:lnSpc>
                <a:spcPct val="138000"/>
              </a:lnSpc>
              <a:buNone/>
            </a:pPr>
            <a:r>
              <a:rPr lang="en-US" sz="1050" b="1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variable </a:t>
            </a:r>
            <a:pPr algn="l" indent="0" marL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 is </a:t>
            </a:r>
            <a:pPr algn="l" indent="0" marL="0">
              <a:lnSpc>
                <a:spcPct val="138000"/>
              </a:lnSpc>
              <a:buNone/>
            </a:pPr>
            <a:r>
              <a:rPr lang="en-US" sz="1050" b="1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capacitance</a:t>
            </a:r>
            <a:pPr algn="l" indent="0" marL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 unit </a:t>
            </a:r>
            <a:pPr algn="l" indent="0" marL="0">
              <a:lnSpc>
                <a:spcPct val="138000"/>
              </a:lnSpc>
              <a:buNone/>
            </a:pPr>
            <a:r>
              <a:rPr lang="en-US" sz="1050" b="1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farad (F)</a:t>
            </a:r>
            <a:pPr algn="l" indent="0" marL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</a:t>
            </a:r>
            <a:endParaRPr lang="en-US" sz="1050" dirty="0"/>
          </a:p>
        </p:txBody>
      </p:sp>
      <p:sp>
        <p:nvSpPr>
          <p:cNvPr id="178" name="Text 173"/>
          <p:cNvSpPr/>
          <p:nvPr/>
        </p:nvSpPr>
        <p:spPr>
          <a:xfrm>
            <a:off x="568275" y="14270634"/>
            <a:ext cx="8808195" cy="222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050" b="1" dirty="0">
                <a:solidFill>
                  <a:srgbClr val="B565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 </a:t>
            </a:r>
            <a:pPr algn="l" indent="0" marL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 the </a:t>
            </a:r>
            <a:pPr algn="l" indent="0" marL="0">
              <a:lnSpc>
                <a:spcPct val="138000"/>
              </a:lnSpc>
              <a:buNone/>
            </a:pPr>
            <a:r>
              <a:rPr lang="en-US" sz="1050" b="1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 </a:t>
            </a:r>
            <a:pPr algn="l" indent="0" marL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 the watt (</a:t>
            </a:r>
            <a:pPr algn="l" indent="0" marL="0">
              <a:lnSpc>
                <a:spcPct val="138000"/>
              </a:lnSpc>
              <a:buNone/>
            </a:pPr>
            <a:r>
              <a:rPr lang="en-US" sz="1050" b="1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</a:t>
            </a:r>
            <a:pPr algn="l" indent="0" marL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); the </a:t>
            </a:r>
            <a:pPr algn="l" indent="0" marL="0">
              <a:lnSpc>
                <a:spcPct val="138000"/>
              </a:lnSpc>
              <a:buNone/>
            </a:pPr>
            <a:r>
              <a:rPr lang="en-US" sz="1050" b="1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variable </a:t>
            </a:r>
            <a:pPr algn="l" indent="0" marL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 is </a:t>
            </a:r>
            <a:pPr algn="l" indent="0" marL="0">
              <a:lnSpc>
                <a:spcPct val="138000"/>
              </a:lnSpc>
              <a:buNone/>
            </a:pPr>
            <a:r>
              <a:rPr lang="en-US" sz="1050" b="1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</a:t>
            </a:r>
            <a:pPr algn="l" indent="0" marL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, measured in </a:t>
            </a:r>
            <a:pPr algn="l" indent="0" marL="0">
              <a:lnSpc>
                <a:spcPct val="138000"/>
              </a:lnSpc>
              <a:buNone/>
            </a:pPr>
            <a:r>
              <a:rPr lang="en-US" sz="1050" b="1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joules (J)</a:t>
            </a:r>
            <a:pPr algn="l" indent="0" marL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</a:t>
            </a:r>
            <a:endParaRPr lang="en-US" sz="1050" dirty="0"/>
          </a:p>
        </p:txBody>
      </p:sp>
      <p:sp>
        <p:nvSpPr>
          <p:cNvPr id="179" name="Text 174"/>
          <p:cNvSpPr/>
          <p:nvPr/>
        </p:nvSpPr>
        <p:spPr>
          <a:xfrm>
            <a:off x="568275" y="14540260"/>
            <a:ext cx="8808195" cy="2220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050" b="1" dirty="0">
                <a:solidFill>
                  <a:srgbClr val="2B8F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 </a:t>
            </a:r>
            <a:pPr algn="l" indent="0" marL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— the </a:t>
            </a:r>
            <a:pPr algn="l" indent="0" marL="0">
              <a:lnSpc>
                <a:spcPct val="138000"/>
              </a:lnSpc>
              <a:buNone/>
            </a:pPr>
            <a:r>
              <a:rPr lang="en-US" sz="1050" b="1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 </a:t>
            </a:r>
            <a:pPr algn="l" indent="0" marL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 the volt; the </a:t>
            </a:r>
            <a:pPr algn="l" indent="0" marL="0">
              <a:lnSpc>
                <a:spcPct val="138000"/>
              </a:lnSpc>
              <a:buNone/>
            </a:pPr>
            <a:r>
              <a:rPr lang="en-US" sz="1050" b="1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variable </a:t>
            </a:r>
            <a:pPr algn="l" indent="0" marL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 is </a:t>
            </a:r>
            <a:pPr algn="l" indent="0" marL="0">
              <a:lnSpc>
                <a:spcPct val="138000"/>
              </a:lnSpc>
              <a:buNone/>
            </a:pPr>
            <a:r>
              <a:rPr lang="en-US" sz="1050" b="1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voltage </a:t>
            </a:r>
            <a:pPr algn="l" indent="0" marL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(and, in chem, </a:t>
            </a:r>
            <a:pPr algn="l" indent="0" marL="0">
              <a:lnSpc>
                <a:spcPct val="138000"/>
              </a:lnSpc>
              <a:buNone/>
            </a:pPr>
            <a:r>
              <a:rPr lang="en-US" sz="1050" b="1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volume </a:t>
            </a:r>
            <a:pPr algn="l" indent="0" marL="0">
              <a:lnSpc>
                <a:spcPct val="138000"/>
              </a:lnSpc>
              <a:buNone/>
            </a:pPr>
            <a:r>
              <a:rPr lang="en-US" sz="1050" dirty="0">
                <a:solidFill>
                  <a:srgbClr val="3A3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liters).</a:t>
            </a:r>
            <a:endParaRPr lang="en-US" sz="1050" dirty="0"/>
          </a:p>
        </p:txBody>
      </p:sp>
      <p:sp>
        <p:nvSpPr>
          <p:cNvPr id="180" name="Shape 175"/>
          <p:cNvSpPr/>
          <p:nvPr/>
        </p:nvSpPr>
        <p:spPr>
          <a:xfrm>
            <a:off x="9144001" y="12668251"/>
            <a:ext cx="9144001" cy="2398613"/>
          </a:xfrm>
          <a:prstGeom prst="roundRect">
            <a:avLst>
              <a:gd name="adj" fmla="val 5559"/>
            </a:avLst>
          </a:prstGeom>
          <a:solidFill>
            <a:srgbClr val="FAFBFC"/>
          </a:solidFill>
          <a:ln w="10583">
            <a:solidFill>
              <a:srgbClr val="C9CED4"/>
            </a:solidFill>
            <a:prstDash val="solid"/>
          </a:ln>
        </p:spPr>
      </p:sp>
      <p:sp>
        <p:nvSpPr>
          <p:cNvPr id="181" name="Shape 176"/>
          <p:cNvSpPr/>
          <p:nvPr/>
        </p:nvSpPr>
        <p:spPr>
          <a:xfrm>
            <a:off x="9154584" y="12678834"/>
            <a:ext cx="9122834" cy="365125"/>
          </a:xfrm>
          <a:prstGeom prst="rect">
            <a:avLst/>
          </a:prstGeom>
          <a:solidFill>
            <a:srgbClr val="2F6F8F"/>
          </a:solidFill>
          <a:ln/>
        </p:spPr>
      </p:sp>
      <p:sp>
        <p:nvSpPr>
          <p:cNvPr id="182" name="Text 177"/>
          <p:cNvSpPr/>
          <p:nvPr/>
        </p:nvSpPr>
        <p:spPr>
          <a:xfrm>
            <a:off x="9326034" y="12774084"/>
            <a:ext cx="9053619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"What other unit is this equal to?" — forms they sneak in</a:t>
            </a:r>
            <a:endParaRPr lang="en-US" sz="1200" dirty="0"/>
          </a:p>
        </p:txBody>
      </p:sp>
      <p:sp>
        <p:nvSpPr>
          <p:cNvPr id="183" name="Shape 178"/>
          <p:cNvSpPr/>
          <p:nvPr/>
        </p:nvSpPr>
        <p:spPr>
          <a:xfrm>
            <a:off x="9306967" y="13177243"/>
            <a:ext cx="2076400" cy="518418"/>
          </a:xfrm>
          <a:prstGeom prst="roundRect">
            <a:avLst>
              <a:gd name="adj" fmla="val 18373"/>
            </a:avLst>
          </a:prstGeom>
          <a:solidFill>
            <a:srgbClr val="FFFFFF"/>
          </a:solidFill>
          <a:ln w="5292">
            <a:solidFill>
              <a:srgbClr val="DFE3E7"/>
            </a:solidFill>
            <a:prstDash val="solid"/>
          </a:ln>
        </p:spPr>
      </p:sp>
      <p:sp>
        <p:nvSpPr>
          <p:cNvPr id="184" name="Text 179"/>
          <p:cNvSpPr/>
          <p:nvPr/>
        </p:nvSpPr>
        <p:spPr>
          <a:xfrm>
            <a:off x="9436035" y="13268194"/>
            <a:ext cx="2000093" cy="223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kg·m/s² = N</a:t>
            </a:r>
            <a:endParaRPr lang="en-US" sz="1238" dirty="0"/>
          </a:p>
        </p:txBody>
      </p:sp>
      <p:sp>
        <p:nvSpPr>
          <p:cNvPr id="185" name="Text 180"/>
          <p:cNvSpPr/>
          <p:nvPr/>
        </p:nvSpPr>
        <p:spPr>
          <a:xfrm>
            <a:off x="9436035" y="13472418"/>
            <a:ext cx="2000093" cy="170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A82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 = ma</a:t>
            </a:r>
            <a:endParaRPr lang="en-US" sz="900" dirty="0"/>
          </a:p>
        </p:txBody>
      </p:sp>
      <p:sp>
        <p:nvSpPr>
          <p:cNvPr id="186" name="Shape 181"/>
          <p:cNvSpPr/>
          <p:nvPr/>
        </p:nvSpPr>
        <p:spPr>
          <a:xfrm>
            <a:off x="11478618" y="13177243"/>
            <a:ext cx="2076400" cy="518418"/>
          </a:xfrm>
          <a:prstGeom prst="roundRect">
            <a:avLst>
              <a:gd name="adj" fmla="val 18373"/>
            </a:avLst>
          </a:prstGeom>
          <a:solidFill>
            <a:srgbClr val="FFFFFF"/>
          </a:solidFill>
          <a:ln w="5292">
            <a:solidFill>
              <a:srgbClr val="DFE3E7"/>
            </a:solidFill>
            <a:prstDash val="solid"/>
          </a:ln>
        </p:spPr>
      </p:sp>
      <p:sp>
        <p:nvSpPr>
          <p:cNvPr id="187" name="Text 182"/>
          <p:cNvSpPr/>
          <p:nvPr/>
        </p:nvSpPr>
        <p:spPr>
          <a:xfrm>
            <a:off x="11607685" y="13268194"/>
            <a:ext cx="2000093" cy="223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N·m = J</a:t>
            </a:r>
            <a:endParaRPr lang="en-US" sz="1238" dirty="0"/>
          </a:p>
        </p:txBody>
      </p:sp>
      <p:sp>
        <p:nvSpPr>
          <p:cNvPr id="188" name="Text 183"/>
          <p:cNvSpPr/>
          <p:nvPr/>
        </p:nvSpPr>
        <p:spPr>
          <a:xfrm>
            <a:off x="11607685" y="13472418"/>
            <a:ext cx="2000093" cy="170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A82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 = Fd</a:t>
            </a:r>
            <a:endParaRPr lang="en-US" sz="900" dirty="0"/>
          </a:p>
        </p:txBody>
      </p:sp>
      <p:sp>
        <p:nvSpPr>
          <p:cNvPr id="189" name="Shape 184"/>
          <p:cNvSpPr/>
          <p:nvPr/>
        </p:nvSpPr>
        <p:spPr>
          <a:xfrm>
            <a:off x="13650268" y="13177243"/>
            <a:ext cx="2076400" cy="518418"/>
          </a:xfrm>
          <a:prstGeom prst="roundRect">
            <a:avLst>
              <a:gd name="adj" fmla="val 18373"/>
            </a:avLst>
          </a:prstGeom>
          <a:solidFill>
            <a:srgbClr val="FFFFFF"/>
          </a:solidFill>
          <a:ln w="5292">
            <a:solidFill>
              <a:srgbClr val="DFE3E7"/>
            </a:solidFill>
            <a:prstDash val="solid"/>
          </a:ln>
        </p:spPr>
      </p:sp>
      <p:sp>
        <p:nvSpPr>
          <p:cNvPr id="190" name="Text 185"/>
          <p:cNvSpPr/>
          <p:nvPr/>
        </p:nvSpPr>
        <p:spPr>
          <a:xfrm>
            <a:off x="13779336" y="13268194"/>
            <a:ext cx="2000093" cy="223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N·s = kg·m/s</a:t>
            </a:r>
            <a:endParaRPr lang="en-US" sz="1238" dirty="0"/>
          </a:p>
        </p:txBody>
      </p:sp>
      <p:sp>
        <p:nvSpPr>
          <p:cNvPr id="191" name="Text 186"/>
          <p:cNvSpPr/>
          <p:nvPr/>
        </p:nvSpPr>
        <p:spPr>
          <a:xfrm>
            <a:off x="13779336" y="13472418"/>
            <a:ext cx="2000093" cy="170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A82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 = Δp</a:t>
            </a:r>
            <a:endParaRPr lang="en-US" sz="900" dirty="0"/>
          </a:p>
        </p:txBody>
      </p:sp>
      <p:sp>
        <p:nvSpPr>
          <p:cNvPr id="192" name="Shape 187"/>
          <p:cNvSpPr/>
          <p:nvPr/>
        </p:nvSpPr>
        <p:spPr>
          <a:xfrm>
            <a:off x="15821919" y="13177243"/>
            <a:ext cx="2076400" cy="518418"/>
          </a:xfrm>
          <a:prstGeom prst="roundRect">
            <a:avLst>
              <a:gd name="adj" fmla="val 18373"/>
            </a:avLst>
          </a:prstGeom>
          <a:solidFill>
            <a:srgbClr val="FFFFFF"/>
          </a:solidFill>
          <a:ln w="5292">
            <a:solidFill>
              <a:srgbClr val="DFE3E7"/>
            </a:solidFill>
            <a:prstDash val="solid"/>
          </a:ln>
        </p:spPr>
      </p:sp>
      <p:sp>
        <p:nvSpPr>
          <p:cNvPr id="193" name="Text 188"/>
          <p:cNvSpPr/>
          <p:nvPr/>
        </p:nvSpPr>
        <p:spPr>
          <a:xfrm>
            <a:off x="15950986" y="13268194"/>
            <a:ext cx="2000093" cy="223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J/s = W</a:t>
            </a:r>
            <a:endParaRPr lang="en-US" sz="1238" dirty="0"/>
          </a:p>
        </p:txBody>
      </p:sp>
      <p:sp>
        <p:nvSpPr>
          <p:cNvPr id="194" name="Text 189"/>
          <p:cNvSpPr/>
          <p:nvPr/>
        </p:nvSpPr>
        <p:spPr>
          <a:xfrm>
            <a:off x="15950986" y="13472418"/>
            <a:ext cx="2000093" cy="170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A82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 = W/t</a:t>
            </a:r>
            <a:endParaRPr lang="en-US" sz="900" dirty="0"/>
          </a:p>
        </p:txBody>
      </p:sp>
      <p:sp>
        <p:nvSpPr>
          <p:cNvPr id="195" name="Shape 190"/>
          <p:cNvSpPr/>
          <p:nvPr/>
        </p:nvSpPr>
        <p:spPr>
          <a:xfrm>
            <a:off x="9306967" y="13790911"/>
            <a:ext cx="2076400" cy="518418"/>
          </a:xfrm>
          <a:prstGeom prst="roundRect">
            <a:avLst>
              <a:gd name="adj" fmla="val 18373"/>
            </a:avLst>
          </a:prstGeom>
          <a:solidFill>
            <a:srgbClr val="FFFFFF"/>
          </a:solidFill>
          <a:ln w="5292">
            <a:solidFill>
              <a:srgbClr val="DFE3E7"/>
            </a:solidFill>
            <a:prstDash val="solid"/>
          </a:ln>
        </p:spPr>
      </p:sp>
      <p:sp>
        <p:nvSpPr>
          <p:cNvPr id="196" name="Text 191"/>
          <p:cNvSpPr/>
          <p:nvPr/>
        </p:nvSpPr>
        <p:spPr>
          <a:xfrm>
            <a:off x="9436035" y="13881861"/>
            <a:ext cx="2000093" cy="223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atm·L = J</a:t>
            </a:r>
            <a:endParaRPr lang="en-US" sz="1238" dirty="0"/>
          </a:p>
        </p:txBody>
      </p:sp>
      <p:sp>
        <p:nvSpPr>
          <p:cNvPr id="197" name="Text 192"/>
          <p:cNvSpPr/>
          <p:nvPr/>
        </p:nvSpPr>
        <p:spPr>
          <a:xfrm>
            <a:off x="9436035" y="14086087"/>
            <a:ext cx="2000093" cy="170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A82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 = −PΔV</a:t>
            </a:r>
            <a:endParaRPr lang="en-US" sz="900" dirty="0"/>
          </a:p>
        </p:txBody>
      </p:sp>
      <p:sp>
        <p:nvSpPr>
          <p:cNvPr id="198" name="Shape 193"/>
          <p:cNvSpPr/>
          <p:nvPr/>
        </p:nvSpPr>
        <p:spPr>
          <a:xfrm>
            <a:off x="11478618" y="13790911"/>
            <a:ext cx="2076400" cy="518418"/>
          </a:xfrm>
          <a:prstGeom prst="roundRect">
            <a:avLst>
              <a:gd name="adj" fmla="val 18373"/>
            </a:avLst>
          </a:prstGeom>
          <a:solidFill>
            <a:srgbClr val="FFFFFF"/>
          </a:solidFill>
          <a:ln w="5292">
            <a:solidFill>
              <a:srgbClr val="DFE3E7"/>
            </a:solidFill>
            <a:prstDash val="solid"/>
          </a:ln>
        </p:spPr>
      </p:sp>
      <p:sp>
        <p:nvSpPr>
          <p:cNvPr id="199" name="Text 194"/>
          <p:cNvSpPr/>
          <p:nvPr/>
        </p:nvSpPr>
        <p:spPr>
          <a:xfrm>
            <a:off x="11607685" y="13881861"/>
            <a:ext cx="2000093" cy="223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N/m² = Pa</a:t>
            </a:r>
            <a:endParaRPr lang="en-US" sz="1238" dirty="0"/>
          </a:p>
        </p:txBody>
      </p:sp>
      <p:sp>
        <p:nvSpPr>
          <p:cNvPr id="200" name="Text 195"/>
          <p:cNvSpPr/>
          <p:nvPr/>
        </p:nvSpPr>
        <p:spPr>
          <a:xfrm>
            <a:off x="11607685" y="14086087"/>
            <a:ext cx="2000093" cy="170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A82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 = F/A</a:t>
            </a:r>
            <a:endParaRPr lang="en-US" sz="900" dirty="0"/>
          </a:p>
        </p:txBody>
      </p:sp>
      <p:sp>
        <p:nvSpPr>
          <p:cNvPr id="201" name="Shape 196"/>
          <p:cNvSpPr/>
          <p:nvPr/>
        </p:nvSpPr>
        <p:spPr>
          <a:xfrm>
            <a:off x="13650268" y="13790911"/>
            <a:ext cx="2076400" cy="518418"/>
          </a:xfrm>
          <a:prstGeom prst="roundRect">
            <a:avLst>
              <a:gd name="adj" fmla="val 18373"/>
            </a:avLst>
          </a:prstGeom>
          <a:solidFill>
            <a:srgbClr val="FFFFFF"/>
          </a:solidFill>
          <a:ln w="5292">
            <a:solidFill>
              <a:srgbClr val="DFE3E7"/>
            </a:solidFill>
            <a:prstDash val="solid"/>
          </a:ln>
        </p:spPr>
      </p:sp>
      <p:sp>
        <p:nvSpPr>
          <p:cNvPr id="202" name="Text 197"/>
          <p:cNvSpPr/>
          <p:nvPr/>
        </p:nvSpPr>
        <p:spPr>
          <a:xfrm>
            <a:off x="13779336" y="13881861"/>
            <a:ext cx="2000093" cy="223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C·V = J</a:t>
            </a:r>
            <a:endParaRPr lang="en-US" sz="1238" dirty="0"/>
          </a:p>
        </p:txBody>
      </p:sp>
      <p:sp>
        <p:nvSpPr>
          <p:cNvPr id="203" name="Text 198"/>
          <p:cNvSpPr/>
          <p:nvPr/>
        </p:nvSpPr>
        <p:spPr>
          <a:xfrm>
            <a:off x="13779336" y="14086087"/>
            <a:ext cx="2000093" cy="170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A82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 = qV</a:t>
            </a:r>
            <a:endParaRPr lang="en-US" sz="900" dirty="0"/>
          </a:p>
        </p:txBody>
      </p:sp>
      <p:sp>
        <p:nvSpPr>
          <p:cNvPr id="204" name="Shape 199"/>
          <p:cNvSpPr/>
          <p:nvPr/>
        </p:nvSpPr>
        <p:spPr>
          <a:xfrm>
            <a:off x="15821919" y="13790911"/>
            <a:ext cx="2076400" cy="518418"/>
          </a:xfrm>
          <a:prstGeom prst="roundRect">
            <a:avLst>
              <a:gd name="adj" fmla="val 18373"/>
            </a:avLst>
          </a:prstGeom>
          <a:solidFill>
            <a:srgbClr val="FFFFFF"/>
          </a:solidFill>
          <a:ln w="5292">
            <a:solidFill>
              <a:srgbClr val="DFE3E7"/>
            </a:solidFill>
            <a:prstDash val="solid"/>
          </a:ln>
        </p:spPr>
      </p:sp>
      <p:sp>
        <p:nvSpPr>
          <p:cNvPr id="205" name="Text 200"/>
          <p:cNvSpPr/>
          <p:nvPr/>
        </p:nvSpPr>
        <p:spPr>
          <a:xfrm>
            <a:off x="15950986" y="13881861"/>
            <a:ext cx="2000093" cy="223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C·V/m = N</a:t>
            </a:r>
            <a:endParaRPr lang="en-US" sz="1238" dirty="0"/>
          </a:p>
        </p:txBody>
      </p:sp>
      <p:sp>
        <p:nvSpPr>
          <p:cNvPr id="206" name="Text 201"/>
          <p:cNvSpPr/>
          <p:nvPr/>
        </p:nvSpPr>
        <p:spPr>
          <a:xfrm>
            <a:off x="15950986" y="14086087"/>
            <a:ext cx="2000093" cy="170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A82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 = qE</a:t>
            </a:r>
            <a:endParaRPr lang="en-US" sz="900" dirty="0"/>
          </a:p>
        </p:txBody>
      </p:sp>
      <p:sp>
        <p:nvSpPr>
          <p:cNvPr id="207" name="Shape 202"/>
          <p:cNvSpPr/>
          <p:nvPr/>
        </p:nvSpPr>
        <p:spPr>
          <a:xfrm>
            <a:off x="9306967" y="14404579"/>
            <a:ext cx="2076400" cy="518418"/>
          </a:xfrm>
          <a:prstGeom prst="roundRect">
            <a:avLst>
              <a:gd name="adj" fmla="val 18373"/>
            </a:avLst>
          </a:prstGeom>
          <a:solidFill>
            <a:srgbClr val="FFFFFF"/>
          </a:solidFill>
          <a:ln w="5292">
            <a:solidFill>
              <a:srgbClr val="DFE3E7"/>
            </a:solidFill>
            <a:prstDash val="solid"/>
          </a:ln>
        </p:spPr>
      </p:sp>
      <p:sp>
        <p:nvSpPr>
          <p:cNvPr id="208" name="Text 203"/>
          <p:cNvSpPr/>
          <p:nvPr/>
        </p:nvSpPr>
        <p:spPr>
          <a:xfrm>
            <a:off x="9436035" y="14495529"/>
            <a:ext cx="2000093" cy="223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F·V = C</a:t>
            </a:r>
            <a:endParaRPr lang="en-US" sz="1238" dirty="0"/>
          </a:p>
        </p:txBody>
      </p:sp>
      <p:sp>
        <p:nvSpPr>
          <p:cNvPr id="209" name="Text 204"/>
          <p:cNvSpPr/>
          <p:nvPr/>
        </p:nvSpPr>
        <p:spPr>
          <a:xfrm>
            <a:off x="9436035" y="14699755"/>
            <a:ext cx="2000093" cy="170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A82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 = CV</a:t>
            </a:r>
            <a:endParaRPr lang="en-US" sz="900" dirty="0"/>
          </a:p>
        </p:txBody>
      </p:sp>
      <p:sp>
        <p:nvSpPr>
          <p:cNvPr id="210" name="Shape 205"/>
          <p:cNvSpPr/>
          <p:nvPr/>
        </p:nvSpPr>
        <p:spPr>
          <a:xfrm>
            <a:off x="11478618" y="14404579"/>
            <a:ext cx="2076400" cy="518418"/>
          </a:xfrm>
          <a:prstGeom prst="roundRect">
            <a:avLst>
              <a:gd name="adj" fmla="val 18373"/>
            </a:avLst>
          </a:prstGeom>
          <a:solidFill>
            <a:srgbClr val="FFFFFF"/>
          </a:solidFill>
          <a:ln w="5292">
            <a:solidFill>
              <a:srgbClr val="DFE3E7"/>
            </a:solidFill>
            <a:prstDash val="solid"/>
          </a:ln>
        </p:spPr>
      </p:sp>
      <p:sp>
        <p:nvSpPr>
          <p:cNvPr id="211" name="Text 206"/>
          <p:cNvSpPr/>
          <p:nvPr/>
        </p:nvSpPr>
        <p:spPr>
          <a:xfrm>
            <a:off x="11607685" y="14495529"/>
            <a:ext cx="2000093" cy="223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A·Ω = V</a:t>
            </a:r>
            <a:endParaRPr lang="en-US" sz="1238" dirty="0"/>
          </a:p>
        </p:txBody>
      </p:sp>
      <p:sp>
        <p:nvSpPr>
          <p:cNvPr id="212" name="Text 207"/>
          <p:cNvSpPr/>
          <p:nvPr/>
        </p:nvSpPr>
        <p:spPr>
          <a:xfrm>
            <a:off x="11607685" y="14699755"/>
            <a:ext cx="2000093" cy="170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A82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 = IR</a:t>
            </a:r>
            <a:endParaRPr lang="en-US" sz="900" dirty="0"/>
          </a:p>
        </p:txBody>
      </p:sp>
      <p:sp>
        <p:nvSpPr>
          <p:cNvPr id="213" name="Shape 208"/>
          <p:cNvSpPr/>
          <p:nvPr/>
        </p:nvSpPr>
        <p:spPr>
          <a:xfrm>
            <a:off x="13650268" y="14404579"/>
            <a:ext cx="2076400" cy="518418"/>
          </a:xfrm>
          <a:prstGeom prst="roundRect">
            <a:avLst>
              <a:gd name="adj" fmla="val 18373"/>
            </a:avLst>
          </a:prstGeom>
          <a:solidFill>
            <a:srgbClr val="FFFFFF"/>
          </a:solidFill>
          <a:ln w="5292">
            <a:solidFill>
              <a:srgbClr val="DFE3E7"/>
            </a:solidFill>
            <a:prstDash val="solid"/>
          </a:ln>
        </p:spPr>
      </p:sp>
      <p:sp>
        <p:nvSpPr>
          <p:cNvPr id="214" name="Text 209"/>
          <p:cNvSpPr/>
          <p:nvPr/>
        </p:nvSpPr>
        <p:spPr>
          <a:xfrm>
            <a:off x="13779336" y="14495529"/>
            <a:ext cx="2000093" cy="223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V·A = W</a:t>
            </a:r>
            <a:endParaRPr lang="en-US" sz="1238" dirty="0"/>
          </a:p>
        </p:txBody>
      </p:sp>
      <p:sp>
        <p:nvSpPr>
          <p:cNvPr id="215" name="Text 210"/>
          <p:cNvSpPr/>
          <p:nvPr/>
        </p:nvSpPr>
        <p:spPr>
          <a:xfrm>
            <a:off x="13779336" y="14699755"/>
            <a:ext cx="2000093" cy="170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A82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 = IV</a:t>
            </a:r>
            <a:endParaRPr lang="en-US" sz="900" dirty="0"/>
          </a:p>
        </p:txBody>
      </p:sp>
      <p:sp>
        <p:nvSpPr>
          <p:cNvPr id="216" name="Shape 211"/>
          <p:cNvSpPr/>
          <p:nvPr/>
        </p:nvSpPr>
        <p:spPr>
          <a:xfrm>
            <a:off x="15821919" y="14404579"/>
            <a:ext cx="2076400" cy="518418"/>
          </a:xfrm>
          <a:prstGeom prst="roundRect">
            <a:avLst>
              <a:gd name="adj" fmla="val 18373"/>
            </a:avLst>
          </a:prstGeom>
          <a:solidFill>
            <a:srgbClr val="FFFFFF"/>
          </a:solidFill>
          <a:ln w="5292">
            <a:solidFill>
              <a:srgbClr val="DFE3E7"/>
            </a:solidFill>
            <a:prstDash val="solid"/>
          </a:ln>
        </p:spPr>
      </p:sp>
      <p:sp>
        <p:nvSpPr>
          <p:cNvPr id="217" name="Text 212"/>
          <p:cNvSpPr/>
          <p:nvPr/>
        </p:nvSpPr>
        <p:spPr>
          <a:xfrm>
            <a:off x="15950986" y="14495529"/>
            <a:ext cx="2000093" cy="223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2A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C/s = A</a:t>
            </a:r>
            <a:endParaRPr lang="en-US" sz="1238" dirty="0"/>
          </a:p>
        </p:txBody>
      </p:sp>
      <p:sp>
        <p:nvSpPr>
          <p:cNvPr id="218" name="Text 213"/>
          <p:cNvSpPr/>
          <p:nvPr/>
        </p:nvSpPr>
        <p:spPr>
          <a:xfrm>
            <a:off x="15950986" y="14699755"/>
            <a:ext cx="2000093" cy="170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7A82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= Q/t</a:t>
            </a:r>
            <a:endParaRPr lang="en-US" sz="900" dirty="0"/>
          </a:p>
        </p:txBody>
      </p:sp>
      <p:sp>
        <p:nvSpPr>
          <p:cNvPr id="219" name="Text 214"/>
          <p:cNvSpPr/>
          <p:nvPr/>
        </p:nvSpPr>
        <p:spPr>
          <a:xfrm>
            <a:off x="381000" y="15163767"/>
            <a:ext cx="1781175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8A8F96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k = 8.99 × 10⁹ N·m²/C²</a:t>
            </a:r>
            <a:endParaRPr lang="en-US" sz="938" dirty="0"/>
          </a:p>
        </p:txBody>
      </p:sp>
      <p:sp>
        <p:nvSpPr>
          <p:cNvPr id="220" name="Text 215"/>
          <p:cNvSpPr/>
          <p:nvPr/>
        </p:nvSpPr>
        <p:spPr>
          <a:xfrm>
            <a:off x="2324034" y="15163767"/>
            <a:ext cx="2021921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8A8F96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ε₀ = 8.85 × 10⁻¹² C²/N·m²</a:t>
            </a:r>
            <a:endParaRPr lang="en-US" sz="938" dirty="0"/>
          </a:p>
        </p:txBody>
      </p:sp>
      <p:sp>
        <p:nvSpPr>
          <p:cNvPr id="221" name="Text 216"/>
          <p:cNvSpPr/>
          <p:nvPr/>
        </p:nvSpPr>
        <p:spPr>
          <a:xfrm>
            <a:off x="4485928" y="15163767"/>
            <a:ext cx="959412" cy="17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8A8F96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g ≈ 9.8 m/s²</a:t>
            </a:r>
            <a:endParaRPr lang="en-US" sz="93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2026-07-02T05:48:11Z</dcterms:created>
  <dcterms:modified xsi:type="dcterms:W3CDTF">2026-07-02T05:48:11Z</dcterms:modified>
</cp:coreProperties>
</file>