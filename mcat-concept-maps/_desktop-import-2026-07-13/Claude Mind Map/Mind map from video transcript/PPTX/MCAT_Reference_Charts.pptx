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7242" y="0"/>
            <a:ext cx="16973551" cy="102870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62982" y="41121"/>
            <a:ext cx="831875" cy="10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46" b="1" spc="36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BIOLOGY</a:t>
            </a:r>
            <a:endParaRPr lang="en-US" sz="4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242" y="0"/>
            <a:ext cx="16973551" cy="10287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5142" y="4885343"/>
            <a:ext cx="677436" cy="2972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E3A33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endocrine system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071404" y="3381360"/>
            <a:ext cx="629707" cy="1676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Pancreas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864512" y="3203392"/>
            <a:ext cx="986135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2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Hormone-producing cells in Islets of Langerhans</a:t>
            </a:r>
            <a:endParaRPr lang="en-US" sz="462" dirty="0"/>
          </a:p>
        </p:txBody>
      </p:sp>
      <p:sp>
        <p:nvSpPr>
          <p:cNvPr id="9" name="Text 6"/>
          <p:cNvSpPr/>
          <p:nvPr/>
        </p:nvSpPr>
        <p:spPr>
          <a:xfrm>
            <a:off x="1490099" y="2295019"/>
            <a:ext cx="854556" cy="334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Somatostatin (δ-cells)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inhibits Glucagon &amp; Insulin secretion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1491885" y="1886664"/>
            <a:ext cx="850984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Also from Hypothalamus → ↓ Growth Hormone (GH)</a:t>
            </a:r>
            <a:endParaRPr lang="en-US" sz="446" dirty="0"/>
          </a:p>
        </p:txBody>
      </p:sp>
      <p:sp>
        <p:nvSpPr>
          <p:cNvPr id="11" name="Text 8"/>
          <p:cNvSpPr/>
          <p:nvPr/>
        </p:nvSpPr>
        <p:spPr>
          <a:xfrm>
            <a:off x="1487777" y="2881432"/>
            <a:ext cx="756374" cy="334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Insulin (β-cells)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 HIGH → ↑ fat &amp; protein synthesis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1611230" y="3599423"/>
            <a:ext cx="715164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Glucagon (α-cells)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 LOW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207296" y="2260060"/>
            <a:ext cx="575593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5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Pineal Gland</a:t>
            </a:r>
            <a:endParaRPr lang="en-US" sz="559" dirty="0"/>
          </a:p>
        </p:txBody>
      </p:sp>
      <p:sp>
        <p:nvSpPr>
          <p:cNvPr id="14" name="Text 11"/>
          <p:cNvSpPr/>
          <p:nvPr/>
        </p:nvSpPr>
        <p:spPr>
          <a:xfrm>
            <a:off x="5687097" y="1619176"/>
            <a:ext cx="741640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Melatonin </a:t>
            </a:r>
            <a:pPr algn="ctr" indent="0" marL="0">
              <a:lnSpc>
                <a:spcPct val="120000"/>
              </a:lnSpc>
              <a:buNone/>
            </a:pPr>
            <a:r>
              <a:rPr lang="en-US" sz="48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→ Circadian Rhythms</a:t>
            </a:r>
            <a:endParaRPr lang="en-US" sz="648" dirty="0"/>
          </a:p>
        </p:txBody>
      </p:sp>
      <p:sp>
        <p:nvSpPr>
          <p:cNvPr id="15" name="Text 12"/>
          <p:cNvSpPr/>
          <p:nvPr/>
        </p:nvSpPr>
        <p:spPr>
          <a:xfrm>
            <a:off x="7773742" y="2148974"/>
            <a:ext cx="477366" cy="142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GI Tract</a:t>
            </a:r>
            <a:endParaRPr lang="en-US" sz="689" dirty="0"/>
          </a:p>
        </p:txBody>
      </p:sp>
      <p:sp>
        <p:nvSpPr>
          <p:cNvPr id="16" name="Text 13"/>
          <p:cNvSpPr/>
          <p:nvPr/>
        </p:nvSpPr>
        <p:spPr>
          <a:xfrm>
            <a:off x="7074770" y="1591404"/>
            <a:ext cx="383694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2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Secretin</a:t>
            </a:r>
            <a:endParaRPr lang="en-US" sz="522" dirty="0"/>
          </a:p>
        </p:txBody>
      </p:sp>
      <p:sp>
        <p:nvSpPr>
          <p:cNvPr id="17" name="Text 14"/>
          <p:cNvSpPr/>
          <p:nvPr/>
        </p:nvSpPr>
        <p:spPr>
          <a:xfrm>
            <a:off x="7739273" y="1529656"/>
            <a:ext cx="340563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1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Gastrin</a:t>
            </a:r>
            <a:endParaRPr lang="en-US" sz="510" dirty="0"/>
          </a:p>
        </p:txBody>
      </p:sp>
      <p:sp>
        <p:nvSpPr>
          <p:cNvPr id="18" name="Text 15"/>
          <p:cNvSpPr/>
          <p:nvPr/>
        </p:nvSpPr>
        <p:spPr>
          <a:xfrm>
            <a:off x="8394713" y="1591404"/>
            <a:ext cx="624215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Cholecystokinin</a:t>
            </a:r>
            <a:endParaRPr lang="en-US" sz="486" dirty="0"/>
          </a:p>
        </p:txBody>
      </p:sp>
      <p:sp>
        <p:nvSpPr>
          <p:cNvPr id="19" name="Text 16"/>
          <p:cNvSpPr/>
          <p:nvPr/>
        </p:nvSpPr>
        <p:spPr>
          <a:xfrm>
            <a:off x="9555125" y="2148974"/>
            <a:ext cx="463660" cy="142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Kidneys</a:t>
            </a:r>
            <a:endParaRPr lang="en-US" sz="689" dirty="0"/>
          </a:p>
        </p:txBody>
      </p:sp>
      <p:sp>
        <p:nvSpPr>
          <p:cNvPr id="20" name="Text 17"/>
          <p:cNvSpPr/>
          <p:nvPr/>
        </p:nvSpPr>
        <p:spPr>
          <a:xfrm>
            <a:off x="9535703" y="1508090"/>
            <a:ext cx="1068244" cy="334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Erythropoietin (EPO)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→ bone marrow makes more RBCs in response to low O₂</a:t>
            </a:r>
            <a:endParaRPr lang="en-US" sz="648" dirty="0"/>
          </a:p>
        </p:txBody>
      </p:sp>
      <p:sp>
        <p:nvSpPr>
          <p:cNvPr id="21" name="Text 18"/>
          <p:cNvSpPr/>
          <p:nvPr/>
        </p:nvSpPr>
        <p:spPr>
          <a:xfrm>
            <a:off x="11026827" y="2663324"/>
            <a:ext cx="349137" cy="142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Heart</a:t>
            </a:r>
            <a:endParaRPr lang="en-US" sz="689" dirty="0"/>
          </a:p>
        </p:txBody>
      </p:sp>
      <p:sp>
        <p:nvSpPr>
          <p:cNvPr id="22" name="Text 19"/>
          <p:cNvSpPr/>
          <p:nvPr/>
        </p:nvSpPr>
        <p:spPr>
          <a:xfrm>
            <a:off x="11110096" y="2116024"/>
            <a:ext cx="851252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33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Atrial Natriuretic Peptide</a:t>
            </a:r>
            <a:endParaRPr lang="en-US" sz="433" dirty="0"/>
          </a:p>
        </p:txBody>
      </p:sp>
      <p:sp>
        <p:nvSpPr>
          <p:cNvPr id="23" name="Text 20"/>
          <p:cNvSpPr/>
          <p:nvPr/>
        </p:nvSpPr>
        <p:spPr>
          <a:xfrm>
            <a:off x="11300611" y="1706642"/>
            <a:ext cx="881746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Regulates Salt &amp; Water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balance in blood</a:t>
            </a:r>
            <a:endParaRPr lang="en-US" sz="648" dirty="0"/>
          </a:p>
        </p:txBody>
      </p:sp>
      <p:sp>
        <p:nvSpPr>
          <p:cNvPr id="24" name="Text 21"/>
          <p:cNvSpPr/>
          <p:nvPr/>
        </p:nvSpPr>
        <p:spPr>
          <a:xfrm>
            <a:off x="11690705" y="3589154"/>
            <a:ext cx="461605" cy="142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Thymus</a:t>
            </a:r>
            <a:endParaRPr lang="en-US" sz="689" dirty="0"/>
          </a:p>
        </p:txBody>
      </p:sp>
      <p:sp>
        <p:nvSpPr>
          <p:cNvPr id="25" name="Text 22"/>
          <p:cNvSpPr/>
          <p:nvPr/>
        </p:nvSpPr>
        <p:spPr>
          <a:xfrm>
            <a:off x="12587737" y="3401899"/>
            <a:ext cx="467721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Thymosin</a:t>
            </a:r>
            <a:endParaRPr lang="en-US" sz="567" dirty="0"/>
          </a:p>
        </p:txBody>
      </p:sp>
      <p:sp>
        <p:nvSpPr>
          <p:cNvPr id="26" name="Text 23"/>
          <p:cNvSpPr/>
          <p:nvPr/>
        </p:nvSpPr>
        <p:spPr>
          <a:xfrm>
            <a:off x="13572503" y="3292867"/>
            <a:ext cx="812765" cy="334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T-cell development &amp; differentiation in the immune system</a:t>
            </a:r>
            <a:endParaRPr lang="en-US" sz="486" dirty="0"/>
          </a:p>
        </p:txBody>
      </p:sp>
      <p:sp>
        <p:nvSpPr>
          <p:cNvPr id="27" name="Text 24"/>
          <p:cNvSpPr/>
          <p:nvPr/>
        </p:nvSpPr>
        <p:spPr>
          <a:xfrm>
            <a:off x="5381612" y="6791475"/>
            <a:ext cx="683955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3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Adrenal Gland</a:t>
            </a:r>
            <a:endParaRPr lang="en-US" sz="603" dirty="0"/>
          </a:p>
        </p:txBody>
      </p:sp>
      <p:sp>
        <p:nvSpPr>
          <p:cNvPr id="28" name="Text 25"/>
          <p:cNvSpPr/>
          <p:nvPr/>
        </p:nvSpPr>
        <p:spPr>
          <a:xfrm>
            <a:off x="4241157" y="6395398"/>
            <a:ext cx="701725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3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Adrenal Medulla</a:t>
            </a:r>
            <a:endParaRPr lang="en-US" sz="543" dirty="0"/>
          </a:p>
        </p:txBody>
      </p:sp>
      <p:sp>
        <p:nvSpPr>
          <p:cNvPr id="29" name="Text 26"/>
          <p:cNvSpPr/>
          <p:nvPr/>
        </p:nvSpPr>
        <p:spPr>
          <a:xfrm>
            <a:off x="6300656" y="7424098"/>
            <a:ext cx="646048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35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Adrenal Cortex</a:t>
            </a:r>
            <a:endParaRPr lang="en-US" sz="535" dirty="0"/>
          </a:p>
        </p:txBody>
      </p:sp>
      <p:sp>
        <p:nvSpPr>
          <p:cNvPr id="30" name="Text 27"/>
          <p:cNvSpPr/>
          <p:nvPr/>
        </p:nvSpPr>
        <p:spPr>
          <a:xfrm>
            <a:off x="3274652" y="6760623"/>
            <a:ext cx="628769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0" b="1" dirty="0">
                <a:solidFill>
                  <a:srgbClr val="3A203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Catecholamines</a:t>
            </a:r>
            <a:endParaRPr lang="en-US" sz="490" dirty="0"/>
          </a:p>
        </p:txBody>
      </p:sp>
      <p:sp>
        <p:nvSpPr>
          <p:cNvPr id="31" name="Text 28"/>
          <p:cNvSpPr/>
          <p:nvPr/>
        </p:nvSpPr>
        <p:spPr>
          <a:xfrm>
            <a:off x="2339848" y="6266810"/>
            <a:ext cx="595283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Epinephrine</a:t>
            </a:r>
            <a:endParaRPr lang="en-US" sz="608" dirty="0"/>
          </a:p>
        </p:txBody>
      </p:sp>
      <p:sp>
        <p:nvSpPr>
          <p:cNvPr id="32" name="Text 29"/>
          <p:cNvSpPr/>
          <p:nvPr/>
        </p:nvSpPr>
        <p:spPr>
          <a:xfrm>
            <a:off x="2310469" y="6791429"/>
            <a:ext cx="705475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Norepinephrine</a:t>
            </a:r>
            <a:endParaRPr lang="en-US" sz="567" dirty="0"/>
          </a:p>
        </p:txBody>
      </p:sp>
      <p:sp>
        <p:nvSpPr>
          <p:cNvPr id="33" name="Text 30"/>
          <p:cNvSpPr/>
          <p:nvPr/>
        </p:nvSpPr>
        <p:spPr>
          <a:xfrm>
            <a:off x="5618159" y="8200803"/>
            <a:ext cx="570860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8" b="1" dirty="0">
                <a:solidFill>
                  <a:srgbClr val="3A203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Corticosteroids</a:t>
            </a:r>
            <a:endParaRPr lang="en-US" sz="458" dirty="0"/>
          </a:p>
        </p:txBody>
      </p:sp>
      <p:sp>
        <p:nvSpPr>
          <p:cNvPr id="34" name="Text 31"/>
          <p:cNvSpPr/>
          <p:nvPr/>
        </p:nvSpPr>
        <p:spPr>
          <a:xfrm>
            <a:off x="4374075" y="8072215"/>
            <a:ext cx="693018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1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Cortical Sex Hormones</a:t>
            </a:r>
            <a:endParaRPr lang="en-US" sz="381" dirty="0"/>
          </a:p>
        </p:txBody>
      </p:sp>
      <p:sp>
        <p:nvSpPr>
          <p:cNvPr id="35" name="Text 32"/>
          <p:cNvSpPr/>
          <p:nvPr/>
        </p:nvSpPr>
        <p:spPr>
          <a:xfrm>
            <a:off x="3818292" y="8485749"/>
            <a:ext cx="673016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3733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Androgens (♂) &amp; Estrogens (♀)</a:t>
            </a:r>
            <a:endParaRPr lang="en-US" sz="486" dirty="0"/>
          </a:p>
        </p:txBody>
      </p:sp>
      <p:sp>
        <p:nvSpPr>
          <p:cNvPr id="36" name="Text 33"/>
          <p:cNvSpPr/>
          <p:nvPr/>
        </p:nvSpPr>
        <p:spPr>
          <a:xfrm>
            <a:off x="4752873" y="8812888"/>
            <a:ext cx="655514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1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Mineralocorticoids</a:t>
            </a:r>
            <a:endParaRPr lang="en-US" sz="441" dirty="0"/>
          </a:p>
        </p:txBody>
      </p:sp>
      <p:sp>
        <p:nvSpPr>
          <p:cNvPr id="37" name="Text 34"/>
          <p:cNvSpPr/>
          <p:nvPr/>
        </p:nvSpPr>
        <p:spPr>
          <a:xfrm>
            <a:off x="4095871" y="9238745"/>
            <a:ext cx="889427" cy="334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b="1" dirty="0">
                <a:solidFill>
                  <a:srgbClr val="3733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Salt &amp; water homeostasis via Renin–Angiotensin– Aldosterone System</a:t>
            </a:r>
            <a:endParaRPr lang="en-US" sz="446" dirty="0"/>
          </a:p>
        </p:txBody>
      </p:sp>
      <p:sp>
        <p:nvSpPr>
          <p:cNvPr id="38" name="Text 35"/>
          <p:cNvSpPr/>
          <p:nvPr/>
        </p:nvSpPr>
        <p:spPr>
          <a:xfrm>
            <a:off x="5985393" y="8812888"/>
            <a:ext cx="607918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Glucocorticoids</a:t>
            </a:r>
            <a:endParaRPr lang="en-US" sz="486" dirty="0"/>
          </a:p>
        </p:txBody>
      </p:sp>
      <p:sp>
        <p:nvSpPr>
          <p:cNvPr id="39" name="Text 36"/>
          <p:cNvSpPr/>
          <p:nvPr/>
        </p:nvSpPr>
        <p:spPr>
          <a:xfrm>
            <a:off x="5981910" y="9287143"/>
            <a:ext cx="769233" cy="4329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3733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Cortisol &amp; Cortisone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3733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↑ blood glucose via gluconeogenesis; ↓ protein synthesis</a:t>
            </a:r>
            <a:endParaRPr lang="en-US" sz="648" dirty="0"/>
          </a:p>
        </p:txBody>
      </p:sp>
      <p:sp>
        <p:nvSpPr>
          <p:cNvPr id="40" name="Text 37"/>
          <p:cNvSpPr/>
          <p:nvPr/>
        </p:nvSpPr>
        <p:spPr>
          <a:xfrm>
            <a:off x="12208984" y="5001518"/>
            <a:ext cx="762313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1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Hypothalamus *</a:t>
            </a:r>
            <a:endParaRPr lang="en-US" sz="591" dirty="0"/>
          </a:p>
        </p:txBody>
      </p:sp>
      <p:sp>
        <p:nvSpPr>
          <p:cNvPr id="41" name="Text 38"/>
          <p:cNvSpPr/>
          <p:nvPr/>
        </p:nvSpPr>
        <p:spPr>
          <a:xfrm>
            <a:off x="11785805" y="5598155"/>
            <a:ext cx="991493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*via Hypophyseal Portal System</a:t>
            </a:r>
            <a:endParaRPr lang="en-US" sz="446" dirty="0"/>
          </a:p>
        </p:txBody>
      </p:sp>
      <p:sp>
        <p:nvSpPr>
          <p:cNvPr id="42" name="Text 39"/>
          <p:cNvSpPr/>
          <p:nvPr/>
        </p:nvSpPr>
        <p:spPr>
          <a:xfrm>
            <a:off x="13556653" y="4265980"/>
            <a:ext cx="432986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Oxytocin</a:t>
            </a:r>
            <a:endParaRPr lang="en-US" sz="567" dirty="0"/>
          </a:p>
        </p:txBody>
      </p:sp>
      <p:sp>
        <p:nvSpPr>
          <p:cNvPr id="43" name="Text 40"/>
          <p:cNvSpPr/>
          <p:nvPr/>
        </p:nvSpPr>
        <p:spPr>
          <a:xfrm>
            <a:off x="14680275" y="3959468"/>
            <a:ext cx="808971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Uterine contractions;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positive feedback loop</a:t>
            </a:r>
            <a:endParaRPr lang="en-US" sz="648" dirty="0"/>
          </a:p>
        </p:txBody>
      </p:sp>
      <p:sp>
        <p:nvSpPr>
          <p:cNvPr id="44" name="Text 41"/>
          <p:cNvSpPr/>
          <p:nvPr/>
        </p:nvSpPr>
        <p:spPr>
          <a:xfrm>
            <a:off x="13692205" y="4728895"/>
            <a:ext cx="264751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13203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ADH</a:t>
            </a:r>
            <a:endParaRPr lang="en-US" sz="608" dirty="0"/>
          </a:p>
        </p:txBody>
      </p:sp>
      <p:sp>
        <p:nvSpPr>
          <p:cNvPr id="45" name="Text 42"/>
          <p:cNvSpPr/>
          <p:nvPr/>
        </p:nvSpPr>
        <p:spPr>
          <a:xfrm>
            <a:off x="14735551" y="4668307"/>
            <a:ext cx="801290" cy="4329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↑ permeability of renal collecting ducts → ↑ blood volume &amp; BP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(water reabsorption)</a:t>
            </a:r>
            <a:endParaRPr lang="en-US" sz="648" dirty="0"/>
          </a:p>
        </p:txBody>
      </p:sp>
      <p:sp>
        <p:nvSpPr>
          <p:cNvPr id="46" name="Text 43"/>
          <p:cNvSpPr/>
          <p:nvPr/>
        </p:nvSpPr>
        <p:spPr>
          <a:xfrm>
            <a:off x="13388105" y="5397595"/>
            <a:ext cx="667257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Posterior Pituitary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14571288" y="5353348"/>
            <a:ext cx="564029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stores &amp; releases Oxytocin + ADH</a:t>
            </a:r>
            <a:endParaRPr lang="en-US" sz="446" dirty="0"/>
          </a:p>
        </p:txBody>
      </p:sp>
      <p:sp>
        <p:nvSpPr>
          <p:cNvPr id="48" name="Text 45"/>
          <p:cNvSpPr/>
          <p:nvPr/>
        </p:nvSpPr>
        <p:spPr>
          <a:xfrm>
            <a:off x="8488206" y="6153671"/>
            <a:ext cx="231487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CRF</a:t>
            </a:r>
            <a:endParaRPr lang="en-US" sz="567" dirty="0"/>
          </a:p>
        </p:txBody>
      </p:sp>
      <p:sp>
        <p:nvSpPr>
          <p:cNvPr id="49" name="Text 46"/>
          <p:cNvSpPr/>
          <p:nvPr/>
        </p:nvSpPr>
        <p:spPr>
          <a:xfrm>
            <a:off x="9254507" y="6153671"/>
            <a:ext cx="241935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TRH</a:t>
            </a:r>
            <a:endParaRPr lang="en-US" sz="567" dirty="0"/>
          </a:p>
        </p:txBody>
      </p:sp>
      <p:sp>
        <p:nvSpPr>
          <p:cNvPr id="50" name="Text 47"/>
          <p:cNvSpPr/>
          <p:nvPr/>
        </p:nvSpPr>
        <p:spPr>
          <a:xfrm>
            <a:off x="10047151" y="6153671"/>
            <a:ext cx="302567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GnRH</a:t>
            </a:r>
            <a:endParaRPr lang="en-US" sz="567" dirty="0"/>
          </a:p>
        </p:txBody>
      </p:sp>
      <p:sp>
        <p:nvSpPr>
          <p:cNvPr id="51" name="Text 48"/>
          <p:cNvSpPr/>
          <p:nvPr/>
        </p:nvSpPr>
        <p:spPr>
          <a:xfrm>
            <a:off x="10917037" y="6153671"/>
            <a:ext cx="311541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GHRH</a:t>
            </a:r>
            <a:endParaRPr lang="en-US" sz="567" dirty="0"/>
          </a:p>
        </p:txBody>
      </p:sp>
      <p:sp>
        <p:nvSpPr>
          <p:cNvPr id="52" name="Text 49"/>
          <p:cNvSpPr/>
          <p:nvPr/>
        </p:nvSpPr>
        <p:spPr>
          <a:xfrm>
            <a:off x="9601158" y="6685524"/>
            <a:ext cx="834509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Anterior Pituitary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Tropic Hormones</a:t>
            </a:r>
            <a:endParaRPr lang="en-US" sz="648" dirty="0"/>
          </a:p>
        </p:txBody>
      </p:sp>
      <p:sp>
        <p:nvSpPr>
          <p:cNvPr id="53" name="Text 50"/>
          <p:cNvSpPr/>
          <p:nvPr/>
        </p:nvSpPr>
        <p:spPr>
          <a:xfrm>
            <a:off x="8225673" y="7300690"/>
            <a:ext cx="293638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ACTH</a:t>
            </a:r>
            <a:endParaRPr lang="en-US" sz="567" dirty="0"/>
          </a:p>
        </p:txBody>
      </p:sp>
      <p:sp>
        <p:nvSpPr>
          <p:cNvPr id="54" name="Text 51"/>
          <p:cNvSpPr/>
          <p:nvPr/>
        </p:nvSpPr>
        <p:spPr>
          <a:xfrm>
            <a:off x="9051357" y="7300690"/>
            <a:ext cx="236756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TSH</a:t>
            </a:r>
            <a:endParaRPr lang="en-US" sz="567" dirty="0"/>
          </a:p>
        </p:txBody>
      </p:sp>
      <p:sp>
        <p:nvSpPr>
          <p:cNvPr id="55" name="Text 52"/>
          <p:cNvSpPr/>
          <p:nvPr/>
        </p:nvSpPr>
        <p:spPr>
          <a:xfrm>
            <a:off x="11098399" y="7300690"/>
            <a:ext cx="411732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FSH &amp; LH</a:t>
            </a:r>
            <a:endParaRPr lang="en-US" sz="506" dirty="0"/>
          </a:p>
        </p:txBody>
      </p:sp>
      <p:sp>
        <p:nvSpPr>
          <p:cNvPr id="56" name="Text 53"/>
          <p:cNvSpPr/>
          <p:nvPr/>
        </p:nvSpPr>
        <p:spPr>
          <a:xfrm>
            <a:off x="12488439" y="7300690"/>
            <a:ext cx="203404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GH</a:t>
            </a:r>
            <a:endParaRPr lang="en-US" sz="608" dirty="0"/>
          </a:p>
        </p:txBody>
      </p:sp>
      <p:sp>
        <p:nvSpPr>
          <p:cNvPr id="57" name="Text 54"/>
          <p:cNvSpPr/>
          <p:nvPr/>
        </p:nvSpPr>
        <p:spPr>
          <a:xfrm>
            <a:off x="13459230" y="7300690"/>
            <a:ext cx="370701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Prolactin</a:t>
            </a:r>
            <a:endParaRPr lang="en-US" sz="462" dirty="0"/>
          </a:p>
        </p:txBody>
      </p:sp>
      <p:sp>
        <p:nvSpPr>
          <p:cNvPr id="58" name="Text 55"/>
          <p:cNvSpPr/>
          <p:nvPr/>
        </p:nvSpPr>
        <p:spPr>
          <a:xfrm>
            <a:off x="14622857" y="7300690"/>
            <a:ext cx="460846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78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Endorphins</a:t>
            </a:r>
            <a:endParaRPr lang="en-US" sz="478" dirty="0"/>
          </a:p>
        </p:txBody>
      </p:sp>
      <p:sp>
        <p:nvSpPr>
          <p:cNvPr id="59" name="Text 56"/>
          <p:cNvSpPr/>
          <p:nvPr/>
        </p:nvSpPr>
        <p:spPr>
          <a:xfrm>
            <a:off x="15529266" y="6971496"/>
            <a:ext cx="499690" cy="1368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Pain Signals</a:t>
            </a:r>
            <a:endParaRPr lang="en-US" sz="486" dirty="0"/>
          </a:p>
        </p:txBody>
      </p:sp>
      <p:sp>
        <p:nvSpPr>
          <p:cNvPr id="60" name="Text 57"/>
          <p:cNvSpPr/>
          <p:nvPr/>
        </p:nvSpPr>
        <p:spPr>
          <a:xfrm>
            <a:off x="8970722" y="7801646"/>
            <a:ext cx="449416" cy="142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9" b="1" dirty="0">
                <a:solidFill>
                  <a:srgbClr val="123F3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Thyroid</a:t>
            </a:r>
            <a:endParaRPr lang="en-US" sz="689" dirty="0"/>
          </a:p>
        </p:txBody>
      </p:sp>
      <p:sp>
        <p:nvSpPr>
          <p:cNvPr id="61" name="Text 58"/>
          <p:cNvSpPr/>
          <p:nvPr/>
        </p:nvSpPr>
        <p:spPr>
          <a:xfrm>
            <a:off x="8118115" y="8283090"/>
            <a:ext cx="405839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Calcitonin</a:t>
            </a:r>
            <a:endParaRPr lang="en-US" sz="466" dirty="0"/>
          </a:p>
        </p:txBody>
      </p:sp>
      <p:sp>
        <p:nvSpPr>
          <p:cNvPr id="62" name="Text 59"/>
          <p:cNvSpPr/>
          <p:nvPr/>
        </p:nvSpPr>
        <p:spPr>
          <a:xfrm>
            <a:off x="7982072" y="8715153"/>
            <a:ext cx="780797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↓ plasma Ca²⁺ levels</a:t>
            </a:r>
            <a:endParaRPr lang="en-US" sz="486" dirty="0"/>
          </a:p>
        </p:txBody>
      </p:sp>
      <p:sp>
        <p:nvSpPr>
          <p:cNvPr id="63" name="Text 60"/>
          <p:cNvSpPr/>
          <p:nvPr/>
        </p:nvSpPr>
        <p:spPr>
          <a:xfrm>
            <a:off x="9250087" y="8254291"/>
            <a:ext cx="713690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T3 &amp; T4 </a:t>
            </a:r>
            <a:pPr algn="ctr" indent="0" marL="0">
              <a:lnSpc>
                <a:spcPct val="120000"/>
              </a:lnSpc>
              <a:buNone/>
            </a:pPr>
            <a:r>
              <a:rPr lang="en-US" sz="332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(Triiodothyronine / Thyroxine)</a:t>
            </a:r>
            <a:endParaRPr lang="en-US" sz="648" dirty="0"/>
          </a:p>
        </p:txBody>
      </p:sp>
      <p:sp>
        <p:nvSpPr>
          <p:cNvPr id="64" name="Text 61"/>
          <p:cNvSpPr/>
          <p:nvPr/>
        </p:nvSpPr>
        <p:spPr>
          <a:xfrm>
            <a:off x="9454756" y="8742924"/>
            <a:ext cx="818703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Affects metabolism &amp; cellular respiration</a:t>
            </a:r>
            <a:endParaRPr lang="en-US" sz="486" dirty="0"/>
          </a:p>
        </p:txBody>
      </p:sp>
      <p:sp>
        <p:nvSpPr>
          <p:cNvPr id="65" name="Text 62"/>
          <p:cNvSpPr/>
          <p:nvPr/>
        </p:nvSpPr>
        <p:spPr>
          <a:xfrm>
            <a:off x="8060518" y="9091718"/>
            <a:ext cx="726773" cy="4329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Parathyroid → PTH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raises Ca²⁺; activates Vitamin D for gut Ca²⁺ absorption</a:t>
            </a:r>
            <a:endParaRPr lang="en-US" sz="648" dirty="0"/>
          </a:p>
        </p:txBody>
      </p:sp>
      <p:sp>
        <p:nvSpPr>
          <p:cNvPr id="66" name="Text 63"/>
          <p:cNvSpPr/>
          <p:nvPr/>
        </p:nvSpPr>
        <p:spPr>
          <a:xfrm>
            <a:off x="11006110" y="7773874"/>
            <a:ext cx="339179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Testes</a:t>
            </a:r>
            <a:endParaRPr lang="en-US" sz="567" dirty="0"/>
          </a:p>
        </p:txBody>
      </p:sp>
      <p:sp>
        <p:nvSpPr>
          <p:cNvPr id="67" name="Text 64"/>
          <p:cNvSpPr/>
          <p:nvPr/>
        </p:nvSpPr>
        <p:spPr>
          <a:xfrm>
            <a:off x="10847073" y="8241924"/>
            <a:ext cx="605775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Testosterone</a:t>
            </a:r>
            <a:endParaRPr lang="en-US" sz="567" dirty="0"/>
          </a:p>
        </p:txBody>
      </p:sp>
      <p:sp>
        <p:nvSpPr>
          <p:cNvPr id="68" name="Text 65"/>
          <p:cNvSpPr/>
          <p:nvPr/>
        </p:nvSpPr>
        <p:spPr>
          <a:xfrm>
            <a:off x="11729862" y="7773874"/>
            <a:ext cx="383291" cy="136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7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Ovaries</a:t>
            </a:r>
            <a:endParaRPr lang="en-US" sz="567" dirty="0"/>
          </a:p>
        </p:txBody>
      </p:sp>
      <p:sp>
        <p:nvSpPr>
          <p:cNvPr id="69" name="Text 66"/>
          <p:cNvSpPr/>
          <p:nvPr/>
        </p:nvSpPr>
        <p:spPr>
          <a:xfrm>
            <a:off x="11933280" y="8213170"/>
            <a:ext cx="542196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Estrogen &amp; Progesterone</a:t>
            </a:r>
            <a:endParaRPr lang="en-US" sz="486" dirty="0"/>
          </a:p>
        </p:txBody>
      </p:sp>
      <p:sp>
        <p:nvSpPr>
          <p:cNvPr id="70" name="Text 67"/>
          <p:cNvSpPr/>
          <p:nvPr/>
        </p:nvSpPr>
        <p:spPr>
          <a:xfrm>
            <a:off x="12362619" y="7786241"/>
            <a:ext cx="712217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Stimulates bone &amp; muscle growth</a:t>
            </a:r>
            <a:endParaRPr lang="en-US" sz="486" dirty="0"/>
          </a:p>
        </p:txBody>
      </p:sp>
      <p:sp>
        <p:nvSpPr>
          <p:cNvPr id="71" name="Text 68"/>
          <p:cNvSpPr/>
          <p:nvPr/>
        </p:nvSpPr>
        <p:spPr>
          <a:xfrm>
            <a:off x="13284164" y="7750255"/>
            <a:ext cx="875094" cy="235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Stimulates mammaries to produce milk</a:t>
            </a:r>
            <a:endParaRPr lang="en-US" sz="486" dirty="0"/>
          </a:p>
        </p:txBody>
      </p:sp>
      <p:sp>
        <p:nvSpPr>
          <p:cNvPr id="72" name="Text 69"/>
          <p:cNvSpPr/>
          <p:nvPr/>
        </p:nvSpPr>
        <p:spPr>
          <a:xfrm>
            <a:off x="13388105" y="8172004"/>
            <a:ext cx="872996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b="1" dirty="0">
                <a:solidFill>
                  <a:srgbClr val="8A1E1E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Inhibited by Dopamine, Estrogen &amp; Progesterone</a:t>
            </a:r>
            <a:endParaRPr lang="en-US" sz="446" dirty="0"/>
          </a:p>
        </p:txBody>
      </p:sp>
      <p:sp>
        <p:nvSpPr>
          <p:cNvPr id="73" name="Text 70"/>
          <p:cNvSpPr/>
          <p:nvPr/>
        </p:nvSpPr>
        <p:spPr>
          <a:xfrm>
            <a:off x="14717691" y="7786241"/>
            <a:ext cx="734094" cy="235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4A432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↓ pain sensation; promotes euphoria</a:t>
            </a:r>
            <a:endParaRPr lang="en-US" sz="486" dirty="0"/>
          </a:p>
        </p:txBody>
      </p:sp>
      <p:sp>
        <p:nvSpPr>
          <p:cNvPr id="74" name="Shape 71"/>
          <p:cNvSpPr/>
          <p:nvPr/>
        </p:nvSpPr>
        <p:spPr>
          <a:xfrm>
            <a:off x="2554376" y="2853214"/>
            <a:ext cx="209267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582951" y="2861215"/>
            <a:ext cx="228317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δ-cells</a:t>
            </a:r>
            <a:endParaRPr lang="en-US" sz="324" dirty="0"/>
          </a:p>
        </p:txBody>
      </p:sp>
      <p:sp>
        <p:nvSpPr>
          <p:cNvPr id="76" name="Shape 73"/>
          <p:cNvSpPr/>
          <p:nvPr/>
        </p:nvSpPr>
        <p:spPr>
          <a:xfrm>
            <a:off x="2557970" y="3142938"/>
            <a:ext cx="210472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2586545" y="3150939"/>
            <a:ext cx="229522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β-cells</a:t>
            </a:r>
            <a:endParaRPr lang="en-US" sz="324" dirty="0"/>
          </a:p>
        </p:txBody>
      </p:sp>
      <p:sp>
        <p:nvSpPr>
          <p:cNvPr id="78" name="Shape 75"/>
          <p:cNvSpPr/>
          <p:nvPr/>
        </p:nvSpPr>
        <p:spPr>
          <a:xfrm>
            <a:off x="2549800" y="3470300"/>
            <a:ext cx="209758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578375" y="3478301"/>
            <a:ext cx="228808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α-cells</a:t>
            </a:r>
            <a:endParaRPr lang="en-US" sz="324" dirty="0"/>
          </a:p>
        </p:txBody>
      </p:sp>
      <p:sp>
        <p:nvSpPr>
          <p:cNvPr id="80" name="Shape 77"/>
          <p:cNvSpPr/>
          <p:nvPr/>
        </p:nvSpPr>
        <p:spPr>
          <a:xfrm>
            <a:off x="13123399" y="4622587"/>
            <a:ext cx="207526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51974" y="4630588"/>
            <a:ext cx="226576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makes</a:t>
            </a:r>
            <a:endParaRPr lang="en-US" sz="324" dirty="0"/>
          </a:p>
        </p:txBody>
      </p:sp>
      <p:sp>
        <p:nvSpPr>
          <p:cNvPr id="82" name="Shape 79"/>
          <p:cNvSpPr/>
          <p:nvPr/>
        </p:nvSpPr>
        <p:spPr>
          <a:xfrm>
            <a:off x="13180772" y="4865296"/>
            <a:ext cx="207526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3209347" y="4873297"/>
            <a:ext cx="226576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makes</a:t>
            </a:r>
            <a:endParaRPr lang="en-US" sz="324" dirty="0"/>
          </a:p>
        </p:txBody>
      </p:sp>
      <p:sp>
        <p:nvSpPr>
          <p:cNvPr id="84" name="Shape 81"/>
          <p:cNvSpPr/>
          <p:nvPr/>
        </p:nvSpPr>
        <p:spPr>
          <a:xfrm>
            <a:off x="13043010" y="5223064"/>
            <a:ext cx="262577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3071585" y="5231065"/>
            <a:ext cx="281627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stored in</a:t>
            </a:r>
            <a:endParaRPr lang="en-US" sz="324" dirty="0"/>
          </a:p>
        </p:txBody>
      </p:sp>
      <p:sp>
        <p:nvSpPr>
          <p:cNvPr id="86" name="Shape 83"/>
          <p:cNvSpPr/>
          <p:nvPr/>
        </p:nvSpPr>
        <p:spPr>
          <a:xfrm>
            <a:off x="7351315" y="7374047"/>
            <a:ext cx="447869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379890" y="7382048"/>
            <a:ext cx="435506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→ adrenal cortex</a:t>
            </a:r>
            <a:endParaRPr lang="en-US" sz="324" dirty="0"/>
          </a:p>
        </p:txBody>
      </p:sp>
      <p:sp>
        <p:nvSpPr>
          <p:cNvPr id="88" name="Shape 85"/>
          <p:cNvSpPr/>
          <p:nvPr/>
        </p:nvSpPr>
        <p:spPr>
          <a:xfrm>
            <a:off x="8619912" y="8079001"/>
            <a:ext cx="210786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8648487" y="8087002"/>
            <a:ext cx="229836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C-cells</a:t>
            </a:r>
            <a:endParaRPr lang="en-US" sz="324" dirty="0"/>
          </a:p>
        </p:txBody>
      </p:sp>
      <p:sp>
        <p:nvSpPr>
          <p:cNvPr id="90" name="Shape 87"/>
          <p:cNvSpPr/>
          <p:nvPr/>
        </p:nvSpPr>
        <p:spPr>
          <a:xfrm>
            <a:off x="9277271" y="8079001"/>
            <a:ext cx="260524" cy="64562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9305846" y="8087002"/>
            <a:ext cx="279574" cy="86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follicular</a:t>
            </a:r>
            <a:endParaRPr lang="en-US" sz="324" dirty="0"/>
          </a:p>
        </p:txBody>
      </p:sp>
      <p:sp>
        <p:nvSpPr>
          <p:cNvPr id="92" name="Shape 89"/>
          <p:cNvSpPr/>
          <p:nvPr/>
        </p:nvSpPr>
        <p:spPr>
          <a:xfrm>
            <a:off x="8685210" y="8464764"/>
            <a:ext cx="329149" cy="64561"/>
          </a:xfrm>
          <a:prstGeom prst="roundRect">
            <a:avLst>
              <a:gd name="adj" fmla="val 23901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8713785" y="8472765"/>
            <a:ext cx="304913" cy="866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4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Parathyroid</a:t>
            </a:r>
            <a:endParaRPr lang="en-US" sz="324" dirty="0"/>
          </a:p>
        </p:txBody>
      </p:sp>
      <p:sp>
        <p:nvSpPr>
          <p:cNvPr id="94" name="Text 91"/>
          <p:cNvSpPr/>
          <p:nvPr/>
        </p:nvSpPr>
        <p:spPr>
          <a:xfrm>
            <a:off x="965852" y="9741754"/>
            <a:ext cx="375523" cy="115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6" b="1" spc="29" kern="0" dirty="0">
                <a:solidFill>
                  <a:srgbClr val="2F4A44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486" dirty="0"/>
          </a:p>
        </p:txBody>
      </p:sp>
      <p:sp>
        <p:nvSpPr>
          <p:cNvPr id="95" name="Text 92"/>
          <p:cNvSpPr/>
          <p:nvPr/>
        </p:nvSpPr>
        <p:spPr>
          <a:xfrm>
            <a:off x="965852" y="9885789"/>
            <a:ext cx="2268837" cy="1038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5" b="1" dirty="0">
                <a:solidFill>
                  <a:srgbClr val="3A4A4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⬢ gland ⬭ hormone ◆ hormone class ▱ releasing / tropic hormone ┌┄┐ note</a:t>
            </a:r>
            <a:endParaRPr lang="en-US" sz="385" dirty="0"/>
          </a:p>
        </p:txBody>
      </p:sp>
      <p:sp>
        <p:nvSpPr>
          <p:cNvPr id="96" name="Text 93"/>
          <p:cNvSpPr/>
          <p:nvPr/>
        </p:nvSpPr>
        <p:spPr>
          <a:xfrm>
            <a:off x="965852" y="10019513"/>
            <a:ext cx="2965313" cy="981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5" b="1" dirty="0">
                <a:solidFill>
                  <a:srgbClr val="3A4A4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solid teal = gland branch blue = hormone gray dashed = portal / pathway red dashed = inhibition</a:t>
            </a:r>
            <a:endParaRPr lang="en-US" sz="3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42875" y="0"/>
            <a:ext cx="18002251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00050" y="25673"/>
            <a:ext cx="1193360" cy="116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06" b="1" spc="41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BIOCHEMISTRY</a:t>
            </a:r>
            <a:endParaRPr lang="en-US" sz="50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" y="0"/>
            <a:ext cx="18002251" cy="1028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462" y="253324"/>
            <a:ext cx="1415988" cy="2000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6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GPCR SIGNALING</a:t>
            </a:r>
            <a:endParaRPr lang="en-US" sz="1063" dirty="0"/>
          </a:p>
        </p:txBody>
      </p:sp>
      <p:sp>
        <p:nvSpPr>
          <p:cNvPr id="7" name="Text 4"/>
          <p:cNvSpPr/>
          <p:nvPr/>
        </p:nvSpPr>
        <p:spPr>
          <a:xfrm>
            <a:off x="800956" y="744680"/>
            <a:ext cx="1062652" cy="3103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7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GPCR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G-Protein Coupled Receptor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716403" y="1081497"/>
            <a:ext cx="1231813" cy="4082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7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7-transmembrane receptor </a:t>
            </a:r>
            <a:pPr algn="ctr" indent="0" marL="0">
              <a:lnSpc>
                <a:spcPct val="120000"/>
              </a:lnSpc>
              <a:buNone/>
            </a:pPr>
            <a:r>
              <a:rPr lang="en-US" sz="547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largest receptor family metabotropic (not ion channel)</a:t>
            </a:r>
            <a:endParaRPr lang="en-US" sz="810" dirty="0"/>
          </a:p>
        </p:txBody>
      </p:sp>
      <p:sp>
        <p:nvSpPr>
          <p:cNvPr id="9" name="Text 6"/>
          <p:cNvSpPr/>
          <p:nvPr/>
        </p:nvSpPr>
        <p:spPr>
          <a:xfrm>
            <a:off x="4826124" y="268728"/>
            <a:ext cx="2592084" cy="169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GENERAL GPCR STEPS (11-step cascade)</a:t>
            </a:r>
            <a:endParaRPr lang="en-US" sz="861" dirty="0"/>
          </a:p>
        </p:txBody>
      </p:sp>
      <p:sp>
        <p:nvSpPr>
          <p:cNvPr id="10" name="Text 7"/>
          <p:cNvSpPr/>
          <p:nvPr/>
        </p:nvSpPr>
        <p:spPr>
          <a:xfrm>
            <a:off x="2888661" y="744567"/>
            <a:ext cx="937748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9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① Ligand Binding </a:t>
            </a:r>
            <a:pPr algn="ctr" indent="0" marL="0">
              <a:lnSpc>
                <a:spcPct val="120000"/>
              </a:lnSpc>
              <a:buNone/>
            </a:pPr>
            <a:r>
              <a:rPr lang="en-US" sz="60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to GPCR</a:t>
            </a:r>
            <a:endParaRPr lang="en-US" sz="810" dirty="0"/>
          </a:p>
        </p:txBody>
      </p:sp>
      <p:sp>
        <p:nvSpPr>
          <p:cNvPr id="11" name="Text 8"/>
          <p:cNvSpPr/>
          <p:nvPr/>
        </p:nvSpPr>
        <p:spPr>
          <a:xfrm>
            <a:off x="4161588" y="744567"/>
            <a:ext cx="963699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9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② Conformational </a:t>
            </a:r>
            <a:pPr algn="ctr" indent="0" marL="0">
              <a:lnSpc>
                <a:spcPct val="120000"/>
              </a:lnSpc>
              <a:buNone/>
            </a:pPr>
            <a:r>
              <a:rPr lang="en-US" sz="60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Change</a:t>
            </a:r>
            <a:endParaRPr lang="en-US" sz="810" dirty="0"/>
          </a:p>
        </p:txBody>
      </p:sp>
      <p:sp>
        <p:nvSpPr>
          <p:cNvPr id="12" name="Text 9"/>
          <p:cNvSpPr/>
          <p:nvPr/>
        </p:nvSpPr>
        <p:spPr>
          <a:xfrm>
            <a:off x="5551271" y="744567"/>
            <a:ext cx="852525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③ G-Protein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GDP → GTP exchange</a:t>
            </a:r>
            <a:endParaRPr lang="en-US" sz="810" dirty="0"/>
          </a:p>
        </p:txBody>
      </p:sp>
      <p:sp>
        <p:nvSpPr>
          <p:cNvPr id="13" name="Text 10"/>
          <p:cNvSpPr/>
          <p:nvPr/>
        </p:nvSpPr>
        <p:spPr>
          <a:xfrm>
            <a:off x="7045654" y="702151"/>
            <a:ext cx="596187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④ Subunit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Dissociation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Gα-GTP + Gβγ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3056372" y="1345089"/>
            <a:ext cx="602382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⑤ Effector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Activation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(AC, PLC, etc.)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4162369" y="1345089"/>
            <a:ext cx="962081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⑥ 2nd Messenger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Production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(cAMP, IP3, DAG)</a:t>
            </a:r>
            <a:endParaRPr lang="en-US" sz="810" dirty="0"/>
          </a:p>
        </p:txBody>
      </p:sp>
      <p:sp>
        <p:nvSpPr>
          <p:cNvPr id="16" name="Text 13"/>
          <p:cNvSpPr/>
          <p:nvPr/>
        </p:nvSpPr>
        <p:spPr>
          <a:xfrm>
            <a:off x="5557465" y="1345089"/>
            <a:ext cx="840079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⑦ Downstream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Signaling Pathways</a:t>
            </a:r>
            <a:endParaRPr lang="en-US" sz="810" dirty="0"/>
          </a:p>
        </p:txBody>
      </p:sp>
      <p:sp>
        <p:nvSpPr>
          <p:cNvPr id="17" name="Text 14"/>
          <p:cNvSpPr/>
          <p:nvPr/>
        </p:nvSpPr>
        <p:spPr>
          <a:xfrm>
            <a:off x="6962663" y="1345089"/>
            <a:ext cx="762168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⑧ Cellular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Response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(gene expr, metab)</a:t>
            </a:r>
            <a:endParaRPr lang="en-US" sz="810" dirty="0"/>
          </a:p>
        </p:txBody>
      </p:sp>
      <p:sp>
        <p:nvSpPr>
          <p:cNvPr id="18" name="Text 15"/>
          <p:cNvSpPr/>
          <p:nvPr/>
        </p:nvSpPr>
        <p:spPr>
          <a:xfrm>
            <a:off x="4170518" y="1988027"/>
            <a:ext cx="945840" cy="408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9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⑨ GTP Hydrolysis </a:t>
            </a:r>
            <a:pPr algn="ctr" indent="0" marL="0">
              <a:lnSpc>
                <a:spcPct val="120000"/>
              </a:lnSpc>
              <a:buNone/>
            </a:pPr>
            <a:r>
              <a:rPr lang="en-US" sz="60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on Gα </a:t>
            </a:r>
            <a:pPr algn="ctr" indent="0" marL="0">
              <a:lnSpc>
                <a:spcPct val="120000"/>
              </a:lnSpc>
              <a:buNone/>
            </a:pPr>
            <a:r>
              <a:rPr lang="en-US" sz="55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 → GDP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5636829" y="2030444"/>
            <a:ext cx="681410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⑩ G-Protein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Reassociation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7077410" y="2030444"/>
            <a:ext cx="532730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⑪ Signal </a:t>
            </a:r>
            <a:pPr algn="ctr" indent="0" marL="0">
              <a:lnSpc>
                <a:spcPct val="12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Termination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3215990" y="2825074"/>
            <a:ext cx="2211958" cy="2000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6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GPCR EFFECTOR PATHWAYS</a:t>
            </a:r>
            <a:endParaRPr lang="en-US" sz="1063" dirty="0"/>
          </a:p>
        </p:txBody>
      </p:sp>
      <p:sp>
        <p:nvSpPr>
          <p:cNvPr id="22" name="Text 19"/>
          <p:cNvSpPr/>
          <p:nvPr/>
        </p:nvSpPr>
        <p:spPr>
          <a:xfrm>
            <a:off x="724216" y="3307277"/>
            <a:ext cx="637543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Gαs pathway</a:t>
            </a:r>
            <a:endParaRPr lang="en-US" sz="608" dirty="0"/>
          </a:p>
        </p:txBody>
      </p:sp>
      <p:sp>
        <p:nvSpPr>
          <p:cNvPr id="23" name="Text 20"/>
          <p:cNvSpPr/>
          <p:nvPr/>
        </p:nvSpPr>
        <p:spPr>
          <a:xfrm>
            <a:off x="757926" y="3654475"/>
            <a:ext cx="750112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Norepinephrine</a:t>
            </a:r>
            <a:endParaRPr lang="en-US" sz="608" dirty="0"/>
          </a:p>
        </p:txBody>
      </p:sp>
      <p:sp>
        <p:nvSpPr>
          <p:cNvPr id="24" name="Text 21"/>
          <p:cNvSpPr/>
          <p:nvPr/>
        </p:nvSpPr>
        <p:spPr>
          <a:xfrm>
            <a:off x="2202303" y="3654475"/>
            <a:ext cx="883165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2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Adenylate Cyclase</a:t>
            </a:r>
            <a:endParaRPr lang="en-US" sz="623" dirty="0"/>
          </a:p>
        </p:txBody>
      </p:sp>
      <p:sp>
        <p:nvSpPr>
          <p:cNvPr id="25" name="Text 22"/>
          <p:cNvSpPr/>
          <p:nvPr/>
        </p:nvSpPr>
        <p:spPr>
          <a:xfrm>
            <a:off x="3821702" y="3650624"/>
            <a:ext cx="408999" cy="169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cAMP</a:t>
            </a:r>
            <a:endParaRPr lang="en-US" sz="861" dirty="0"/>
          </a:p>
        </p:txBody>
      </p:sp>
      <p:sp>
        <p:nvSpPr>
          <p:cNvPr id="26" name="Text 23"/>
          <p:cNvSpPr/>
          <p:nvPr/>
        </p:nvSpPr>
        <p:spPr>
          <a:xfrm>
            <a:off x="4915309" y="3654475"/>
            <a:ext cx="793478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Protein Kinase A</a:t>
            </a:r>
            <a:endParaRPr lang="en-US" sz="608" dirty="0"/>
          </a:p>
        </p:txBody>
      </p:sp>
      <p:sp>
        <p:nvSpPr>
          <p:cNvPr id="27" name="Text 24"/>
          <p:cNvSpPr/>
          <p:nvPr/>
        </p:nvSpPr>
        <p:spPr>
          <a:xfrm>
            <a:off x="6399982" y="3573494"/>
            <a:ext cx="1437530" cy="2848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↑ protein phosphorylation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glycogen breakdown · gene regulation</a:t>
            </a:r>
            <a:endParaRPr lang="en-US" sz="810" dirty="0"/>
          </a:p>
        </p:txBody>
      </p:sp>
      <p:sp>
        <p:nvSpPr>
          <p:cNvPr id="28" name="Text 25"/>
          <p:cNvSpPr/>
          <p:nvPr/>
        </p:nvSpPr>
        <p:spPr>
          <a:xfrm>
            <a:off x="720142" y="4143096"/>
            <a:ext cx="645691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Gαq pathway</a:t>
            </a:r>
            <a:endParaRPr lang="en-US" sz="608" dirty="0"/>
          </a:p>
        </p:txBody>
      </p:sp>
      <p:sp>
        <p:nvSpPr>
          <p:cNvPr id="29" name="Text 26"/>
          <p:cNvSpPr/>
          <p:nvPr/>
        </p:nvSpPr>
        <p:spPr>
          <a:xfrm>
            <a:off x="767972" y="4490293"/>
            <a:ext cx="601377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Glutamate</a:t>
            </a:r>
            <a:endParaRPr lang="en-US" sz="709" dirty="0"/>
          </a:p>
        </p:txBody>
      </p:sp>
      <p:sp>
        <p:nvSpPr>
          <p:cNvPr id="30" name="Text 27"/>
          <p:cNvSpPr/>
          <p:nvPr/>
        </p:nvSpPr>
        <p:spPr>
          <a:xfrm>
            <a:off x="2194992" y="4490293"/>
            <a:ext cx="897787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4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Phospholipase C</a:t>
            </a:r>
            <a:endParaRPr lang="en-US" sz="704" dirty="0"/>
          </a:p>
        </p:txBody>
      </p:sp>
      <p:sp>
        <p:nvSpPr>
          <p:cNvPr id="31" name="Text 28"/>
          <p:cNvSpPr/>
          <p:nvPr/>
        </p:nvSpPr>
        <p:spPr>
          <a:xfrm>
            <a:off x="3767677" y="4422149"/>
            <a:ext cx="259817" cy="169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IP₃</a:t>
            </a:r>
            <a:endParaRPr lang="en-US" sz="861" dirty="0"/>
          </a:p>
        </p:txBody>
      </p:sp>
      <p:sp>
        <p:nvSpPr>
          <p:cNvPr id="32" name="Text 29"/>
          <p:cNvSpPr/>
          <p:nvPr/>
        </p:nvSpPr>
        <p:spPr>
          <a:xfrm>
            <a:off x="3727438" y="4743617"/>
            <a:ext cx="340352" cy="169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DAG</a:t>
            </a:r>
            <a:endParaRPr lang="en-US" sz="861" dirty="0"/>
          </a:p>
        </p:txBody>
      </p:sp>
      <p:sp>
        <p:nvSpPr>
          <p:cNvPr id="33" name="Text 30"/>
          <p:cNvSpPr/>
          <p:nvPr/>
        </p:nvSpPr>
        <p:spPr>
          <a:xfrm>
            <a:off x="4766184" y="4426000"/>
            <a:ext cx="448847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Ca²⁺ release</a:t>
            </a:r>
            <a:endParaRPr lang="en-US" sz="430" dirty="0"/>
          </a:p>
        </p:txBody>
      </p:sp>
      <p:sp>
        <p:nvSpPr>
          <p:cNvPr id="34" name="Text 31"/>
          <p:cNvSpPr/>
          <p:nvPr/>
        </p:nvSpPr>
        <p:spPr>
          <a:xfrm>
            <a:off x="4701109" y="4747468"/>
            <a:ext cx="771878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2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Protein Kinase C</a:t>
            </a:r>
            <a:endParaRPr lang="en-US" sz="592" dirty="0"/>
          </a:p>
        </p:txBody>
      </p:sp>
      <p:sp>
        <p:nvSpPr>
          <p:cNvPr id="35" name="Text 32"/>
          <p:cNvSpPr/>
          <p:nvPr/>
        </p:nvSpPr>
        <p:spPr>
          <a:xfrm>
            <a:off x="6225797" y="4409312"/>
            <a:ext cx="1528669" cy="2848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↑ phosphorylation + Ca²⁺-binding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activate calmodulin · smooth muscle</a:t>
            </a:r>
            <a:endParaRPr lang="en-US" sz="810" dirty="0"/>
          </a:p>
        </p:txBody>
      </p:sp>
      <p:sp>
        <p:nvSpPr>
          <p:cNvPr id="36" name="Text 33"/>
          <p:cNvSpPr/>
          <p:nvPr/>
        </p:nvSpPr>
        <p:spPr>
          <a:xfrm>
            <a:off x="733871" y="5236090"/>
            <a:ext cx="618176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Gαi pathway</a:t>
            </a:r>
            <a:endParaRPr lang="en-US" sz="608" dirty="0"/>
          </a:p>
        </p:txBody>
      </p:sp>
      <p:sp>
        <p:nvSpPr>
          <p:cNvPr id="37" name="Text 34"/>
          <p:cNvSpPr/>
          <p:nvPr/>
        </p:nvSpPr>
        <p:spPr>
          <a:xfrm>
            <a:off x="709761" y="5583287"/>
            <a:ext cx="717854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Dopamine (D₂)</a:t>
            </a:r>
            <a:endParaRPr lang="en-US" sz="608" dirty="0"/>
          </a:p>
        </p:txBody>
      </p:sp>
      <p:sp>
        <p:nvSpPr>
          <p:cNvPr id="38" name="Text 35"/>
          <p:cNvSpPr/>
          <p:nvPr/>
        </p:nvSpPr>
        <p:spPr>
          <a:xfrm>
            <a:off x="2202303" y="5583287"/>
            <a:ext cx="883165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2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Adenylate Cyclase</a:t>
            </a:r>
            <a:endParaRPr lang="en-US" sz="623" dirty="0"/>
          </a:p>
        </p:txBody>
      </p:sp>
      <p:sp>
        <p:nvSpPr>
          <p:cNvPr id="39" name="Text 36"/>
          <p:cNvSpPr/>
          <p:nvPr/>
        </p:nvSpPr>
        <p:spPr>
          <a:xfrm>
            <a:off x="3808419" y="5583231"/>
            <a:ext cx="641338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INHIBITED</a:t>
            </a:r>
            <a:endParaRPr lang="en-US" sz="709" dirty="0"/>
          </a:p>
        </p:txBody>
      </p:sp>
      <p:sp>
        <p:nvSpPr>
          <p:cNvPr id="40" name="Text 37"/>
          <p:cNvSpPr/>
          <p:nvPr/>
        </p:nvSpPr>
        <p:spPr>
          <a:xfrm>
            <a:off x="5198381" y="5583287"/>
            <a:ext cx="1127448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↓ cAMP → ↓ PKA activity</a:t>
            </a:r>
            <a:endParaRPr lang="en-US" sz="608" dirty="0"/>
          </a:p>
        </p:txBody>
      </p:sp>
      <p:sp>
        <p:nvSpPr>
          <p:cNvPr id="41" name="Text 38"/>
          <p:cNvSpPr/>
          <p:nvPr/>
        </p:nvSpPr>
        <p:spPr>
          <a:xfrm>
            <a:off x="2212333" y="6093785"/>
            <a:ext cx="4219217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2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KEY: Gαs = stimulatory (↑cAMP) · Gαq = PLC pathway (IP₃+DAG) · Gαi = inhibitory (↓cAMP) </a:t>
            </a:r>
            <a:pPr algn="ctr" indent="0" marL="0">
              <a:lnSpc>
                <a:spcPct val="120000"/>
              </a:lnSpc>
              <a:buNone/>
            </a:pPr>
            <a:r>
              <a:rPr lang="en-US" sz="53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All use GTP hydrolysis as molecular switch · Cholera toxin locks Gαs ON · Pertussis locks Gαi OFF</a:t>
            </a:r>
            <a:endParaRPr lang="en-US" sz="810" dirty="0"/>
          </a:p>
        </p:txBody>
      </p:sp>
      <p:sp>
        <p:nvSpPr>
          <p:cNvPr id="42" name="Text 39"/>
          <p:cNvSpPr/>
          <p:nvPr/>
        </p:nvSpPr>
        <p:spPr>
          <a:xfrm>
            <a:off x="790631" y="6890985"/>
            <a:ext cx="2369232" cy="1691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EPINEPHRINE SIGNALING (example)</a:t>
            </a:r>
            <a:endParaRPr lang="en-US" sz="861" dirty="0"/>
          </a:p>
        </p:txBody>
      </p:sp>
      <p:sp>
        <p:nvSpPr>
          <p:cNvPr id="43" name="Text 40"/>
          <p:cNvSpPr/>
          <p:nvPr/>
        </p:nvSpPr>
        <p:spPr>
          <a:xfrm>
            <a:off x="779078" y="7389931"/>
            <a:ext cx="707752" cy="1614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Epinephrine</a:t>
            </a:r>
            <a:endParaRPr lang="en-US" sz="739" dirty="0"/>
          </a:p>
        </p:txBody>
      </p:sp>
      <p:sp>
        <p:nvSpPr>
          <p:cNvPr id="44" name="Text 41"/>
          <p:cNvSpPr/>
          <p:nvPr/>
        </p:nvSpPr>
        <p:spPr>
          <a:xfrm>
            <a:off x="2280494" y="7341097"/>
            <a:ext cx="726784" cy="2848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β-adrenergic </a:t>
            </a:r>
            <a:pPr algn="ctr" indent="0" marL="0">
              <a:lnSpc>
                <a:spcPct val="120000"/>
              </a:lnSpc>
              <a:buNone/>
            </a:pPr>
            <a:r>
              <a:rPr lang="en-US" sz="55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receptor (GPCR)</a:t>
            </a:r>
            <a:endParaRPr lang="en-US" sz="810" dirty="0"/>
          </a:p>
        </p:txBody>
      </p:sp>
      <p:sp>
        <p:nvSpPr>
          <p:cNvPr id="45" name="Text 42"/>
          <p:cNvSpPr/>
          <p:nvPr/>
        </p:nvSpPr>
        <p:spPr>
          <a:xfrm>
            <a:off x="2215586" y="7904280"/>
            <a:ext cx="856599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Adenylyl Cyclase</a:t>
            </a:r>
            <a:endParaRPr lang="en-US" sz="653" dirty="0"/>
          </a:p>
        </p:txBody>
      </p:sp>
      <p:sp>
        <p:nvSpPr>
          <p:cNvPr id="46" name="Text 43"/>
          <p:cNvSpPr/>
          <p:nvPr/>
        </p:nvSpPr>
        <p:spPr>
          <a:xfrm>
            <a:off x="860617" y="7897862"/>
            <a:ext cx="287499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9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</a:t>
            </a:r>
            <a:endParaRPr lang="en-US" sz="759" dirty="0"/>
          </a:p>
        </p:txBody>
      </p:sp>
      <p:sp>
        <p:nvSpPr>
          <p:cNvPr id="47" name="Text 44"/>
          <p:cNvSpPr/>
          <p:nvPr/>
        </p:nvSpPr>
        <p:spPr>
          <a:xfrm>
            <a:off x="819429" y="8412212"/>
            <a:ext cx="369931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cAMP</a:t>
            </a:r>
            <a:endParaRPr lang="en-US" sz="759" dirty="0"/>
          </a:p>
        </p:txBody>
      </p:sp>
      <p:sp>
        <p:nvSpPr>
          <p:cNvPr id="48" name="Text 45"/>
          <p:cNvSpPr/>
          <p:nvPr/>
        </p:nvSpPr>
        <p:spPr>
          <a:xfrm>
            <a:off x="2264922" y="8368011"/>
            <a:ext cx="693632" cy="2884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PKA </a:t>
            </a:r>
            <a:pPr algn="ctr" indent="0" marL="0">
              <a:lnSpc>
                <a:spcPct val="120000"/>
              </a:lnSpc>
              <a:buNone/>
            </a:pPr>
            <a:r>
              <a:rPr lang="en-US" sz="53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(Protein Kinase A)</a:t>
            </a:r>
            <a:endParaRPr lang="en-US" sz="810" dirty="0"/>
          </a:p>
        </p:txBody>
      </p:sp>
      <p:sp>
        <p:nvSpPr>
          <p:cNvPr id="49" name="Text 46"/>
          <p:cNvSpPr/>
          <p:nvPr/>
        </p:nvSpPr>
        <p:spPr>
          <a:xfrm>
            <a:off x="873621" y="9032045"/>
            <a:ext cx="711547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Glycogen </a:t>
            </a:r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Phosphorylase</a:t>
            </a:r>
            <a:endParaRPr lang="en-US" sz="810" dirty="0"/>
          </a:p>
        </p:txBody>
      </p:sp>
      <p:sp>
        <p:nvSpPr>
          <p:cNvPr id="50" name="Text 47"/>
          <p:cNvSpPr/>
          <p:nvPr/>
        </p:nvSpPr>
        <p:spPr>
          <a:xfrm>
            <a:off x="671196" y="9363725"/>
            <a:ext cx="1116453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ACTIVATED → breaks down glycogen</a:t>
            </a:r>
            <a:endParaRPr lang="en-US" sz="395" dirty="0"/>
          </a:p>
        </p:txBody>
      </p:sp>
      <p:sp>
        <p:nvSpPr>
          <p:cNvPr id="51" name="Text 48"/>
          <p:cNvSpPr/>
          <p:nvPr/>
        </p:nvSpPr>
        <p:spPr>
          <a:xfrm>
            <a:off x="2502396" y="9032045"/>
            <a:ext cx="540153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Glycogen </a:t>
            </a:r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Synthase</a:t>
            </a:r>
            <a:endParaRPr lang="en-US" sz="810" dirty="0"/>
          </a:p>
        </p:txBody>
      </p:sp>
      <p:sp>
        <p:nvSpPr>
          <p:cNvPr id="52" name="Text 49"/>
          <p:cNvSpPr/>
          <p:nvPr/>
        </p:nvSpPr>
        <p:spPr>
          <a:xfrm>
            <a:off x="2217149" y="9363725"/>
            <a:ext cx="1110648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INACTIVATED → no synthesis</a:t>
            </a:r>
            <a:endParaRPr lang="en-US" sz="491" dirty="0"/>
          </a:p>
        </p:txBody>
      </p:sp>
      <p:sp>
        <p:nvSpPr>
          <p:cNvPr id="53" name="Text 50"/>
          <p:cNvSpPr/>
          <p:nvPr/>
        </p:nvSpPr>
        <p:spPr>
          <a:xfrm>
            <a:off x="837958" y="9749490"/>
            <a:ext cx="2325923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NET: Epi → ↑ blood glucose via glycogen breakdown</a:t>
            </a:r>
            <a:endParaRPr lang="en-US" sz="608" dirty="0"/>
          </a:p>
        </p:txBody>
      </p:sp>
      <p:sp>
        <p:nvSpPr>
          <p:cNvPr id="54" name="Text 51"/>
          <p:cNvSpPr/>
          <p:nvPr/>
        </p:nvSpPr>
        <p:spPr>
          <a:xfrm>
            <a:off x="4606621" y="6890985"/>
            <a:ext cx="2130977" cy="1691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SUBSTRATES + GTP HYDROLYSIS</a:t>
            </a:r>
            <a:endParaRPr lang="en-US" sz="861" dirty="0"/>
          </a:p>
        </p:txBody>
      </p:sp>
      <p:sp>
        <p:nvSpPr>
          <p:cNvPr id="55" name="Text 52"/>
          <p:cNvSpPr/>
          <p:nvPr/>
        </p:nvSpPr>
        <p:spPr>
          <a:xfrm>
            <a:off x="4767077" y="7389931"/>
            <a:ext cx="639942" cy="1614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Substrates</a:t>
            </a:r>
            <a:endParaRPr lang="en-US" sz="734" dirty="0"/>
          </a:p>
        </p:txBody>
      </p:sp>
      <p:sp>
        <p:nvSpPr>
          <p:cNvPr id="56" name="Text 53"/>
          <p:cNvSpPr/>
          <p:nvPr/>
        </p:nvSpPr>
        <p:spPr>
          <a:xfrm>
            <a:off x="6092968" y="7379661"/>
            <a:ext cx="315627" cy="169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</a:t>
            </a:r>
            <a:endParaRPr lang="en-US" sz="861" dirty="0"/>
          </a:p>
        </p:txBody>
      </p:sp>
      <p:sp>
        <p:nvSpPr>
          <p:cNvPr id="57" name="Text 54"/>
          <p:cNvSpPr/>
          <p:nvPr/>
        </p:nvSpPr>
        <p:spPr>
          <a:xfrm>
            <a:off x="6091071" y="7829719"/>
            <a:ext cx="319422" cy="1691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1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</a:t>
            </a:r>
            <a:endParaRPr lang="en-US" sz="861" dirty="0"/>
          </a:p>
        </p:txBody>
      </p:sp>
      <p:sp>
        <p:nvSpPr>
          <p:cNvPr id="58" name="Text 55"/>
          <p:cNvSpPr/>
          <p:nvPr/>
        </p:nvSpPr>
        <p:spPr>
          <a:xfrm>
            <a:off x="6110046" y="8450777"/>
            <a:ext cx="718635" cy="1614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Hydrolyzed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821827" y="8297856"/>
            <a:ext cx="723268" cy="531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 hydrolysis </a:t>
            </a:r>
            <a:pPr algn="ctr" indent="0" marL="0">
              <a:lnSpc>
                <a:spcPct val="120000"/>
              </a:lnSpc>
              <a:buNone/>
            </a:pPr>
            <a:r>
              <a:rPr lang="en-US" sz="49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releases free energy ΔG° = −RT ln Keq Keq ≈ 1 × 10⁵</a:t>
            </a:r>
            <a:endParaRPr lang="en-US" sz="810" dirty="0"/>
          </a:p>
        </p:txBody>
      </p:sp>
      <p:sp>
        <p:nvSpPr>
          <p:cNvPr id="60" name="Text 57"/>
          <p:cNvSpPr/>
          <p:nvPr/>
        </p:nvSpPr>
        <p:spPr>
          <a:xfrm>
            <a:off x="5211050" y="8876499"/>
            <a:ext cx="1230697" cy="531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 acts as molecular switch: </a:t>
            </a:r>
            <a:pPr algn="ctr" indent="0" marL="0">
              <a:lnSpc>
                <a:spcPct val="120000"/>
              </a:lnSpc>
              <a:buNone/>
            </a:pPr>
            <a:r>
              <a:rPr lang="en-US" sz="49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GTP-bound = ON (active) GDP-bound = OFF (inactive) </a:t>
            </a:r>
            <a:pPr algn="ctr" indent="0" marL="0">
              <a:lnSpc>
                <a:spcPct val="120000"/>
              </a:lnSpc>
              <a:buNone/>
            </a:pPr>
            <a:r>
              <a:rPr lang="en-US" sz="49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GTPase activity = built-in timer</a:t>
            </a:r>
            <a:endParaRPr lang="en-US" sz="810" dirty="0"/>
          </a:p>
        </p:txBody>
      </p:sp>
      <p:sp>
        <p:nvSpPr>
          <p:cNvPr id="61" name="Text 58"/>
          <p:cNvSpPr/>
          <p:nvPr/>
        </p:nvSpPr>
        <p:spPr>
          <a:xfrm>
            <a:off x="4761942" y="9527085"/>
            <a:ext cx="714506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GAP </a:t>
            </a:r>
            <a:pPr algn="ctr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(GTPase-activating)</a:t>
            </a:r>
            <a:endParaRPr lang="en-US" sz="810" dirty="0"/>
          </a:p>
        </p:txBody>
      </p:sp>
      <p:sp>
        <p:nvSpPr>
          <p:cNvPr id="62" name="Text 59"/>
          <p:cNvSpPr/>
          <p:nvPr/>
        </p:nvSpPr>
        <p:spPr>
          <a:xfrm>
            <a:off x="4663548" y="9839510"/>
            <a:ext cx="911293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speeds GTP → GDP (OFF)</a:t>
            </a:r>
            <a:endParaRPr lang="en-US" sz="466" dirty="0"/>
          </a:p>
        </p:txBody>
      </p:sp>
      <p:sp>
        <p:nvSpPr>
          <p:cNvPr id="63" name="Text 60"/>
          <p:cNvSpPr/>
          <p:nvPr/>
        </p:nvSpPr>
        <p:spPr>
          <a:xfrm>
            <a:off x="6044301" y="9527085"/>
            <a:ext cx="721482" cy="2848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GEF </a:t>
            </a:r>
            <a:pPr algn="ctr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(guanine exchange)</a:t>
            </a:r>
            <a:endParaRPr lang="en-US" sz="810" dirty="0"/>
          </a:p>
        </p:txBody>
      </p:sp>
      <p:sp>
        <p:nvSpPr>
          <p:cNvPr id="64" name="Text 61"/>
          <p:cNvSpPr/>
          <p:nvPr/>
        </p:nvSpPr>
        <p:spPr>
          <a:xfrm>
            <a:off x="5941108" y="9839510"/>
            <a:ext cx="927869" cy="1614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speeds GDP → GTP (ON)</a:t>
            </a:r>
            <a:endParaRPr lang="en-US" sz="491" dirty="0"/>
          </a:p>
        </p:txBody>
      </p:sp>
      <p:sp>
        <p:nvSpPr>
          <p:cNvPr id="65" name="Shape 62"/>
          <p:cNvSpPr/>
          <p:nvPr/>
        </p:nvSpPr>
        <p:spPr>
          <a:xfrm>
            <a:off x="3287855" y="3675793"/>
            <a:ext cx="319348" cy="80703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572">
            <a:solidFill>
              <a:srgbClr val="DDDDD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323574" y="3685794"/>
            <a:ext cx="324111" cy="988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produces</a:t>
            </a:r>
            <a:endParaRPr lang="en-US" sz="380" dirty="0"/>
          </a:p>
        </p:txBody>
      </p:sp>
      <p:sp>
        <p:nvSpPr>
          <p:cNvPr id="67" name="Shape 64"/>
          <p:cNvSpPr/>
          <p:nvPr/>
        </p:nvSpPr>
        <p:spPr>
          <a:xfrm>
            <a:off x="4446510" y="3675793"/>
            <a:ext cx="316613" cy="80703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572">
            <a:solidFill>
              <a:srgbClr val="DDDDD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482229" y="3685794"/>
            <a:ext cx="321376" cy="988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activates</a:t>
            </a:r>
            <a:endParaRPr lang="en-US" sz="380" dirty="0"/>
          </a:p>
        </p:txBody>
      </p:sp>
      <p:sp>
        <p:nvSpPr>
          <p:cNvPr id="69" name="Shape 66"/>
          <p:cNvSpPr/>
          <p:nvPr/>
        </p:nvSpPr>
        <p:spPr>
          <a:xfrm>
            <a:off x="3272591" y="5604606"/>
            <a:ext cx="349876" cy="80703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572">
            <a:solidFill>
              <a:srgbClr val="DDDDD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308310" y="5614607"/>
            <a:ext cx="354639" cy="988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Gαi blocks</a:t>
            </a:r>
            <a:endParaRPr lang="en-US" sz="380" dirty="0"/>
          </a:p>
        </p:txBody>
      </p:sp>
      <p:sp>
        <p:nvSpPr>
          <p:cNvPr id="71" name="Text 68"/>
          <p:cNvSpPr/>
          <p:nvPr/>
        </p:nvSpPr>
        <p:spPr>
          <a:xfrm>
            <a:off x="412886" y="10158414"/>
            <a:ext cx="419156" cy="1238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7" b="1" spc="33" kern="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557" dirty="0"/>
          </a:p>
        </p:txBody>
      </p:sp>
      <p:sp>
        <p:nvSpPr>
          <p:cNvPr id="72" name="Text 69"/>
          <p:cNvSpPr/>
          <p:nvPr/>
        </p:nvSpPr>
        <p:spPr>
          <a:xfrm>
            <a:off x="978694" y="10158414"/>
            <a:ext cx="3251729" cy="116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⬭ receptor ▭ step ⬡ molecule ◆ key event ⬣ termination ┈┈ note All arrows: straight lines</a:t>
            </a:r>
            <a:endParaRPr lang="en-US" sz="456" dirty="0"/>
          </a:p>
        </p:txBody>
      </p:sp>
      <p:sp>
        <p:nvSpPr>
          <p:cNvPr id="73" name="Text 70"/>
          <p:cNvSpPr/>
          <p:nvPr/>
        </p:nvSpPr>
        <p:spPr>
          <a:xfrm>
            <a:off x="978694" y="10274109"/>
            <a:ext cx="2703011" cy="1059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Red = GPCR Steps Blue = Pathways Green = Epinephrine Gold = Substrates</a:t>
            </a:r>
            <a:endParaRPr lang="en-US" sz="4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71500"/>
            <a:ext cx="18288001" cy="91440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43840" y="595843"/>
            <a:ext cx="1135433" cy="112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" b="1" spc="38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BIOCHEMISTRY</a:t>
            </a:r>
            <a:endParaRPr lang="en-US" sz="4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71500"/>
            <a:ext cx="18288001" cy="9144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3916" y="816452"/>
            <a:ext cx="1566968" cy="182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 TRANSPORT</a:t>
            </a:r>
            <a:endParaRPr lang="en-US" sz="946" dirty="0"/>
          </a:p>
        </p:txBody>
      </p:sp>
      <p:sp>
        <p:nvSpPr>
          <p:cNvPr id="7" name="Text 4"/>
          <p:cNvSpPr/>
          <p:nvPr/>
        </p:nvSpPr>
        <p:spPr>
          <a:xfrm>
            <a:off x="1800595" y="1381074"/>
            <a:ext cx="531812" cy="16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656061" y="2033322"/>
            <a:ext cx="504402" cy="1624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GLUT-2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42660" y="2313782"/>
            <a:ext cx="731255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Low affinity · high Km Insulin-INDEPENDENT</a:t>
            </a:r>
            <a:endParaRPr lang="en-US" sz="408" dirty="0"/>
          </a:p>
        </p:txBody>
      </p:sp>
      <p:sp>
        <p:nvSpPr>
          <p:cNvPr id="10" name="Text 7"/>
          <p:cNvSpPr/>
          <p:nvPr/>
        </p:nvSpPr>
        <p:spPr>
          <a:xfrm>
            <a:off x="468260" y="2902586"/>
            <a:ext cx="331364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Liver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1262063" y="2902586"/>
            <a:ext cx="694478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75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β-cells (pancreas)</a:t>
            </a:r>
            <a:endParaRPr lang="en-US" sz="475" dirty="0"/>
          </a:p>
        </p:txBody>
      </p:sp>
      <p:sp>
        <p:nvSpPr>
          <p:cNvPr id="12" name="Text 9"/>
          <p:cNvSpPr/>
          <p:nvPr/>
        </p:nvSpPr>
        <p:spPr>
          <a:xfrm>
            <a:off x="1778900" y="2036973"/>
            <a:ext cx="697177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Glucokinase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680104" y="2289388"/>
            <a:ext cx="894715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7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Very high Km </a:t>
            </a:r>
            <a:pPr algn="ctr" indent="0" marL="0">
              <a:lnSpc>
                <a:spcPct val="120000"/>
              </a:lnSpc>
              <a:buNone/>
            </a:pPr>
            <a:r>
              <a:rPr lang="en-US" sz="475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 sensor in pancreas</a:t>
            </a:r>
            <a:endParaRPr lang="en-US" sz="768" dirty="0"/>
          </a:p>
        </p:txBody>
      </p:sp>
      <p:sp>
        <p:nvSpPr>
          <p:cNvPr id="14" name="Text 11"/>
          <p:cNvSpPr/>
          <p:nvPr/>
        </p:nvSpPr>
        <p:spPr>
          <a:xfrm>
            <a:off x="3003021" y="2033322"/>
            <a:ext cx="504402" cy="1624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GLUT-4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2867554" y="2313782"/>
            <a:ext cx="775335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Insulin-DEPENDENT Km ≈ blood [glucose]</a:t>
            </a:r>
            <a:endParaRPr lang="en-US" sz="451" dirty="0"/>
          </a:p>
        </p:txBody>
      </p:sp>
      <p:sp>
        <p:nvSpPr>
          <p:cNvPr id="16" name="Text 13"/>
          <p:cNvSpPr/>
          <p:nvPr/>
        </p:nvSpPr>
        <p:spPr>
          <a:xfrm>
            <a:off x="2921529" y="2902586"/>
            <a:ext cx="911278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7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Adipose + Muscle</a:t>
            </a:r>
            <a:endParaRPr lang="en-US" sz="667" dirty="0"/>
          </a:p>
        </p:txBody>
      </p:sp>
      <p:sp>
        <p:nvSpPr>
          <p:cNvPr id="17" name="Text 14"/>
          <p:cNvSpPr/>
          <p:nvPr/>
        </p:nvSpPr>
        <p:spPr>
          <a:xfrm>
            <a:off x="3024188" y="3453712"/>
            <a:ext cx="486463" cy="1624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Insulin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2875968" y="3669560"/>
            <a:ext cx="941441" cy="389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Peptide hormone RTK · Tyr kinase receptor </a:t>
            </a:r>
            <a:pPr algn="ctr" indent="0" marL="0">
              <a:lnSpc>
                <a:spcPct val="120000"/>
              </a:lnSpc>
              <a:buNone/>
            </a:pPr>
            <a:r>
              <a:rPr lang="en-US" sz="442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inserts GLUT-4 into membrane</a:t>
            </a:r>
            <a:endParaRPr lang="en-US" sz="768" dirty="0"/>
          </a:p>
        </p:txBody>
      </p:sp>
      <p:sp>
        <p:nvSpPr>
          <p:cNvPr id="19" name="Text 16"/>
          <p:cNvSpPr/>
          <p:nvPr/>
        </p:nvSpPr>
        <p:spPr>
          <a:xfrm>
            <a:off x="1311963" y="4538979"/>
            <a:ext cx="1399381" cy="17414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9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DIABETES MELLITUS</a:t>
            </a:r>
            <a:endParaRPr lang="en-US" sz="893" dirty="0"/>
          </a:p>
        </p:txBody>
      </p:sp>
      <p:sp>
        <p:nvSpPr>
          <p:cNvPr id="20" name="Text 17"/>
          <p:cNvSpPr/>
          <p:nvPr/>
        </p:nvSpPr>
        <p:spPr>
          <a:xfrm>
            <a:off x="749088" y="5327649"/>
            <a:ext cx="684160" cy="2794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Type 1 DM </a:t>
            </a:r>
            <a:pPr algn="ctr" indent="0" marL="0">
              <a:lnSpc>
                <a:spcPct val="120000"/>
              </a:lnSpc>
              <a:buNone/>
            </a:pPr>
            <a:r>
              <a:rPr lang="en-US" sz="672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autoimmune</a:t>
            </a:r>
            <a:endParaRPr lang="en-US" sz="768" dirty="0"/>
          </a:p>
        </p:txBody>
      </p:sp>
      <p:sp>
        <p:nvSpPr>
          <p:cNvPr id="21" name="Text 18"/>
          <p:cNvSpPr/>
          <p:nvPr/>
        </p:nvSpPr>
        <p:spPr>
          <a:xfrm>
            <a:off x="350520" y="5901849"/>
            <a:ext cx="1237456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β-cells destroyed → no insulin</a:t>
            </a:r>
            <a:endParaRPr lang="en-US" sz="542" dirty="0"/>
          </a:p>
        </p:txBody>
      </p:sp>
      <p:sp>
        <p:nvSpPr>
          <p:cNvPr id="22" name="Text 19"/>
          <p:cNvSpPr/>
          <p:nvPr/>
        </p:nvSpPr>
        <p:spPr>
          <a:xfrm>
            <a:off x="330147" y="6109069"/>
            <a:ext cx="1278149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GLUT-4 works but cells starve</a:t>
            </a:r>
            <a:endParaRPr lang="en-US" sz="562" dirty="0"/>
          </a:p>
        </p:txBody>
      </p:sp>
      <p:sp>
        <p:nvSpPr>
          <p:cNvPr id="23" name="Text 20"/>
          <p:cNvSpPr/>
          <p:nvPr/>
        </p:nvSpPr>
        <p:spPr>
          <a:xfrm>
            <a:off x="630608" y="6282268"/>
            <a:ext cx="677280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Crisis: DKA </a:t>
            </a:r>
            <a:pPr algn="ctr" indent="0" marL="0">
              <a:lnSpc>
                <a:spcPct val="120000"/>
              </a:lnSpc>
              <a:buNone/>
            </a:pPr>
            <a:r>
              <a:rPr lang="en-US" sz="45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diabetic ketoacidosis</a:t>
            </a:r>
            <a:endParaRPr lang="en-US" sz="768" dirty="0"/>
          </a:p>
        </p:txBody>
      </p:sp>
      <p:sp>
        <p:nvSpPr>
          <p:cNvPr id="24" name="Text 21"/>
          <p:cNvSpPr/>
          <p:nvPr/>
        </p:nvSpPr>
        <p:spPr>
          <a:xfrm>
            <a:off x="502973" y="6560183"/>
            <a:ext cx="932498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Blood sugar 700–900</a:t>
            </a:r>
            <a:endParaRPr lang="en-US" sz="562" dirty="0"/>
          </a:p>
        </p:txBody>
      </p:sp>
      <p:sp>
        <p:nvSpPr>
          <p:cNvPr id="25" name="Text 22"/>
          <p:cNvSpPr/>
          <p:nvPr/>
        </p:nvSpPr>
        <p:spPr>
          <a:xfrm>
            <a:off x="2519521" y="5331302"/>
            <a:ext cx="678974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2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Type 2 DM </a:t>
            </a:r>
            <a:pPr algn="ctr" indent="0" marL="0">
              <a:lnSpc>
                <a:spcPct val="120000"/>
              </a:lnSpc>
              <a:buNone/>
            </a:pPr>
            <a:r>
              <a:rPr lang="en-US" sz="547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insulin resistance</a:t>
            </a:r>
            <a:endParaRPr lang="en-US" sz="768" dirty="0"/>
          </a:p>
        </p:txBody>
      </p:sp>
      <p:sp>
        <p:nvSpPr>
          <p:cNvPr id="26" name="Text 23"/>
          <p:cNvSpPr/>
          <p:nvPr/>
        </p:nvSpPr>
        <p:spPr>
          <a:xfrm>
            <a:off x="2413000" y="5901849"/>
            <a:ext cx="891963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Insulin insensitivity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2362623" y="6109069"/>
            <a:ext cx="992717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GLUT-4 won't respond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2255467" y="6316347"/>
            <a:ext cx="1207029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Treat w/ metformin (early)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2402575" y="6489543"/>
            <a:ext cx="912865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Crisis: HHS </a:t>
            </a:r>
            <a:pPr algn="ctr" indent="0" marL="0">
              <a:lnSpc>
                <a:spcPct val="120000"/>
              </a:lnSpc>
              <a:buNone/>
            </a:pPr>
            <a:r>
              <a:rPr lang="en-US" sz="45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hyperosmolar hyperglycemic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87216" y="6797939"/>
            <a:ext cx="959168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see → Insulin (Transport)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2355056" y="6797939"/>
            <a:ext cx="959167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see → Insulin (Transport)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7487073" y="811690"/>
            <a:ext cx="985097" cy="1916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GLYCOLYSIS</a:t>
            </a:r>
            <a:endParaRPr lang="en-US" sz="1008" dirty="0"/>
          </a:p>
        </p:txBody>
      </p:sp>
      <p:sp>
        <p:nvSpPr>
          <p:cNvPr id="33" name="Text 30"/>
          <p:cNvSpPr/>
          <p:nvPr/>
        </p:nvSpPr>
        <p:spPr>
          <a:xfrm>
            <a:off x="7689374" y="1362761"/>
            <a:ext cx="531812" cy="1624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9282694" y="1301855"/>
            <a:ext cx="576051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5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Hexokinase </a:t>
            </a:r>
            <a:pPr algn="ctr" indent="0" marL="0">
              <a:lnSpc>
                <a:spcPct val="120000"/>
              </a:lnSpc>
              <a:buNone/>
            </a:pPr>
            <a:r>
              <a:rPr lang="en-US" sz="518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 → ADP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10388918" y="1372500"/>
            <a:ext cx="57033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IRREVERSIBLE</a:t>
            </a:r>
            <a:endParaRPr lang="en-US" sz="466" dirty="0"/>
          </a:p>
        </p:txBody>
      </p:sp>
      <p:sp>
        <p:nvSpPr>
          <p:cNvPr id="36" name="Text 33"/>
          <p:cNvSpPr/>
          <p:nvPr/>
        </p:nvSpPr>
        <p:spPr>
          <a:xfrm>
            <a:off x="7606189" y="1915053"/>
            <a:ext cx="698130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Glucose-6-P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9050920" y="1878490"/>
            <a:ext cx="1161521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Phosphoglucose isomerase</a:t>
            </a:r>
            <a:endParaRPr lang="en-US" sz="562" dirty="0"/>
          </a:p>
        </p:txBody>
      </p:sp>
      <p:sp>
        <p:nvSpPr>
          <p:cNvPr id="38" name="Text 35"/>
          <p:cNvSpPr/>
          <p:nvPr/>
        </p:nvSpPr>
        <p:spPr>
          <a:xfrm>
            <a:off x="7585604" y="2463694"/>
            <a:ext cx="739299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Fructose-6-P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9099921" y="2417392"/>
            <a:ext cx="1063466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43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PFK-1 ★ rate-limiting </a:t>
            </a:r>
            <a:pPr algn="ctr" indent="0" marL="0">
              <a:lnSpc>
                <a:spcPct val="120000"/>
              </a:lnSpc>
              <a:buNone/>
            </a:pPr>
            <a:r>
              <a:rPr lang="en-US" sz="552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 → ADP</a:t>
            </a:r>
            <a:endParaRPr lang="en-US" sz="768" dirty="0"/>
          </a:p>
        </p:txBody>
      </p:sp>
      <p:sp>
        <p:nvSpPr>
          <p:cNvPr id="40" name="Text 37"/>
          <p:cNvSpPr/>
          <p:nvPr/>
        </p:nvSpPr>
        <p:spPr>
          <a:xfrm>
            <a:off x="10388918" y="2469779"/>
            <a:ext cx="57033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IRREVERSIBLE</a:t>
            </a:r>
            <a:endParaRPr lang="en-US" sz="466" dirty="0"/>
          </a:p>
        </p:txBody>
      </p:sp>
      <p:sp>
        <p:nvSpPr>
          <p:cNvPr id="41" name="Text 38"/>
          <p:cNvSpPr/>
          <p:nvPr/>
        </p:nvSpPr>
        <p:spPr>
          <a:xfrm>
            <a:off x="7565602" y="3073294"/>
            <a:ext cx="779304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Fructose-1,6-BP</a:t>
            </a:r>
            <a:endParaRPr lang="en-US" sz="610" dirty="0"/>
          </a:p>
        </p:txBody>
      </p:sp>
      <p:sp>
        <p:nvSpPr>
          <p:cNvPr id="42" name="Text 39"/>
          <p:cNvSpPr/>
          <p:nvPr/>
        </p:nvSpPr>
        <p:spPr>
          <a:xfrm>
            <a:off x="9298517" y="3036729"/>
            <a:ext cx="483394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Aldolase</a:t>
            </a:r>
            <a:endParaRPr lang="en-US" sz="672" dirty="0"/>
          </a:p>
        </p:txBody>
      </p:sp>
      <p:sp>
        <p:nvSpPr>
          <p:cNvPr id="43" name="Text 40"/>
          <p:cNvSpPr/>
          <p:nvPr/>
        </p:nvSpPr>
        <p:spPr>
          <a:xfrm>
            <a:off x="7642649" y="3621935"/>
            <a:ext cx="625210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GAP (G3P)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7503901" y="3853551"/>
            <a:ext cx="108558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Aldolase splits → GAP + DHAP · ×2</a:t>
            </a:r>
            <a:endParaRPr lang="en-US" sz="408" dirty="0"/>
          </a:p>
        </p:txBody>
      </p:sp>
      <p:sp>
        <p:nvSpPr>
          <p:cNvPr id="45" name="Text 42"/>
          <p:cNvSpPr/>
          <p:nvPr/>
        </p:nvSpPr>
        <p:spPr>
          <a:xfrm>
            <a:off x="9214697" y="3557376"/>
            <a:ext cx="712047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5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GAPDH </a:t>
            </a:r>
            <a:pPr algn="ctr" indent="0" marL="0">
              <a:lnSpc>
                <a:spcPct val="120000"/>
              </a:lnSpc>
              <a:buNone/>
            </a:pPr>
            <a:r>
              <a:rPr lang="en-US" sz="518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NAD⁺ + Pi → NADH</a:t>
            </a:r>
            <a:endParaRPr lang="en-US" sz="768" dirty="0"/>
          </a:p>
        </p:txBody>
      </p:sp>
      <p:sp>
        <p:nvSpPr>
          <p:cNvPr id="46" name="Text 43"/>
          <p:cNvSpPr/>
          <p:nvPr/>
        </p:nvSpPr>
        <p:spPr>
          <a:xfrm>
            <a:off x="7708266" y="4292496"/>
            <a:ext cx="493977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1,3-BPG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9272323" y="4215712"/>
            <a:ext cx="718714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38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PG kinase → ATP </a:t>
            </a:r>
            <a:pPr algn="ctr" indent="0" marL="0">
              <a:lnSpc>
                <a:spcPct val="120000"/>
              </a:lnSpc>
              <a:buNone/>
            </a:pPr>
            <a:r>
              <a:rPr lang="en-US" sz="422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(substrate-level)</a:t>
            </a:r>
            <a:endParaRPr lang="en-US" sz="768" dirty="0"/>
          </a:p>
        </p:txBody>
      </p:sp>
      <p:sp>
        <p:nvSpPr>
          <p:cNvPr id="48" name="Text 45"/>
          <p:cNvSpPr/>
          <p:nvPr/>
        </p:nvSpPr>
        <p:spPr>
          <a:xfrm>
            <a:off x="7792138" y="4841135"/>
            <a:ext cx="326284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3-PG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9244489" y="4804570"/>
            <a:ext cx="591450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PG mutase</a:t>
            </a:r>
            <a:endParaRPr lang="en-US" sz="672" dirty="0"/>
          </a:p>
        </p:txBody>
      </p:sp>
      <p:sp>
        <p:nvSpPr>
          <p:cNvPr id="50" name="Text 47"/>
          <p:cNvSpPr/>
          <p:nvPr/>
        </p:nvSpPr>
        <p:spPr>
          <a:xfrm>
            <a:off x="7792138" y="5328814"/>
            <a:ext cx="326284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2-PG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9145799" y="5292249"/>
            <a:ext cx="788882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Enolase · −H₂O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7818913" y="5816496"/>
            <a:ext cx="272733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PEP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9186069" y="5751937"/>
            <a:ext cx="769250" cy="2720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5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Pyruvate kinase </a:t>
            </a:r>
            <a:pPr algn="ctr" indent="0" marL="0">
              <a:lnSpc>
                <a:spcPct val="120000"/>
              </a:lnSpc>
              <a:buNone/>
            </a:pPr>
            <a:r>
              <a:rPr lang="en-US" sz="518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→ ATP</a:t>
            </a:r>
            <a:endParaRPr lang="en-US" sz="768" dirty="0"/>
          </a:p>
        </p:txBody>
      </p:sp>
      <p:sp>
        <p:nvSpPr>
          <p:cNvPr id="54" name="Text 51"/>
          <p:cNvSpPr/>
          <p:nvPr/>
        </p:nvSpPr>
        <p:spPr>
          <a:xfrm>
            <a:off x="10388918" y="5822579"/>
            <a:ext cx="57033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IRREVERSIBLE</a:t>
            </a:r>
            <a:endParaRPr lang="en-US" sz="466" dirty="0"/>
          </a:p>
        </p:txBody>
      </p:sp>
      <p:sp>
        <p:nvSpPr>
          <p:cNvPr id="55" name="Text 52"/>
          <p:cNvSpPr/>
          <p:nvPr/>
        </p:nvSpPr>
        <p:spPr>
          <a:xfrm>
            <a:off x="7610634" y="6377306"/>
            <a:ext cx="811160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Pyruvate (×2)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6356403" y="6377306"/>
            <a:ext cx="454502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Lactate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6013238" y="6623633"/>
            <a:ext cx="1140831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Anaerobic → regenerates NAD⁺ </a:t>
            </a:r>
            <a:pPr algn="ctr" indent="0" marL="0">
              <a:lnSpc>
                <a:spcPct val="120000"/>
              </a:lnSpc>
              <a:buNone/>
            </a:pPr>
            <a:r>
              <a:rPr lang="en-US" sz="442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 O₂ → ETC off → lactate</a:t>
            </a:r>
            <a:endParaRPr lang="en-US" sz="768" dirty="0"/>
          </a:p>
        </p:txBody>
      </p:sp>
      <p:sp>
        <p:nvSpPr>
          <p:cNvPr id="58" name="Text 55"/>
          <p:cNvSpPr/>
          <p:nvPr/>
        </p:nvSpPr>
        <p:spPr>
          <a:xfrm>
            <a:off x="11306916" y="2225939"/>
            <a:ext cx="67283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PFK-1 Regulators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11410950" y="2421043"/>
            <a:ext cx="342848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8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 ⊝</a:t>
            </a:r>
            <a:endParaRPr lang="en-US" sz="638" dirty="0"/>
          </a:p>
        </p:txBody>
      </p:sp>
      <p:sp>
        <p:nvSpPr>
          <p:cNvPr id="60" name="Text 57"/>
          <p:cNvSpPr/>
          <p:nvPr/>
        </p:nvSpPr>
        <p:spPr>
          <a:xfrm>
            <a:off x="11367929" y="2616094"/>
            <a:ext cx="428942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6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Citrate ⊝</a:t>
            </a:r>
            <a:endParaRPr lang="en-US" sz="566" dirty="0"/>
          </a:p>
        </p:txBody>
      </p:sp>
      <p:sp>
        <p:nvSpPr>
          <p:cNvPr id="61" name="Text 58"/>
          <p:cNvSpPr/>
          <p:nvPr/>
        </p:nvSpPr>
        <p:spPr>
          <a:xfrm>
            <a:off x="11401478" y="2811147"/>
            <a:ext cx="361791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8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AMP ⊕</a:t>
            </a:r>
            <a:endParaRPr lang="en-US" sz="638" dirty="0"/>
          </a:p>
        </p:txBody>
      </p:sp>
      <p:sp>
        <p:nvSpPr>
          <p:cNvPr id="62" name="Text 59"/>
          <p:cNvSpPr/>
          <p:nvPr/>
        </p:nvSpPr>
        <p:spPr>
          <a:xfrm>
            <a:off x="11394758" y="3006249"/>
            <a:ext cx="497204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57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F-2,6-BP ⊕</a:t>
            </a:r>
            <a:endParaRPr lang="en-US" sz="557" dirty="0"/>
          </a:p>
        </p:txBody>
      </p:sp>
      <p:sp>
        <p:nvSpPr>
          <p:cNvPr id="63" name="Text 60"/>
          <p:cNvSpPr/>
          <p:nvPr/>
        </p:nvSpPr>
        <p:spPr>
          <a:xfrm>
            <a:off x="12440285" y="2525923"/>
            <a:ext cx="1198086" cy="5060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Bifunctional enzyme </a:t>
            </a:r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PFK-2 ↔ F-2,6-BPase </a:t>
            </a:r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↑ insulin → PFK-2 → glycolysis ↑ glucagon → BPase → GNG</a:t>
            </a:r>
            <a:endParaRPr lang="en-US" sz="768" dirty="0"/>
          </a:p>
        </p:txBody>
      </p:sp>
      <p:sp>
        <p:nvSpPr>
          <p:cNvPr id="64" name="Text 61"/>
          <p:cNvSpPr/>
          <p:nvPr/>
        </p:nvSpPr>
        <p:spPr>
          <a:xfrm>
            <a:off x="6841226" y="1311541"/>
            <a:ext cx="387085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INVESTMENT</a:t>
            </a:r>
            <a:endParaRPr lang="en-US" sz="331" dirty="0"/>
          </a:p>
        </p:txBody>
      </p:sp>
      <p:sp>
        <p:nvSpPr>
          <p:cNvPr id="65" name="Text 62"/>
          <p:cNvSpPr/>
          <p:nvPr/>
        </p:nvSpPr>
        <p:spPr>
          <a:xfrm>
            <a:off x="6862604" y="4237620"/>
            <a:ext cx="344276" cy="1550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PAYOFF</a:t>
            </a:r>
            <a:endParaRPr lang="en-US" sz="480" dirty="0"/>
          </a:p>
        </p:txBody>
      </p:sp>
      <p:sp>
        <p:nvSpPr>
          <p:cNvPr id="66" name="Text 63"/>
          <p:cNvSpPr/>
          <p:nvPr/>
        </p:nvSpPr>
        <p:spPr>
          <a:xfrm>
            <a:off x="7479242" y="6840643"/>
            <a:ext cx="1366520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NET: +2 ATP  +2 NADH  +2 pyruvate</a:t>
            </a:r>
            <a:endParaRPr lang="en-US" sz="494" dirty="0"/>
          </a:p>
        </p:txBody>
      </p:sp>
      <p:sp>
        <p:nvSpPr>
          <p:cNvPr id="67" name="Text 64"/>
          <p:cNvSpPr/>
          <p:nvPr/>
        </p:nvSpPr>
        <p:spPr>
          <a:xfrm>
            <a:off x="256011" y="7246620"/>
            <a:ext cx="401373" cy="1193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32" kern="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528" dirty="0"/>
          </a:p>
        </p:txBody>
      </p:sp>
      <p:sp>
        <p:nvSpPr>
          <p:cNvPr id="68" name="Text 65"/>
          <p:cNvSpPr/>
          <p:nvPr/>
        </p:nvSpPr>
        <p:spPr>
          <a:xfrm>
            <a:off x="792480" y="7246620"/>
            <a:ext cx="2618094" cy="1126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⬭ molecule ▭ concept ⬡ location ◆ disease ▱ enzyme ⬣ irreversible ┈┈ note</a:t>
            </a:r>
            <a:endParaRPr lang="en-US" sz="432" dirty="0"/>
          </a:p>
        </p:txBody>
      </p:sp>
      <p:sp>
        <p:nvSpPr>
          <p:cNvPr id="69" name="Text 66"/>
          <p:cNvSpPr/>
          <p:nvPr/>
        </p:nvSpPr>
        <p:spPr>
          <a:xfrm>
            <a:off x="792480" y="7368541"/>
            <a:ext cx="1768195" cy="10244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Blue = Transport Red = Diabetes Green = Glycolysis</a:t>
            </a:r>
            <a:endParaRPr lang="en-US" sz="4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1109679"/>
            <a:ext cx="18287810" cy="8068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15151" y="1131157"/>
            <a:ext cx="794910" cy="103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4" b="1" spc="34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BIOLOGY</a:t>
            </a:r>
            <a:endParaRPr lang="en-US" sz="42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109679"/>
            <a:ext cx="18287810" cy="8068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10079" y="1332347"/>
            <a:ext cx="1160031" cy="1735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8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IMMUNE SYSTEM</a:t>
            </a:r>
            <a:endParaRPr lang="en-US" sz="889" dirty="0"/>
          </a:p>
        </p:txBody>
      </p:sp>
      <p:sp>
        <p:nvSpPr>
          <p:cNvPr id="7" name="Text 4"/>
          <p:cNvSpPr/>
          <p:nvPr/>
        </p:nvSpPr>
        <p:spPr>
          <a:xfrm>
            <a:off x="2845844" y="1993953"/>
            <a:ext cx="1300663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INNATE IMMUNE SYSTEM</a:t>
            </a:r>
            <a:endParaRPr lang="en-US" sz="673" dirty="0"/>
          </a:p>
        </p:txBody>
      </p:sp>
      <p:sp>
        <p:nvSpPr>
          <p:cNvPr id="8" name="Text 5"/>
          <p:cNvSpPr/>
          <p:nvPr/>
        </p:nvSpPr>
        <p:spPr>
          <a:xfrm>
            <a:off x="2901826" y="2249539"/>
            <a:ext cx="1188699" cy="103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Always active · non-specific · no memory</a:t>
            </a:r>
            <a:endParaRPr lang="en-US" sz="381" dirty="0"/>
          </a:p>
        </p:txBody>
      </p:sp>
      <p:sp>
        <p:nvSpPr>
          <p:cNvPr id="9" name="Text 6"/>
          <p:cNvSpPr/>
          <p:nvPr/>
        </p:nvSpPr>
        <p:spPr>
          <a:xfrm>
            <a:off x="12257848" y="1993953"/>
            <a:ext cx="1302344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4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ADAPTIVE IMMUNE SYSTEM</a:t>
            </a:r>
            <a:endParaRPr lang="en-US" sz="614" dirty="0"/>
          </a:p>
        </p:txBody>
      </p:sp>
      <p:sp>
        <p:nvSpPr>
          <p:cNvPr id="10" name="Text 7"/>
          <p:cNvSpPr/>
          <p:nvPr/>
        </p:nvSpPr>
        <p:spPr>
          <a:xfrm>
            <a:off x="12456329" y="2249539"/>
            <a:ext cx="905381" cy="103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Specific · slower · has memory</a:t>
            </a:r>
            <a:endParaRPr lang="en-US" sz="381" dirty="0"/>
          </a:p>
        </p:txBody>
      </p:sp>
      <p:sp>
        <p:nvSpPr>
          <p:cNvPr id="11" name="Text 8"/>
          <p:cNvSpPr/>
          <p:nvPr/>
        </p:nvSpPr>
        <p:spPr>
          <a:xfrm>
            <a:off x="1426027" y="2833032"/>
            <a:ext cx="1235763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NONCELLULAR DEFENSES</a:t>
            </a:r>
            <a:endParaRPr lang="en-US" sz="635" dirty="0"/>
          </a:p>
        </p:txBody>
      </p:sp>
      <p:sp>
        <p:nvSpPr>
          <p:cNvPr id="12" name="Text 9"/>
          <p:cNvSpPr/>
          <p:nvPr/>
        </p:nvSpPr>
        <p:spPr>
          <a:xfrm>
            <a:off x="5468180" y="2833032"/>
            <a:ext cx="1219609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CELLS OF INNATE SYSTEM</a:t>
            </a:r>
            <a:endParaRPr lang="en-US" sz="610" dirty="0"/>
          </a:p>
        </p:txBody>
      </p:sp>
      <p:sp>
        <p:nvSpPr>
          <p:cNvPr id="13" name="Text 10"/>
          <p:cNvSpPr/>
          <p:nvPr/>
        </p:nvSpPr>
        <p:spPr>
          <a:xfrm>
            <a:off x="15278549" y="2829811"/>
            <a:ext cx="1177633" cy="1477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HUMORAL IMMUNITY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15464844" y="3058174"/>
            <a:ext cx="805042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Antibody-mediated (B-cells)</a:t>
            </a:r>
            <a:endParaRPr lang="en-US" sz="360" dirty="0"/>
          </a:p>
        </p:txBody>
      </p:sp>
      <p:sp>
        <p:nvSpPr>
          <p:cNvPr id="15" name="Text 12"/>
          <p:cNvSpPr/>
          <p:nvPr/>
        </p:nvSpPr>
        <p:spPr>
          <a:xfrm>
            <a:off x="9763817" y="2829811"/>
            <a:ext cx="911637" cy="1477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CELL-MEDIATED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9983030" y="3058174"/>
            <a:ext cx="473258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T-cell mediated</a:t>
            </a:r>
            <a:endParaRPr lang="en-US" sz="36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902" y="3487076"/>
            <a:ext cx="139839" cy="13983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0534" y="3505377"/>
            <a:ext cx="531948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8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Complement</a:t>
            </a:r>
            <a:endParaRPr lang="en-US" sz="508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5318" y="3487076"/>
            <a:ext cx="139839" cy="1398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93950" y="3453785"/>
            <a:ext cx="541519" cy="2445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Mucous Membranes</a:t>
            </a:r>
            <a:endParaRPr lang="en-US" sz="563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61604" y="3487076"/>
            <a:ext cx="139839" cy="1398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90236" y="3505377"/>
            <a:ext cx="270106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27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Skin</a:t>
            </a:r>
            <a:endParaRPr lang="en-US" sz="627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20234" y="3487076"/>
            <a:ext cx="139839" cy="13983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148867" y="3505377"/>
            <a:ext cx="258901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1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GI Tract</a:t>
            </a:r>
            <a:endParaRPr lang="en-US" sz="313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80499" y="3487076"/>
            <a:ext cx="139839" cy="13983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09131" y="3505377"/>
            <a:ext cx="405836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2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Interferons</a:t>
            </a:r>
            <a:endParaRPr lang="en-US" sz="402" dirty="0"/>
          </a:p>
        </p:txBody>
      </p:sp>
      <p:sp>
        <p:nvSpPr>
          <p:cNvPr id="27" name="Text 19"/>
          <p:cNvSpPr/>
          <p:nvPr/>
        </p:nvSpPr>
        <p:spPr>
          <a:xfrm>
            <a:off x="247414" y="3810177"/>
            <a:ext cx="489880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Plasma proteins</a:t>
            </a:r>
            <a:endParaRPr lang="en-US" sz="360" dirty="0"/>
          </a:p>
        </p:txBody>
      </p:sp>
      <p:sp>
        <p:nvSpPr>
          <p:cNvPr id="28" name="Text 20"/>
          <p:cNvSpPr/>
          <p:nvPr/>
        </p:nvSpPr>
        <p:spPr>
          <a:xfrm>
            <a:off x="247414" y="3871854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29" name="Text 21"/>
          <p:cNvSpPr/>
          <p:nvPr/>
        </p:nvSpPr>
        <p:spPr>
          <a:xfrm>
            <a:off x="287008" y="3871854"/>
            <a:ext cx="552959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enhance phagocytosis</a:t>
            </a:r>
            <a:endParaRPr lang="en-US" sz="339" dirty="0"/>
          </a:p>
        </p:txBody>
      </p:sp>
      <p:sp>
        <p:nvSpPr>
          <p:cNvPr id="30" name="Text 22"/>
          <p:cNvSpPr/>
          <p:nvPr/>
        </p:nvSpPr>
        <p:spPr>
          <a:xfrm>
            <a:off x="247414" y="3929937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31" name="Text 23"/>
          <p:cNvSpPr/>
          <p:nvPr/>
        </p:nvSpPr>
        <p:spPr>
          <a:xfrm>
            <a:off x="287008" y="3929937"/>
            <a:ext cx="401728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lyse pathogens</a:t>
            </a:r>
            <a:endParaRPr lang="en-US" sz="339" dirty="0"/>
          </a:p>
        </p:txBody>
      </p:sp>
      <p:sp>
        <p:nvSpPr>
          <p:cNvPr id="32" name="Text 24"/>
          <p:cNvSpPr/>
          <p:nvPr/>
        </p:nvSpPr>
        <p:spPr>
          <a:xfrm>
            <a:off x="247414" y="3988019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33" name="Text 25"/>
          <p:cNvSpPr/>
          <p:nvPr/>
        </p:nvSpPr>
        <p:spPr>
          <a:xfrm>
            <a:off x="287008" y="3988019"/>
            <a:ext cx="519575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trigger inflammation</a:t>
            </a:r>
            <a:endParaRPr lang="en-US" sz="339" dirty="0"/>
          </a:p>
        </p:txBody>
      </p:sp>
      <p:sp>
        <p:nvSpPr>
          <p:cNvPr id="34" name="Text 26"/>
          <p:cNvSpPr/>
          <p:nvPr/>
        </p:nvSpPr>
        <p:spPr>
          <a:xfrm>
            <a:off x="1215592" y="3798317"/>
            <a:ext cx="567246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Lysozymes in tears</a:t>
            </a:r>
            <a:endParaRPr lang="en-US" sz="360" dirty="0"/>
          </a:p>
        </p:txBody>
      </p:sp>
      <p:sp>
        <p:nvSpPr>
          <p:cNvPr id="35" name="Text 27"/>
          <p:cNvSpPr/>
          <p:nvPr/>
        </p:nvSpPr>
        <p:spPr>
          <a:xfrm>
            <a:off x="1215592" y="385999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36" name="Text 28"/>
          <p:cNvSpPr/>
          <p:nvPr/>
        </p:nvSpPr>
        <p:spPr>
          <a:xfrm>
            <a:off x="1255186" y="3859995"/>
            <a:ext cx="591759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saliva · nasal secretions</a:t>
            </a:r>
            <a:endParaRPr lang="en-US" sz="339" dirty="0"/>
          </a:p>
        </p:txBody>
      </p:sp>
      <p:sp>
        <p:nvSpPr>
          <p:cNvPr id="37" name="Text 29"/>
          <p:cNvSpPr/>
          <p:nvPr/>
        </p:nvSpPr>
        <p:spPr>
          <a:xfrm>
            <a:off x="2183770" y="3798317"/>
            <a:ext cx="479934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Physical barrier</a:t>
            </a:r>
            <a:endParaRPr lang="en-US" sz="360" dirty="0"/>
          </a:p>
        </p:txBody>
      </p:sp>
      <p:sp>
        <p:nvSpPr>
          <p:cNvPr id="38" name="Text 30"/>
          <p:cNvSpPr/>
          <p:nvPr/>
        </p:nvSpPr>
        <p:spPr>
          <a:xfrm>
            <a:off x="2183770" y="385999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39" name="Text 31"/>
          <p:cNvSpPr/>
          <p:nvPr/>
        </p:nvSpPr>
        <p:spPr>
          <a:xfrm>
            <a:off x="2223364" y="3859995"/>
            <a:ext cx="443562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acidic pH · sweat</a:t>
            </a:r>
            <a:endParaRPr lang="en-US" sz="339" dirty="0"/>
          </a:p>
        </p:txBody>
      </p:sp>
      <p:sp>
        <p:nvSpPr>
          <p:cNvPr id="40" name="Text 32"/>
          <p:cNvSpPr/>
          <p:nvPr/>
        </p:nvSpPr>
        <p:spPr>
          <a:xfrm>
            <a:off x="2936798" y="3798317"/>
            <a:ext cx="419750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Stomach acid</a:t>
            </a:r>
            <a:endParaRPr lang="en-US" sz="360" dirty="0"/>
          </a:p>
        </p:txBody>
      </p:sp>
      <p:sp>
        <p:nvSpPr>
          <p:cNvPr id="41" name="Text 33"/>
          <p:cNvSpPr/>
          <p:nvPr/>
        </p:nvSpPr>
        <p:spPr>
          <a:xfrm>
            <a:off x="2936798" y="385999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42" name="Text 34"/>
          <p:cNvSpPr/>
          <p:nvPr/>
        </p:nvSpPr>
        <p:spPr>
          <a:xfrm>
            <a:off x="2976392" y="3859995"/>
            <a:ext cx="532602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low pH kills microbes</a:t>
            </a:r>
            <a:endParaRPr lang="en-US" sz="339" dirty="0"/>
          </a:p>
        </p:txBody>
      </p:sp>
      <p:sp>
        <p:nvSpPr>
          <p:cNvPr id="43" name="Text 35"/>
          <p:cNvSpPr/>
          <p:nvPr/>
        </p:nvSpPr>
        <p:spPr>
          <a:xfrm>
            <a:off x="3635570" y="3808728"/>
            <a:ext cx="786225" cy="212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Cytokines from infected cells prevent viral replication in neighboring cells</a:t>
            </a:r>
            <a:endParaRPr lang="en-US" sz="339" dirty="0"/>
          </a:p>
        </p:txBody>
      </p:sp>
      <p:sp>
        <p:nvSpPr>
          <p:cNvPr id="44" name="Text 36"/>
          <p:cNvSpPr/>
          <p:nvPr/>
        </p:nvSpPr>
        <p:spPr>
          <a:xfrm>
            <a:off x="315068" y="4328347"/>
            <a:ext cx="596148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7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Classical Pathway</a:t>
            </a:r>
            <a:endParaRPr lang="en-US" sz="407" dirty="0"/>
          </a:p>
        </p:txBody>
      </p:sp>
      <p:sp>
        <p:nvSpPr>
          <p:cNvPr id="45" name="Text 37"/>
          <p:cNvSpPr/>
          <p:nvPr/>
        </p:nvSpPr>
        <p:spPr>
          <a:xfrm>
            <a:off x="247414" y="4540558"/>
            <a:ext cx="542687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Requires antibody</a:t>
            </a:r>
            <a:endParaRPr lang="en-US" sz="360" dirty="0"/>
          </a:p>
        </p:txBody>
      </p:sp>
      <p:sp>
        <p:nvSpPr>
          <p:cNvPr id="46" name="Text 38"/>
          <p:cNvSpPr/>
          <p:nvPr/>
        </p:nvSpPr>
        <p:spPr>
          <a:xfrm>
            <a:off x="247414" y="4602235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47" name="Text 39"/>
          <p:cNvSpPr/>
          <p:nvPr/>
        </p:nvSpPr>
        <p:spPr>
          <a:xfrm>
            <a:off x="287008" y="4602235"/>
            <a:ext cx="445243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bound to antigen</a:t>
            </a:r>
            <a:endParaRPr lang="en-US" sz="339" dirty="0"/>
          </a:p>
        </p:txBody>
      </p:sp>
      <p:sp>
        <p:nvSpPr>
          <p:cNvPr id="48" name="Text 40"/>
          <p:cNvSpPr/>
          <p:nvPr/>
        </p:nvSpPr>
        <p:spPr>
          <a:xfrm>
            <a:off x="1278718" y="4328347"/>
            <a:ext cx="605206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4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Alternative Pathway</a:t>
            </a:r>
            <a:endParaRPr lang="en-US" sz="364" dirty="0"/>
          </a:p>
        </p:txBody>
      </p:sp>
      <p:sp>
        <p:nvSpPr>
          <p:cNvPr id="49" name="Text 41"/>
          <p:cNvSpPr/>
          <p:nvPr/>
        </p:nvSpPr>
        <p:spPr>
          <a:xfrm>
            <a:off x="1271247" y="4542704"/>
            <a:ext cx="620193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 antibody required</a:t>
            </a:r>
            <a:endParaRPr lang="en-US" sz="36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80753" y="3476337"/>
            <a:ext cx="139839" cy="139839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909386" y="3494640"/>
            <a:ext cx="675195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Macrophages</a:t>
            </a:r>
            <a:endParaRPr lang="en-US" sz="635" dirty="0"/>
          </a:p>
        </p:txBody>
      </p:sp>
      <p:sp>
        <p:nvSpPr>
          <p:cNvPr id="52" name="Text 43"/>
          <p:cNvSpPr/>
          <p:nvPr/>
        </p:nvSpPr>
        <p:spPr>
          <a:xfrm>
            <a:off x="4765579" y="3734863"/>
            <a:ext cx="356018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Phagocytic</a:t>
            </a:r>
            <a:endParaRPr lang="en-US" sz="360" dirty="0"/>
          </a:p>
        </p:txBody>
      </p:sp>
      <p:sp>
        <p:nvSpPr>
          <p:cNvPr id="53" name="Text 44"/>
          <p:cNvSpPr/>
          <p:nvPr/>
        </p:nvSpPr>
        <p:spPr>
          <a:xfrm>
            <a:off x="4765579" y="3796540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54" name="Text 45"/>
          <p:cNvSpPr/>
          <p:nvPr/>
        </p:nvSpPr>
        <p:spPr>
          <a:xfrm>
            <a:off x="4805173" y="3796540"/>
            <a:ext cx="608427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engulf + display on MHC</a:t>
            </a:r>
            <a:endParaRPr lang="en-US" sz="339" dirty="0"/>
          </a:p>
        </p:txBody>
      </p:sp>
      <p:sp>
        <p:nvSpPr>
          <p:cNvPr id="55" name="Text 46"/>
          <p:cNvSpPr/>
          <p:nvPr/>
        </p:nvSpPr>
        <p:spPr>
          <a:xfrm>
            <a:off x="4765579" y="385462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56" name="Text 47"/>
          <p:cNvSpPr/>
          <p:nvPr/>
        </p:nvSpPr>
        <p:spPr>
          <a:xfrm>
            <a:off x="4805173" y="3854625"/>
            <a:ext cx="450192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release cytokines</a:t>
            </a:r>
            <a:endParaRPr lang="en-US" sz="339" dirty="0"/>
          </a:p>
        </p:txBody>
      </p:sp>
      <p:sp>
        <p:nvSpPr>
          <p:cNvPr id="57" name="Text 48"/>
          <p:cNvSpPr/>
          <p:nvPr/>
        </p:nvSpPr>
        <p:spPr>
          <a:xfrm>
            <a:off x="4765579" y="3912708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58" name="Text 49"/>
          <p:cNvSpPr/>
          <p:nvPr/>
        </p:nvSpPr>
        <p:spPr>
          <a:xfrm>
            <a:off x="4805173" y="3912708"/>
            <a:ext cx="572942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antigen-presenting cell</a:t>
            </a:r>
            <a:endParaRPr lang="en-US" sz="339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06185" y="3476337"/>
            <a:ext cx="139839" cy="139839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034818" y="3442999"/>
            <a:ext cx="511264" cy="2445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7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Natural Killer Cells</a:t>
            </a:r>
            <a:endParaRPr lang="en-US" sz="457" dirty="0"/>
          </a:p>
        </p:txBody>
      </p:sp>
      <p:sp>
        <p:nvSpPr>
          <p:cNvPr id="61" name="Text 51"/>
          <p:cNvSpPr/>
          <p:nvPr/>
        </p:nvSpPr>
        <p:spPr>
          <a:xfrm>
            <a:off x="5841332" y="3747750"/>
            <a:ext cx="714275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Kill infected/cancer cells</a:t>
            </a:r>
            <a:endParaRPr lang="en-US" sz="360" dirty="0"/>
          </a:p>
        </p:txBody>
      </p:sp>
      <p:sp>
        <p:nvSpPr>
          <p:cNvPr id="62" name="Text 52"/>
          <p:cNvSpPr/>
          <p:nvPr/>
        </p:nvSpPr>
        <p:spPr>
          <a:xfrm>
            <a:off x="5841332" y="3809428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63" name="Text 53"/>
          <p:cNvSpPr/>
          <p:nvPr/>
        </p:nvSpPr>
        <p:spPr>
          <a:xfrm>
            <a:off x="5880926" y="3809428"/>
            <a:ext cx="546609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perforin + granzymes</a:t>
            </a:r>
            <a:endParaRPr lang="en-US" sz="339" dirty="0"/>
          </a:p>
        </p:txBody>
      </p:sp>
      <p:sp>
        <p:nvSpPr>
          <p:cNvPr id="64" name="Text 54"/>
          <p:cNvSpPr/>
          <p:nvPr/>
        </p:nvSpPr>
        <p:spPr>
          <a:xfrm>
            <a:off x="5841332" y="3867510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65" name="Text 55"/>
          <p:cNvSpPr/>
          <p:nvPr/>
        </p:nvSpPr>
        <p:spPr>
          <a:xfrm>
            <a:off x="5880926" y="3867510"/>
            <a:ext cx="605112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innate (no MHC needed)</a:t>
            </a:r>
            <a:endParaRPr lang="en-US" sz="339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60882" y="3465598"/>
            <a:ext cx="129053" cy="129054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7078729" y="3478485"/>
            <a:ext cx="671740" cy="1413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Granulocytes</a:t>
            </a:r>
            <a:endParaRPr lang="en-US" sz="635" dirty="0"/>
          </a:p>
        </p:txBody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14088" y="4057215"/>
            <a:ext cx="139838" cy="139839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542720" y="4075519"/>
            <a:ext cx="463593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Neutrophils</a:t>
            </a:r>
            <a:endParaRPr lang="en-US" sz="466" dirty="0"/>
          </a:p>
        </p:txBody>
      </p:sp>
      <p:sp>
        <p:nvSpPr>
          <p:cNvPr id="70" name="Text 58"/>
          <p:cNvSpPr/>
          <p:nvPr/>
        </p:nvSpPr>
        <p:spPr>
          <a:xfrm>
            <a:off x="6379209" y="4317890"/>
            <a:ext cx="495950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First responders</a:t>
            </a:r>
            <a:endParaRPr lang="en-US" sz="360" dirty="0"/>
          </a:p>
        </p:txBody>
      </p:sp>
      <p:sp>
        <p:nvSpPr>
          <p:cNvPr id="71" name="Text 59"/>
          <p:cNvSpPr/>
          <p:nvPr/>
        </p:nvSpPr>
        <p:spPr>
          <a:xfrm>
            <a:off x="6379209" y="4379568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72" name="Text 60"/>
          <p:cNvSpPr/>
          <p:nvPr/>
        </p:nvSpPr>
        <p:spPr>
          <a:xfrm>
            <a:off x="6418803" y="4379568"/>
            <a:ext cx="519855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most abundant WBC</a:t>
            </a:r>
            <a:endParaRPr lang="en-US" sz="339" dirty="0"/>
          </a:p>
        </p:txBody>
      </p:sp>
      <p:sp>
        <p:nvSpPr>
          <p:cNvPr id="73" name="Text 61"/>
          <p:cNvSpPr/>
          <p:nvPr/>
        </p:nvSpPr>
        <p:spPr>
          <a:xfrm>
            <a:off x="6379209" y="4437652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74" name="Text 62"/>
          <p:cNvSpPr/>
          <p:nvPr/>
        </p:nvSpPr>
        <p:spPr>
          <a:xfrm>
            <a:off x="6418803" y="4437652"/>
            <a:ext cx="308113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phagocytic</a:t>
            </a:r>
            <a:endParaRPr lang="en-US" sz="339" dirty="0"/>
          </a:p>
        </p:txBody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270208" y="4057215"/>
            <a:ext cx="139838" cy="139839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7398840" y="4075519"/>
            <a:ext cx="418816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Basophils</a:t>
            </a:r>
            <a:endParaRPr lang="en-US" sz="500" dirty="0"/>
          </a:p>
        </p:txBody>
      </p:sp>
      <p:sp>
        <p:nvSpPr>
          <p:cNvPr id="77" name="Text 64"/>
          <p:cNvSpPr/>
          <p:nvPr/>
        </p:nvSpPr>
        <p:spPr>
          <a:xfrm>
            <a:off x="7239812" y="4296366"/>
            <a:ext cx="486238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Inflammatory +</a:t>
            </a:r>
            <a:endParaRPr lang="en-US" sz="360" dirty="0"/>
          </a:p>
        </p:txBody>
      </p:sp>
      <p:sp>
        <p:nvSpPr>
          <p:cNvPr id="78" name="Text 65"/>
          <p:cNvSpPr/>
          <p:nvPr/>
        </p:nvSpPr>
        <p:spPr>
          <a:xfrm>
            <a:off x="7239812" y="435804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79" name="Text 66"/>
          <p:cNvSpPr/>
          <p:nvPr/>
        </p:nvSpPr>
        <p:spPr>
          <a:xfrm>
            <a:off x="7279406" y="4358043"/>
            <a:ext cx="440481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allergic response</a:t>
            </a:r>
            <a:endParaRPr lang="en-US" sz="339" dirty="0"/>
          </a:p>
        </p:txBody>
      </p:sp>
      <p:sp>
        <p:nvSpPr>
          <p:cNvPr id="80" name="Text 67"/>
          <p:cNvSpPr/>
          <p:nvPr/>
        </p:nvSpPr>
        <p:spPr>
          <a:xfrm>
            <a:off x="7239812" y="4416128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81" name="Text 68"/>
          <p:cNvSpPr/>
          <p:nvPr/>
        </p:nvSpPr>
        <p:spPr>
          <a:xfrm>
            <a:off x="7279406" y="4416128"/>
            <a:ext cx="457476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release histamine</a:t>
            </a:r>
            <a:endParaRPr lang="en-US" sz="339" dirty="0"/>
          </a:p>
        </p:txBody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86222" y="4057215"/>
            <a:ext cx="139838" cy="139839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>
            <a:off x="8214853" y="4075519"/>
            <a:ext cx="454208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Eosinophils</a:t>
            </a:r>
            <a:endParaRPr lang="en-US" sz="466" dirty="0"/>
          </a:p>
        </p:txBody>
      </p:sp>
      <p:sp>
        <p:nvSpPr>
          <p:cNvPr id="84" name="Text 70"/>
          <p:cNvSpPr/>
          <p:nvPr/>
        </p:nvSpPr>
        <p:spPr>
          <a:xfrm>
            <a:off x="8046627" y="4296366"/>
            <a:ext cx="424325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Anti-parasitic</a:t>
            </a:r>
            <a:endParaRPr lang="en-US" sz="360" dirty="0"/>
          </a:p>
        </p:txBody>
      </p:sp>
      <p:sp>
        <p:nvSpPr>
          <p:cNvPr id="85" name="Text 71"/>
          <p:cNvSpPr/>
          <p:nvPr/>
        </p:nvSpPr>
        <p:spPr>
          <a:xfrm>
            <a:off x="8046627" y="435804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86" name="Text 72"/>
          <p:cNvSpPr/>
          <p:nvPr/>
        </p:nvSpPr>
        <p:spPr>
          <a:xfrm>
            <a:off x="8086222" y="4358043"/>
            <a:ext cx="440481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allergic response</a:t>
            </a:r>
            <a:endParaRPr lang="en-US" sz="339" dirty="0"/>
          </a:p>
        </p:txBody>
      </p:sp>
      <p:sp>
        <p:nvSpPr>
          <p:cNvPr id="87" name="Text 73"/>
          <p:cNvSpPr/>
          <p:nvPr/>
        </p:nvSpPr>
        <p:spPr>
          <a:xfrm>
            <a:off x="8046627" y="4416128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88" name="Text 74"/>
          <p:cNvSpPr/>
          <p:nvPr/>
        </p:nvSpPr>
        <p:spPr>
          <a:xfrm>
            <a:off x="8086222" y="4416128"/>
            <a:ext cx="408824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granule release</a:t>
            </a:r>
            <a:endParaRPr lang="en-US" sz="339" dirty="0"/>
          </a:p>
        </p:txBody>
      </p:sp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79820" y="4379942"/>
            <a:ext cx="107575" cy="107575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4876189" y="4382135"/>
            <a:ext cx="655538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 Complex</a:t>
            </a:r>
            <a:endParaRPr lang="en-US" sz="593" dirty="0"/>
          </a:p>
        </p:txBody>
      </p:sp>
      <p:sp>
        <p:nvSpPr>
          <p:cNvPr id="91" name="Text 76"/>
          <p:cNvSpPr/>
          <p:nvPr/>
        </p:nvSpPr>
        <p:spPr>
          <a:xfrm>
            <a:off x="4770294" y="4723116"/>
            <a:ext cx="399346" cy="1477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MHC-I</a:t>
            </a:r>
            <a:endParaRPr lang="en-US" sz="720" dirty="0"/>
          </a:p>
        </p:txBody>
      </p:sp>
      <p:sp>
        <p:nvSpPr>
          <p:cNvPr id="92" name="Text 77"/>
          <p:cNvSpPr/>
          <p:nvPr/>
        </p:nvSpPr>
        <p:spPr>
          <a:xfrm>
            <a:off x="4550428" y="4971980"/>
            <a:ext cx="541286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All nucleated cells</a:t>
            </a:r>
            <a:endParaRPr lang="en-US" sz="360" dirty="0"/>
          </a:p>
        </p:txBody>
      </p:sp>
      <p:sp>
        <p:nvSpPr>
          <p:cNvPr id="93" name="Text 78"/>
          <p:cNvSpPr/>
          <p:nvPr/>
        </p:nvSpPr>
        <p:spPr>
          <a:xfrm>
            <a:off x="4550428" y="5033660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94" name="Text 79"/>
          <p:cNvSpPr/>
          <p:nvPr/>
        </p:nvSpPr>
        <p:spPr>
          <a:xfrm>
            <a:off x="4597166" y="5033660"/>
            <a:ext cx="592833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endogenous pathway</a:t>
            </a:r>
            <a:endParaRPr lang="en-US" sz="339" dirty="0"/>
          </a:p>
        </p:txBody>
      </p:sp>
      <p:sp>
        <p:nvSpPr>
          <p:cNvPr id="95" name="Text 80"/>
          <p:cNvSpPr/>
          <p:nvPr/>
        </p:nvSpPr>
        <p:spPr>
          <a:xfrm>
            <a:off x="4550428" y="5091740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96" name="Text 81"/>
          <p:cNvSpPr/>
          <p:nvPr/>
        </p:nvSpPr>
        <p:spPr>
          <a:xfrm>
            <a:off x="4590022" y="5091740"/>
            <a:ext cx="588864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(antigens from INSIDE)</a:t>
            </a:r>
            <a:endParaRPr lang="en-US" sz="339" dirty="0"/>
          </a:p>
        </p:txBody>
      </p:sp>
      <p:sp>
        <p:nvSpPr>
          <p:cNvPr id="97" name="Text 82"/>
          <p:cNvSpPr/>
          <p:nvPr/>
        </p:nvSpPr>
        <p:spPr>
          <a:xfrm>
            <a:off x="4550428" y="514982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98" name="Text 83"/>
          <p:cNvSpPr/>
          <p:nvPr/>
        </p:nvSpPr>
        <p:spPr>
          <a:xfrm>
            <a:off x="4597166" y="5149825"/>
            <a:ext cx="479374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presents to CD8⁺</a:t>
            </a:r>
            <a:endParaRPr lang="en-US" sz="339" dirty="0"/>
          </a:p>
        </p:txBody>
      </p:sp>
      <p:sp>
        <p:nvSpPr>
          <p:cNvPr id="99" name="Text 84"/>
          <p:cNvSpPr/>
          <p:nvPr/>
        </p:nvSpPr>
        <p:spPr>
          <a:xfrm>
            <a:off x="5821115" y="4723116"/>
            <a:ext cx="449212" cy="1477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MHC-II</a:t>
            </a:r>
            <a:endParaRPr lang="en-US" sz="720" dirty="0"/>
          </a:p>
        </p:txBody>
      </p:sp>
      <p:sp>
        <p:nvSpPr>
          <p:cNvPr id="100" name="Text 85"/>
          <p:cNvSpPr/>
          <p:nvPr/>
        </p:nvSpPr>
        <p:spPr>
          <a:xfrm>
            <a:off x="5626182" y="4964462"/>
            <a:ext cx="330244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APCs only</a:t>
            </a:r>
            <a:endParaRPr lang="en-US" sz="360" dirty="0"/>
          </a:p>
        </p:txBody>
      </p:sp>
      <p:sp>
        <p:nvSpPr>
          <p:cNvPr id="101" name="Text 86"/>
          <p:cNvSpPr/>
          <p:nvPr/>
        </p:nvSpPr>
        <p:spPr>
          <a:xfrm>
            <a:off x="5626182" y="5026140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02" name="Text 87"/>
          <p:cNvSpPr/>
          <p:nvPr/>
        </p:nvSpPr>
        <p:spPr>
          <a:xfrm>
            <a:off x="5672919" y="5026140"/>
            <a:ext cx="560849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exogenous pathway</a:t>
            </a:r>
            <a:endParaRPr lang="en-US" sz="339" dirty="0"/>
          </a:p>
        </p:txBody>
      </p:sp>
      <p:sp>
        <p:nvSpPr>
          <p:cNvPr id="103" name="Text 88"/>
          <p:cNvSpPr/>
          <p:nvPr/>
        </p:nvSpPr>
        <p:spPr>
          <a:xfrm>
            <a:off x="5626182" y="508422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04" name="Text 89"/>
          <p:cNvSpPr/>
          <p:nvPr/>
        </p:nvSpPr>
        <p:spPr>
          <a:xfrm>
            <a:off x="5665775" y="5084225"/>
            <a:ext cx="630465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(antigens from OUTSIDE)</a:t>
            </a:r>
            <a:endParaRPr lang="en-US" sz="339" dirty="0"/>
          </a:p>
        </p:txBody>
      </p:sp>
      <p:sp>
        <p:nvSpPr>
          <p:cNvPr id="105" name="Text 90"/>
          <p:cNvSpPr/>
          <p:nvPr/>
        </p:nvSpPr>
        <p:spPr>
          <a:xfrm>
            <a:off x="5626182" y="5142307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06" name="Text 91"/>
          <p:cNvSpPr/>
          <p:nvPr/>
        </p:nvSpPr>
        <p:spPr>
          <a:xfrm>
            <a:off x="5672919" y="5142307"/>
            <a:ext cx="479374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presents to CD4⁺</a:t>
            </a:r>
            <a:endParaRPr lang="en-US" sz="339" dirty="0"/>
          </a:p>
        </p:txBody>
      </p:sp>
      <p:sp>
        <p:nvSpPr>
          <p:cNvPr id="107" name="Text 92"/>
          <p:cNvSpPr/>
          <p:nvPr/>
        </p:nvSpPr>
        <p:spPr>
          <a:xfrm>
            <a:off x="5626182" y="5200390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08" name="Text 93"/>
          <p:cNvSpPr/>
          <p:nvPr/>
        </p:nvSpPr>
        <p:spPr>
          <a:xfrm>
            <a:off x="5665775" y="5200390"/>
            <a:ext cx="40607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i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(helper T-cells)</a:t>
            </a:r>
            <a:endParaRPr lang="en-US" sz="339" dirty="0"/>
          </a:p>
        </p:txBody>
      </p:sp>
      <p:sp>
        <p:nvSpPr>
          <p:cNvPr id="109" name="Text 94"/>
          <p:cNvSpPr/>
          <p:nvPr/>
        </p:nvSpPr>
        <p:spPr>
          <a:xfrm>
            <a:off x="15461530" y="3467746"/>
            <a:ext cx="811672" cy="1413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Antigen Exposure</a:t>
            </a:r>
            <a:endParaRPr lang="en-US" sz="584" dirty="0"/>
          </a:p>
        </p:txBody>
      </p:sp>
      <p:sp>
        <p:nvSpPr>
          <p:cNvPr id="110" name="Text 95"/>
          <p:cNvSpPr/>
          <p:nvPr/>
        </p:nvSpPr>
        <p:spPr>
          <a:xfrm>
            <a:off x="15535720" y="3898046"/>
            <a:ext cx="663243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Lymphoblasts</a:t>
            </a:r>
            <a:endParaRPr lang="en-US" sz="593" dirty="0"/>
          </a:p>
        </p:txBody>
      </p:sp>
      <p:sp>
        <p:nvSpPr>
          <p:cNvPr id="111" name="Text 96"/>
          <p:cNvSpPr/>
          <p:nvPr/>
        </p:nvSpPr>
        <p:spPr>
          <a:xfrm>
            <a:off x="15671636" y="4349828"/>
            <a:ext cx="391363" cy="1413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5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B-Cells</a:t>
            </a:r>
            <a:endParaRPr lang="en-US" sz="635" dirty="0"/>
          </a:p>
        </p:txBody>
      </p:sp>
      <p:sp>
        <p:nvSpPr>
          <p:cNvPr id="112" name="Text 97"/>
          <p:cNvSpPr/>
          <p:nvPr/>
        </p:nvSpPr>
        <p:spPr>
          <a:xfrm>
            <a:off x="15580123" y="4812436"/>
            <a:ext cx="574437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Clonal B-Cells</a:t>
            </a:r>
            <a:endParaRPr lang="en-US" sz="508" dirty="0"/>
          </a:p>
        </p:txBody>
      </p:sp>
      <p:sp>
        <p:nvSpPr>
          <p:cNvPr id="113" name="Text 98"/>
          <p:cNvSpPr/>
          <p:nvPr/>
        </p:nvSpPr>
        <p:spPr>
          <a:xfrm>
            <a:off x="15132780" y="5318003"/>
            <a:ext cx="608474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Plasma Cells</a:t>
            </a:r>
            <a:endParaRPr lang="en-US" sz="593" dirty="0"/>
          </a:p>
        </p:txBody>
      </p:sp>
      <p:sp>
        <p:nvSpPr>
          <p:cNvPr id="114" name="Text 99"/>
          <p:cNvSpPr/>
          <p:nvPr/>
        </p:nvSpPr>
        <p:spPr>
          <a:xfrm>
            <a:off x="15071289" y="5544266"/>
            <a:ext cx="553566" cy="99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Secrete antibodies</a:t>
            </a:r>
            <a:endParaRPr lang="en-US" sz="360" dirty="0"/>
          </a:p>
        </p:txBody>
      </p:sp>
      <p:sp>
        <p:nvSpPr>
          <p:cNvPr id="115" name="Text 100"/>
          <p:cNvSpPr/>
          <p:nvPr/>
        </p:nvSpPr>
        <p:spPr>
          <a:xfrm>
            <a:off x="15071289" y="5605946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16" name="Text 101"/>
          <p:cNvSpPr/>
          <p:nvPr/>
        </p:nvSpPr>
        <p:spPr>
          <a:xfrm>
            <a:off x="15110882" y="5605946"/>
            <a:ext cx="350836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effector cells</a:t>
            </a:r>
            <a:endParaRPr lang="en-US" sz="339" dirty="0"/>
          </a:p>
        </p:txBody>
      </p:sp>
      <p:sp>
        <p:nvSpPr>
          <p:cNvPr id="117" name="Text 102"/>
          <p:cNvSpPr/>
          <p:nvPr/>
        </p:nvSpPr>
        <p:spPr>
          <a:xfrm>
            <a:off x="15071289" y="5664029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18" name="Text 103"/>
          <p:cNvSpPr/>
          <p:nvPr/>
        </p:nvSpPr>
        <p:spPr>
          <a:xfrm>
            <a:off x="15110882" y="5664029"/>
            <a:ext cx="307133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short-lived</a:t>
            </a:r>
            <a:endParaRPr lang="en-US" sz="339" dirty="0"/>
          </a:p>
        </p:txBody>
      </p:sp>
      <p:sp>
        <p:nvSpPr>
          <p:cNvPr id="119" name="Text 104"/>
          <p:cNvSpPr/>
          <p:nvPr/>
        </p:nvSpPr>
        <p:spPr>
          <a:xfrm>
            <a:off x="15960699" y="5318003"/>
            <a:ext cx="673841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38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Memory B-Cells</a:t>
            </a:r>
            <a:endParaRPr lang="en-US" sz="538" dirty="0"/>
          </a:p>
        </p:txBody>
      </p:sp>
      <p:sp>
        <p:nvSpPr>
          <p:cNvPr id="120" name="Text 105"/>
          <p:cNvSpPr/>
          <p:nvPr/>
        </p:nvSpPr>
        <p:spPr>
          <a:xfrm>
            <a:off x="15931891" y="5544266"/>
            <a:ext cx="346353" cy="99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Long-lived</a:t>
            </a:r>
            <a:endParaRPr lang="en-US" sz="360" dirty="0"/>
          </a:p>
        </p:txBody>
      </p:sp>
      <p:sp>
        <p:nvSpPr>
          <p:cNvPr id="121" name="Text 106"/>
          <p:cNvSpPr/>
          <p:nvPr/>
        </p:nvSpPr>
        <p:spPr>
          <a:xfrm>
            <a:off x="15931891" y="5605946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22" name="Text 107"/>
          <p:cNvSpPr/>
          <p:nvPr/>
        </p:nvSpPr>
        <p:spPr>
          <a:xfrm>
            <a:off x="15971486" y="5605946"/>
            <a:ext cx="478767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faster response on</a:t>
            </a:r>
            <a:endParaRPr lang="en-US" sz="339" dirty="0"/>
          </a:p>
        </p:txBody>
      </p:sp>
      <p:sp>
        <p:nvSpPr>
          <p:cNvPr id="123" name="Text 108"/>
          <p:cNvSpPr/>
          <p:nvPr/>
        </p:nvSpPr>
        <p:spPr>
          <a:xfrm>
            <a:off x="15931891" y="5664029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24" name="Text 109"/>
          <p:cNvSpPr/>
          <p:nvPr/>
        </p:nvSpPr>
        <p:spPr>
          <a:xfrm>
            <a:off x="15971486" y="5664029"/>
            <a:ext cx="337433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re-exposure</a:t>
            </a:r>
            <a:endParaRPr lang="en-US" sz="339" dirty="0"/>
          </a:p>
        </p:txBody>
      </p:sp>
      <p:sp>
        <p:nvSpPr>
          <p:cNvPr id="125" name="Text 110"/>
          <p:cNvSpPr/>
          <p:nvPr/>
        </p:nvSpPr>
        <p:spPr>
          <a:xfrm>
            <a:off x="15230458" y="6017244"/>
            <a:ext cx="1273769" cy="1413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ANTIBODIES (Immunoglobulins)</a:t>
            </a:r>
            <a:endParaRPr lang="en-US" sz="508" dirty="0"/>
          </a:p>
        </p:txBody>
      </p:sp>
      <p:sp>
        <p:nvSpPr>
          <p:cNvPr id="126" name="Text 111"/>
          <p:cNvSpPr/>
          <p:nvPr/>
        </p:nvSpPr>
        <p:spPr>
          <a:xfrm>
            <a:off x="14936819" y="6252146"/>
            <a:ext cx="114300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60" dirty="0"/>
          </a:p>
        </p:txBody>
      </p:sp>
      <p:sp>
        <p:nvSpPr>
          <p:cNvPr id="127" name="Text 112"/>
          <p:cNvSpPr/>
          <p:nvPr/>
        </p:nvSpPr>
        <p:spPr>
          <a:xfrm>
            <a:off x="14985425" y="6252146"/>
            <a:ext cx="1097279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IgG (most abundant · crosses placenta)</a:t>
            </a:r>
            <a:endParaRPr lang="en-US" sz="360" dirty="0"/>
          </a:p>
        </p:txBody>
      </p:sp>
      <p:sp>
        <p:nvSpPr>
          <p:cNvPr id="128" name="Text 113"/>
          <p:cNvSpPr/>
          <p:nvPr/>
        </p:nvSpPr>
        <p:spPr>
          <a:xfrm>
            <a:off x="14936819" y="6313824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29" name="Text 114"/>
          <p:cNvSpPr/>
          <p:nvPr/>
        </p:nvSpPr>
        <p:spPr>
          <a:xfrm>
            <a:off x="14983556" y="6313824"/>
            <a:ext cx="87013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IgM (first responder · pentamer)</a:t>
            </a:r>
            <a:endParaRPr lang="en-US" sz="339" dirty="0"/>
          </a:p>
        </p:txBody>
      </p:sp>
      <p:sp>
        <p:nvSpPr>
          <p:cNvPr id="130" name="Text 115"/>
          <p:cNvSpPr/>
          <p:nvPr/>
        </p:nvSpPr>
        <p:spPr>
          <a:xfrm>
            <a:off x="14936819" y="6371906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31" name="Text 116"/>
          <p:cNvSpPr/>
          <p:nvPr/>
        </p:nvSpPr>
        <p:spPr>
          <a:xfrm>
            <a:off x="14983556" y="6371906"/>
            <a:ext cx="984101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IgA (mucous membranes · secretory)</a:t>
            </a:r>
            <a:endParaRPr lang="en-US" sz="339" dirty="0"/>
          </a:p>
        </p:txBody>
      </p:sp>
      <p:sp>
        <p:nvSpPr>
          <p:cNvPr id="132" name="Text 117"/>
          <p:cNvSpPr/>
          <p:nvPr/>
        </p:nvSpPr>
        <p:spPr>
          <a:xfrm>
            <a:off x="14936819" y="6429989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33" name="Text 118"/>
          <p:cNvSpPr/>
          <p:nvPr/>
        </p:nvSpPr>
        <p:spPr>
          <a:xfrm>
            <a:off x="14983556" y="6429989"/>
            <a:ext cx="1247204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IgE (allergies · parasites) · IgD (B-cell receptor)</a:t>
            </a:r>
            <a:endParaRPr lang="en-US" sz="339" dirty="0"/>
          </a:p>
        </p:txBody>
      </p:sp>
      <p:sp>
        <p:nvSpPr>
          <p:cNvPr id="134" name="Text 119"/>
          <p:cNvSpPr/>
          <p:nvPr/>
        </p:nvSpPr>
        <p:spPr>
          <a:xfrm>
            <a:off x="9468685" y="3448369"/>
            <a:ext cx="684346" cy="2445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8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Cytotoxic T-Cells (CD8⁺)</a:t>
            </a:r>
            <a:endParaRPr lang="en-US" sz="508" dirty="0"/>
          </a:p>
        </p:txBody>
      </p:sp>
      <p:sp>
        <p:nvSpPr>
          <p:cNvPr id="135" name="Text 120"/>
          <p:cNvSpPr/>
          <p:nvPr/>
        </p:nvSpPr>
        <p:spPr>
          <a:xfrm>
            <a:off x="9391319" y="3756343"/>
            <a:ext cx="515373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Recognize MHC-I</a:t>
            </a:r>
            <a:endParaRPr lang="en-US" sz="360" dirty="0"/>
          </a:p>
        </p:txBody>
      </p:sp>
      <p:sp>
        <p:nvSpPr>
          <p:cNvPr id="136" name="Text 121"/>
          <p:cNvSpPr/>
          <p:nvPr/>
        </p:nvSpPr>
        <p:spPr>
          <a:xfrm>
            <a:off x="9391319" y="3818020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37" name="Text 122"/>
          <p:cNvSpPr/>
          <p:nvPr/>
        </p:nvSpPr>
        <p:spPr>
          <a:xfrm>
            <a:off x="9430913" y="3818020"/>
            <a:ext cx="42554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on infected cells</a:t>
            </a:r>
            <a:endParaRPr lang="en-US" sz="339" dirty="0"/>
          </a:p>
        </p:txBody>
      </p:sp>
      <p:sp>
        <p:nvSpPr>
          <p:cNvPr id="138" name="Text 123"/>
          <p:cNvSpPr/>
          <p:nvPr/>
        </p:nvSpPr>
        <p:spPr>
          <a:xfrm>
            <a:off x="9391319" y="387610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39" name="Text 124"/>
          <p:cNvSpPr/>
          <p:nvPr/>
        </p:nvSpPr>
        <p:spPr>
          <a:xfrm>
            <a:off x="9430913" y="3876103"/>
            <a:ext cx="546609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perforin + granzymes</a:t>
            </a:r>
            <a:endParaRPr lang="en-US" sz="339" dirty="0"/>
          </a:p>
        </p:txBody>
      </p:sp>
      <p:sp>
        <p:nvSpPr>
          <p:cNvPr id="140" name="Text 125"/>
          <p:cNvSpPr/>
          <p:nvPr/>
        </p:nvSpPr>
        <p:spPr>
          <a:xfrm>
            <a:off x="9391319" y="3934185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41" name="Text 126"/>
          <p:cNvSpPr/>
          <p:nvPr/>
        </p:nvSpPr>
        <p:spPr>
          <a:xfrm>
            <a:off x="9430913" y="3934185"/>
            <a:ext cx="339676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→ apoptosis</a:t>
            </a:r>
            <a:endParaRPr lang="en-US" sz="339" dirty="0"/>
          </a:p>
        </p:txBody>
      </p:sp>
      <p:sp>
        <p:nvSpPr>
          <p:cNvPr id="142" name="Text 127"/>
          <p:cNvSpPr/>
          <p:nvPr/>
        </p:nvSpPr>
        <p:spPr>
          <a:xfrm>
            <a:off x="9476343" y="4362759"/>
            <a:ext cx="668985" cy="2445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Helper T-Cells (CD4⁺)</a:t>
            </a:r>
            <a:endParaRPr lang="en-US" sz="593" dirty="0"/>
          </a:p>
        </p:txBody>
      </p:sp>
      <p:sp>
        <p:nvSpPr>
          <p:cNvPr id="143" name="Text 128"/>
          <p:cNvSpPr/>
          <p:nvPr/>
        </p:nvSpPr>
        <p:spPr>
          <a:xfrm>
            <a:off x="9391319" y="4663213"/>
            <a:ext cx="597688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Activated by MHC-II</a:t>
            </a:r>
            <a:endParaRPr lang="en-US" sz="360" dirty="0"/>
          </a:p>
        </p:txBody>
      </p:sp>
      <p:sp>
        <p:nvSpPr>
          <p:cNvPr id="144" name="Text 129"/>
          <p:cNvSpPr/>
          <p:nvPr/>
        </p:nvSpPr>
        <p:spPr>
          <a:xfrm>
            <a:off x="9391319" y="472489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45" name="Text 130"/>
          <p:cNvSpPr/>
          <p:nvPr/>
        </p:nvSpPr>
        <p:spPr>
          <a:xfrm>
            <a:off x="9430913" y="4724893"/>
            <a:ext cx="252504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on APCs</a:t>
            </a:r>
            <a:endParaRPr lang="en-US" sz="339" dirty="0"/>
          </a:p>
        </p:txBody>
      </p:sp>
      <p:sp>
        <p:nvSpPr>
          <p:cNvPr id="146" name="Text 131"/>
          <p:cNvSpPr/>
          <p:nvPr/>
        </p:nvSpPr>
        <p:spPr>
          <a:xfrm>
            <a:off x="9391319" y="4782978"/>
            <a:ext cx="623041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1. Co-stimulate B-cells</a:t>
            </a:r>
            <a:endParaRPr lang="en-US" sz="339" dirty="0"/>
          </a:p>
        </p:txBody>
      </p:sp>
      <p:sp>
        <p:nvSpPr>
          <p:cNvPr id="147" name="Text 132"/>
          <p:cNvSpPr/>
          <p:nvPr/>
        </p:nvSpPr>
        <p:spPr>
          <a:xfrm>
            <a:off x="9391319" y="4841058"/>
            <a:ext cx="673888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2. Activate macrophages</a:t>
            </a:r>
            <a:endParaRPr lang="en-US" sz="339" dirty="0"/>
          </a:p>
        </p:txBody>
      </p:sp>
      <p:sp>
        <p:nvSpPr>
          <p:cNvPr id="148" name="Text 133"/>
          <p:cNvSpPr/>
          <p:nvPr/>
        </p:nvSpPr>
        <p:spPr>
          <a:xfrm>
            <a:off x="9391319" y="4899143"/>
            <a:ext cx="565191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3. Secrete cytokines</a:t>
            </a:r>
            <a:endParaRPr lang="en-US" sz="339" dirty="0"/>
          </a:p>
        </p:txBody>
      </p:sp>
      <p:sp>
        <p:nvSpPr>
          <p:cNvPr id="149" name="Text 134"/>
          <p:cNvSpPr/>
          <p:nvPr/>
        </p:nvSpPr>
        <p:spPr>
          <a:xfrm>
            <a:off x="10616623" y="3437630"/>
            <a:ext cx="539932" cy="2445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Regulatory T-Cells</a:t>
            </a:r>
            <a:endParaRPr lang="en-US" sz="593" dirty="0"/>
          </a:p>
        </p:txBody>
      </p:sp>
      <p:sp>
        <p:nvSpPr>
          <p:cNvPr id="150" name="Text 135"/>
          <p:cNvSpPr/>
          <p:nvPr/>
        </p:nvSpPr>
        <p:spPr>
          <a:xfrm>
            <a:off x="10520860" y="3736963"/>
            <a:ext cx="535729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Suppress immune</a:t>
            </a:r>
            <a:endParaRPr lang="en-US" sz="360" dirty="0"/>
          </a:p>
        </p:txBody>
      </p:sp>
      <p:sp>
        <p:nvSpPr>
          <p:cNvPr id="151" name="Text 136"/>
          <p:cNvSpPr/>
          <p:nvPr/>
        </p:nvSpPr>
        <p:spPr>
          <a:xfrm>
            <a:off x="10520860" y="379864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52" name="Text 137"/>
          <p:cNvSpPr/>
          <p:nvPr/>
        </p:nvSpPr>
        <p:spPr>
          <a:xfrm>
            <a:off x="10560454" y="3798643"/>
            <a:ext cx="482456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response · prevent</a:t>
            </a:r>
            <a:endParaRPr lang="en-US" sz="339" dirty="0"/>
          </a:p>
        </p:txBody>
      </p:sp>
      <p:sp>
        <p:nvSpPr>
          <p:cNvPr id="153" name="Text 138"/>
          <p:cNvSpPr/>
          <p:nvPr/>
        </p:nvSpPr>
        <p:spPr>
          <a:xfrm>
            <a:off x="10520860" y="3856725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54" name="Text 139"/>
          <p:cNvSpPr/>
          <p:nvPr/>
        </p:nvSpPr>
        <p:spPr>
          <a:xfrm>
            <a:off x="10560454" y="3856725"/>
            <a:ext cx="376374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autoimmunity</a:t>
            </a:r>
            <a:endParaRPr lang="en-US" sz="339" dirty="0"/>
          </a:p>
        </p:txBody>
      </p:sp>
      <p:sp>
        <p:nvSpPr>
          <p:cNvPr id="155" name="Text 140"/>
          <p:cNvSpPr/>
          <p:nvPr/>
        </p:nvSpPr>
        <p:spPr>
          <a:xfrm>
            <a:off x="10678907" y="4352020"/>
            <a:ext cx="415408" cy="2445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3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Memory T-Cells</a:t>
            </a:r>
            <a:endParaRPr lang="en-US" sz="593" dirty="0"/>
          </a:p>
        </p:txBody>
      </p:sp>
      <p:sp>
        <p:nvSpPr>
          <p:cNvPr id="156" name="Text 141"/>
          <p:cNvSpPr/>
          <p:nvPr/>
        </p:nvSpPr>
        <p:spPr>
          <a:xfrm>
            <a:off x="10520860" y="4651353"/>
            <a:ext cx="346353" cy="99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Long-lived</a:t>
            </a:r>
            <a:endParaRPr lang="en-US" sz="360" dirty="0"/>
          </a:p>
        </p:txBody>
      </p:sp>
      <p:sp>
        <p:nvSpPr>
          <p:cNvPr id="157" name="Text 142"/>
          <p:cNvSpPr/>
          <p:nvPr/>
        </p:nvSpPr>
        <p:spPr>
          <a:xfrm>
            <a:off x="10520860" y="4713033"/>
            <a:ext cx="114300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58" name="Text 143"/>
          <p:cNvSpPr/>
          <p:nvPr/>
        </p:nvSpPr>
        <p:spPr>
          <a:xfrm>
            <a:off x="10560454" y="4713033"/>
            <a:ext cx="463312" cy="9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rapid response on</a:t>
            </a:r>
            <a:endParaRPr lang="en-US" sz="339" dirty="0"/>
          </a:p>
        </p:txBody>
      </p:sp>
      <p:sp>
        <p:nvSpPr>
          <p:cNvPr id="159" name="Text 144"/>
          <p:cNvSpPr/>
          <p:nvPr/>
        </p:nvSpPr>
        <p:spPr>
          <a:xfrm>
            <a:off x="10520860" y="4771118"/>
            <a:ext cx="114300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•</a:t>
            </a:r>
            <a:endParaRPr lang="en-US" sz="339" dirty="0"/>
          </a:p>
        </p:txBody>
      </p:sp>
      <p:sp>
        <p:nvSpPr>
          <p:cNvPr id="160" name="Text 145"/>
          <p:cNvSpPr/>
          <p:nvPr/>
        </p:nvSpPr>
        <p:spPr>
          <a:xfrm>
            <a:off x="10560454" y="4771118"/>
            <a:ext cx="337435" cy="9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re-exposure</a:t>
            </a:r>
            <a:endParaRPr lang="en-US" sz="339" dirty="0"/>
          </a:p>
        </p:txBody>
      </p:sp>
      <p:sp>
        <p:nvSpPr>
          <p:cNvPr id="161" name="Text 146"/>
          <p:cNvSpPr/>
          <p:nvPr/>
        </p:nvSpPr>
        <p:spPr>
          <a:xfrm>
            <a:off x="15259966" y="4532668"/>
            <a:ext cx="666137" cy="1413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6" b="1" dirty="0">
                <a:solidFill>
                  <a:srgbClr val="6B561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Helper T · co-stim</a:t>
            </a:r>
            <a:endParaRPr lang="en-US" sz="466" dirty="0"/>
          </a:p>
        </p:txBody>
      </p:sp>
      <p:sp>
        <p:nvSpPr>
          <p:cNvPr id="162" name="Text 147"/>
          <p:cNvSpPr/>
          <p:nvPr/>
        </p:nvSpPr>
        <p:spPr>
          <a:xfrm>
            <a:off x="10099757" y="6853147"/>
            <a:ext cx="2283737" cy="2445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7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KEY: Innate = fast · non-specific · no memory     Adaptive = slow · specific · HAS memory </a:t>
            </a:r>
            <a:pPr algn="ctr" indent="0" marL="0">
              <a:lnSpc>
                <a:spcPct val="120000"/>
              </a:lnSpc>
              <a:buNone/>
            </a:pPr>
            <a:r>
              <a:rPr lang="en-US" sz="30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Humoral = B-cells + antibodies (extracellular)     Cell-mediated = T-cells (intracellular pathogens)</a:t>
            </a:r>
            <a:endParaRPr lang="en-US" sz="678" dirty="0"/>
          </a:p>
        </p:txBody>
      </p:sp>
      <p:sp>
        <p:nvSpPr>
          <p:cNvPr id="163" name="Text 148"/>
          <p:cNvSpPr/>
          <p:nvPr/>
        </p:nvSpPr>
        <p:spPr>
          <a:xfrm>
            <a:off x="9859125" y="7241053"/>
            <a:ext cx="2764953" cy="103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MHC-I + CD8⁺ = cytotoxic (kill infected cells) MHC-II + CD4⁺ = helper (coordinate response)</a:t>
            </a:r>
            <a:endParaRPr lang="en-US" sz="381" dirty="0"/>
          </a:p>
        </p:txBody>
      </p:sp>
      <p:sp>
        <p:nvSpPr>
          <p:cNvPr id="164" name="Shape 149"/>
          <p:cNvSpPr/>
          <p:nvPr/>
        </p:nvSpPr>
        <p:spPr>
          <a:xfrm>
            <a:off x="5027747" y="3969669"/>
            <a:ext cx="244846" cy="67515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165" name="Text 150"/>
          <p:cNvSpPr/>
          <p:nvPr/>
        </p:nvSpPr>
        <p:spPr>
          <a:xfrm>
            <a:off x="5057629" y="3978036"/>
            <a:ext cx="261282" cy="888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8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displays</a:t>
            </a:r>
            <a:endParaRPr lang="en-US" sz="318" dirty="0"/>
          </a:p>
        </p:txBody>
      </p:sp>
      <p:sp>
        <p:nvSpPr>
          <p:cNvPr id="166" name="Shape 151"/>
          <p:cNvSpPr/>
          <p:nvPr/>
        </p:nvSpPr>
        <p:spPr>
          <a:xfrm>
            <a:off x="15539083" y="5685506"/>
            <a:ext cx="226263" cy="67515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167" name="Text 152"/>
          <p:cNvSpPr/>
          <p:nvPr/>
        </p:nvSpPr>
        <p:spPr>
          <a:xfrm>
            <a:off x="15568965" y="5693873"/>
            <a:ext cx="242699" cy="888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8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secrete</a:t>
            </a:r>
            <a:endParaRPr lang="en-US" sz="318" dirty="0"/>
          </a:p>
        </p:txBody>
      </p:sp>
      <p:sp>
        <p:nvSpPr>
          <p:cNvPr id="168" name="Text 153"/>
          <p:cNvSpPr/>
          <p:nvPr/>
        </p:nvSpPr>
        <p:spPr>
          <a:xfrm>
            <a:off x="225890" y="7617988"/>
            <a:ext cx="363114" cy="109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6" b="1" spc="28" kern="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466" dirty="0"/>
          </a:p>
        </p:txBody>
      </p:sp>
      <p:sp>
        <p:nvSpPr>
          <p:cNvPr id="169" name="Text 154"/>
          <p:cNvSpPr/>
          <p:nvPr/>
        </p:nvSpPr>
        <p:spPr>
          <a:xfrm>
            <a:off x="225890" y="7736302"/>
            <a:ext cx="2549345" cy="1038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⬭ system ▭ cell type ⬡ specific cell ◆ key concept ⬭ purple = MHC ┈┈ note/cross-ref</a:t>
            </a:r>
            <a:endParaRPr lang="en-US" sz="381" dirty="0"/>
          </a:p>
        </p:txBody>
      </p:sp>
      <p:sp>
        <p:nvSpPr>
          <p:cNvPr id="170" name="Text 155"/>
          <p:cNvSpPr/>
          <p:nvPr/>
        </p:nvSpPr>
        <p:spPr>
          <a:xfrm>
            <a:off x="225890" y="7843877"/>
            <a:ext cx="3918031" cy="1098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──▶ green = innate ──▶ blue = adaptive ◆──◆ teal = MHC↔T-cell cooperation ▷ gold chip = cross-reference underline = high-yield</a:t>
            </a:r>
            <a:endParaRPr lang="en-US" sz="381" dirty="0"/>
          </a:p>
        </p:txBody>
      </p:sp>
      <p:sp>
        <p:nvSpPr>
          <p:cNvPr id="171" name="Shape 156"/>
          <p:cNvSpPr/>
          <p:nvPr/>
        </p:nvSpPr>
        <p:spPr>
          <a:xfrm>
            <a:off x="6859563" y="4506053"/>
            <a:ext cx="588396" cy="70502"/>
          </a:xfrm>
          <a:prstGeom prst="roundRect">
            <a:avLst>
              <a:gd name="adj" fmla="val 22888"/>
            </a:avLst>
          </a:prstGeom>
          <a:solidFill>
            <a:srgbClr val="FFFFFF"/>
          </a:solidFill>
          <a:ln w="3175">
            <a:solidFill>
              <a:srgbClr val="0F9B8E"/>
            </a:solidFill>
            <a:prstDash val="solid"/>
          </a:ln>
        </p:spPr>
      </p:sp>
      <p:sp>
        <p:nvSpPr>
          <p:cNvPr id="172" name="Text 157"/>
          <p:cNvSpPr/>
          <p:nvPr/>
        </p:nvSpPr>
        <p:spPr>
          <a:xfrm>
            <a:off x="6889445" y="4514420"/>
            <a:ext cx="604832" cy="91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8" b="1" dirty="0">
                <a:solidFill>
                  <a:srgbClr val="0B6F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MHC-I presents → CD8⁺</a:t>
            </a:r>
            <a:endParaRPr lang="en-US" sz="318" dirty="0"/>
          </a:p>
        </p:txBody>
      </p:sp>
      <p:sp>
        <p:nvSpPr>
          <p:cNvPr id="173" name="Shape 158"/>
          <p:cNvSpPr/>
          <p:nvPr/>
        </p:nvSpPr>
        <p:spPr>
          <a:xfrm>
            <a:off x="7440208" y="4613628"/>
            <a:ext cx="610434" cy="70505"/>
          </a:xfrm>
          <a:prstGeom prst="roundRect">
            <a:avLst>
              <a:gd name="adj" fmla="val 22887"/>
            </a:avLst>
          </a:prstGeom>
          <a:solidFill>
            <a:srgbClr val="FFFFFF"/>
          </a:solidFill>
          <a:ln w="3175">
            <a:solidFill>
              <a:srgbClr val="0F9B8E"/>
            </a:solidFill>
            <a:prstDash val="solid"/>
          </a:ln>
        </p:spPr>
      </p:sp>
      <p:sp>
        <p:nvSpPr>
          <p:cNvPr id="174" name="Text 159"/>
          <p:cNvSpPr/>
          <p:nvPr/>
        </p:nvSpPr>
        <p:spPr>
          <a:xfrm>
            <a:off x="7470090" y="4621995"/>
            <a:ext cx="626870" cy="918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8" b="1" dirty="0">
                <a:solidFill>
                  <a:srgbClr val="0B6F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MHC-II presents → CD4⁺</a:t>
            </a:r>
            <a:endParaRPr lang="en-US" sz="31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1943119"/>
            <a:ext cx="18286857" cy="64004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187" y="1963401"/>
            <a:ext cx="833655" cy="100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0" b="1" spc="32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C/P · MCAT CHEMISTRY</a:t>
            </a:r>
            <a:endParaRPr lang="en-US" sz="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943119"/>
            <a:ext cx="18286857" cy="6400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26343" y="2117861"/>
            <a:ext cx="634127" cy="16606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ISOMERS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50492" y="2672046"/>
            <a:ext cx="737264" cy="236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Constitutional </a:t>
            </a:r>
            <a:pPr algn="ctr" indent="0" marL="0">
              <a:lnSpc>
                <a:spcPct val="120000"/>
              </a:lnSpc>
              <a:buNone/>
            </a:pPr>
            <a:r>
              <a:rPr lang="en-US" sz="540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/ Structural</a:t>
            </a:r>
            <a:endParaRPr lang="en-US" sz="640" dirty="0"/>
          </a:p>
        </p:txBody>
      </p:sp>
      <p:sp>
        <p:nvSpPr>
          <p:cNvPr id="8" name="Text 5"/>
          <p:cNvSpPr/>
          <p:nvPr/>
        </p:nvSpPr>
        <p:spPr>
          <a:xfrm>
            <a:off x="3779467" y="2672046"/>
            <a:ext cx="802127" cy="236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Conformational </a:t>
            </a:r>
            <a:pPr algn="ctr" indent="0" marL="0">
              <a:lnSpc>
                <a:spcPct val="120000"/>
              </a:lnSpc>
              <a:buNone/>
            </a:pPr>
            <a:r>
              <a:rPr lang="en-US" sz="540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Conformers</a:t>
            </a:r>
            <a:endParaRPr lang="en-US" sz="640" dirty="0"/>
          </a:p>
        </p:txBody>
      </p:sp>
      <p:sp>
        <p:nvSpPr>
          <p:cNvPr id="9" name="Text 6"/>
          <p:cNvSpPr/>
          <p:nvPr/>
        </p:nvSpPr>
        <p:spPr>
          <a:xfrm>
            <a:off x="9972711" y="2673586"/>
            <a:ext cx="373265" cy="2330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Stereo </a:t>
            </a:r>
            <a:pPr algn="ctr" indent="0" marL="0">
              <a:lnSpc>
                <a:spcPct val="120000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Isomers</a:t>
            </a:r>
            <a:endParaRPr lang="en-US" sz="640" dirty="0"/>
          </a:p>
        </p:txBody>
      </p:sp>
      <p:sp>
        <p:nvSpPr>
          <p:cNvPr id="10" name="Text 7"/>
          <p:cNvSpPr/>
          <p:nvPr/>
        </p:nvSpPr>
        <p:spPr>
          <a:xfrm>
            <a:off x="317786" y="3031192"/>
            <a:ext cx="1690807" cy="3305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Same molecular formula, different connectivity </a:t>
            </a:r>
            <a:pPr algn="ctr" indent="0" marL="0">
              <a:lnSpc>
                <a:spcPct val="120000"/>
              </a:lnSpc>
              <a:buNone/>
            </a:pPr>
            <a:r>
              <a:rPr lang="en-US" sz="44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Types: Chain · Positional · Functional Group </a:t>
            </a:r>
            <a:pPr algn="ctr" indent="0" marL="0">
              <a:lnSpc>
                <a:spcPct val="120000"/>
              </a:lnSpc>
              <a:buNone/>
            </a:pPr>
            <a:r>
              <a:rPr lang="en-US" sz="44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e.g. n-butane vs isobutane (chain isomers)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3337861" y="3028155"/>
            <a:ext cx="1685340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Same molecule · bond rotation only </a:t>
            </a:r>
            <a:pPr algn="ctr" indent="0" marL="0">
              <a:lnSpc>
                <a:spcPct val="120000"/>
              </a:lnSpc>
              <a:buNone/>
            </a:pPr>
            <a:r>
              <a:rPr lang="en-US" sz="44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Interconvert freely · no bond breaking required </a:t>
            </a:r>
            <a:pPr algn="ctr" indent="0" marL="0">
              <a:lnSpc>
                <a:spcPct val="120000"/>
              </a:lnSpc>
              <a:buNone/>
            </a:pPr>
            <a:r>
              <a:rPr lang="en-US" sz="44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Newman projections: staggered · eclipsed · gauche · anti Ring conformers: chair · boat · twist-boat</a:t>
            </a:r>
            <a:endParaRPr lang="en-US" sz="640" dirty="0"/>
          </a:p>
        </p:txBody>
      </p:sp>
      <p:sp>
        <p:nvSpPr>
          <p:cNvPr id="12" name="Text 9"/>
          <p:cNvSpPr/>
          <p:nvPr/>
        </p:nvSpPr>
        <p:spPr>
          <a:xfrm>
            <a:off x="8654815" y="3003719"/>
            <a:ext cx="2033730" cy="2330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Same formula, same connectivity, different spatial arrangement </a:t>
            </a:r>
            <a:pPr algn="ctr" indent="0" marL="0">
              <a:lnSpc>
                <a:spcPct val="120000"/>
              </a:lnSpc>
              <a:buNone/>
            </a:pPr>
            <a:r>
              <a:rPr lang="en-US" sz="392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Require bond breaking (or reflection) to interconvert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9649234" y="3405025"/>
            <a:ext cx="776420" cy="2330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Configurational </a:t>
            </a:r>
            <a:pPr algn="ctr" indent="0" marL="0">
              <a:lnSpc>
                <a:spcPct val="120000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Isomers</a:t>
            </a:r>
            <a:endParaRPr lang="en-US" sz="640" dirty="0"/>
          </a:p>
        </p:txBody>
      </p:sp>
      <p:sp>
        <p:nvSpPr>
          <p:cNvPr id="14" name="Text 11"/>
          <p:cNvSpPr/>
          <p:nvPr/>
        </p:nvSpPr>
        <p:spPr>
          <a:xfrm>
            <a:off x="8650582" y="3728103"/>
            <a:ext cx="2042196" cy="1355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1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Require bond breaking to change configuration; includes optical AND geometric isomers</a:t>
            </a:r>
            <a:endParaRPr lang="en-US" sz="312" dirty="0"/>
          </a:p>
        </p:txBody>
      </p:sp>
      <p:sp>
        <p:nvSpPr>
          <p:cNvPr id="15" name="Text 12"/>
          <p:cNvSpPr/>
          <p:nvPr/>
        </p:nvSpPr>
        <p:spPr>
          <a:xfrm>
            <a:off x="6585286" y="4619081"/>
            <a:ext cx="686732" cy="141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Enantiomers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13805093" y="4619081"/>
            <a:ext cx="785196" cy="141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Diastereomers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6056152" y="4978757"/>
            <a:ext cx="1744955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Non-superimposable mirror images </a:t>
            </a:r>
            <a:pPr algn="ctr" indent="0" marL="0">
              <a:lnSpc>
                <a:spcPct val="120000"/>
              </a:lnSpc>
              <a:buNone/>
            </a:pPr>
            <a:r>
              <a:rPr lang="en-US" sz="43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Opposite R/S at EVERY chiral center Same physical properties (bp, mp, solubility, density) Opposite optical rotation direction (+/−)</a:t>
            </a:r>
            <a:endParaRPr lang="en-US" sz="640" dirty="0"/>
          </a:p>
        </p:txBody>
      </p:sp>
      <p:sp>
        <p:nvSpPr>
          <p:cNvPr id="18" name="Text 15"/>
          <p:cNvSpPr/>
          <p:nvPr/>
        </p:nvSpPr>
        <p:spPr>
          <a:xfrm>
            <a:off x="12855077" y="4951330"/>
            <a:ext cx="1628635" cy="3305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NOT mirror images </a:t>
            </a:r>
            <a:pPr algn="ctr" indent="0" marL="0">
              <a:lnSpc>
                <a:spcPct val="120000"/>
              </a:lnSpc>
              <a:buNone/>
            </a:pPr>
            <a:r>
              <a:rPr lang="en-US" sz="44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Opposite R/S at ONLY SOME chiral centers Different physical properties — can be separated!</a:t>
            </a:r>
            <a:endParaRPr lang="en-US" sz="640" dirty="0"/>
          </a:p>
        </p:txBody>
      </p:sp>
      <p:sp>
        <p:nvSpPr>
          <p:cNvPr id="19" name="Text 16"/>
          <p:cNvSpPr/>
          <p:nvPr/>
        </p:nvSpPr>
        <p:spPr>
          <a:xfrm>
            <a:off x="4120185" y="5563935"/>
            <a:ext cx="577907" cy="26355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 / S </a:t>
            </a:r>
            <a:pPr algn="ctr" indent="0" marL="0">
              <a:lnSpc>
                <a:spcPct val="120000"/>
              </a:lnSpc>
              <a:buNone/>
            </a:pPr>
            <a:r>
              <a:rPr lang="en-US" sz="480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Absolute Config.</a:t>
            </a:r>
            <a:endParaRPr lang="en-US" sz="640" dirty="0"/>
          </a:p>
        </p:txBody>
      </p:sp>
      <p:sp>
        <p:nvSpPr>
          <p:cNvPr id="20" name="Text 17"/>
          <p:cNvSpPr/>
          <p:nvPr/>
        </p:nvSpPr>
        <p:spPr>
          <a:xfrm>
            <a:off x="5400555" y="5563935"/>
            <a:ext cx="557007" cy="26355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 / L </a:t>
            </a:r>
            <a:pPr algn="ctr" indent="0" marL="0">
              <a:lnSpc>
                <a:spcPct val="120000"/>
              </a:lnSpc>
              <a:buNone/>
            </a:pPr>
            <a:r>
              <a:rPr lang="en-US" sz="480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Relative Config.</a:t>
            </a:r>
            <a:endParaRPr lang="en-US" sz="640" dirty="0"/>
          </a:p>
        </p:txBody>
      </p:sp>
      <p:sp>
        <p:nvSpPr>
          <p:cNvPr id="21" name="Text 18"/>
          <p:cNvSpPr/>
          <p:nvPr/>
        </p:nvSpPr>
        <p:spPr>
          <a:xfrm>
            <a:off x="6666948" y="5576148"/>
            <a:ext cx="564062" cy="2391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(+) / (−) </a:t>
            </a:r>
            <a:pPr algn="ctr" indent="0" marL="0">
              <a:lnSpc>
                <a:spcPct val="120000"/>
              </a:lnSpc>
              <a:buNone/>
            </a:pPr>
            <a:r>
              <a:rPr lang="en-US" sz="480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Optical Rotation</a:t>
            </a:r>
            <a:endParaRPr lang="en-US" sz="640" dirty="0"/>
          </a:p>
        </p:txBody>
      </p:sp>
      <p:sp>
        <p:nvSpPr>
          <p:cNvPr id="22" name="Text 19"/>
          <p:cNvSpPr/>
          <p:nvPr/>
        </p:nvSpPr>
        <p:spPr>
          <a:xfrm>
            <a:off x="7991458" y="5576148"/>
            <a:ext cx="459998" cy="2391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Meso </a:t>
            </a:r>
            <a:pPr algn="ctr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Compound</a:t>
            </a:r>
            <a:endParaRPr lang="en-US" sz="640" dirty="0"/>
          </a:p>
        </p:txBody>
      </p:sp>
      <p:sp>
        <p:nvSpPr>
          <p:cNvPr id="23" name="Text 20"/>
          <p:cNvSpPr/>
          <p:nvPr/>
        </p:nvSpPr>
        <p:spPr>
          <a:xfrm>
            <a:off x="9274564" y="5579190"/>
            <a:ext cx="433630" cy="2330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Racemic </a:t>
            </a:r>
            <a:pPr algn="ctr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Mixture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11934651" y="5576148"/>
            <a:ext cx="574026" cy="2391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Geometric </a:t>
            </a:r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Isomers</a:t>
            </a:r>
            <a:endParaRPr lang="en-US" sz="640" dirty="0"/>
          </a:p>
        </p:txBody>
      </p:sp>
      <p:sp>
        <p:nvSpPr>
          <p:cNvPr id="25" name="Text 22"/>
          <p:cNvSpPr/>
          <p:nvPr/>
        </p:nvSpPr>
        <p:spPr>
          <a:xfrm>
            <a:off x="13493918" y="5624871"/>
            <a:ext cx="467848" cy="141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Epimers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14845943" y="5624871"/>
            <a:ext cx="506782" cy="141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Anomers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3886263" y="5971370"/>
            <a:ext cx="1045749" cy="525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1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CIP Priority Rules </a:t>
            </a:r>
            <a:pPr algn="ctr" indent="0" marL="0">
              <a:lnSpc>
                <a:spcPct val="120000"/>
              </a:lnSpc>
              <a:buNone/>
            </a:pPr>
            <a:r>
              <a:rPr lang="en-US" sz="29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sp³ C with 4 different groups = chiral center Rank substituents 1→4 (highest atomic # = 1) R = clockwise (rectus) S = counterclockwise (sinister)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5158212" y="5971370"/>
            <a:ext cx="1041648" cy="525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Fischer Convention </a:t>
            </a:r>
            <a:pPr algn="ctr" indent="0" marL="0">
              <a:lnSpc>
                <a:spcPct val="120000"/>
              </a:lnSpc>
              <a:buNone/>
            </a:pPr>
            <a:r>
              <a:rPr lang="en-US" sz="3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 = OH on right at reference carbon L = OH on left at reference carbon Most natural sugars: D-form Most natural amino acids: L-form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6440347" y="5994695"/>
            <a:ext cx="1017220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Measured by polarimetry </a:t>
            </a:r>
            <a:pPr algn="ctr" indent="0" marL="0">
              <a:lnSpc>
                <a:spcPct val="120000"/>
              </a:lnSpc>
              <a:buNone/>
            </a:pPr>
            <a:r>
              <a:rPr lang="en-US" sz="32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(+) dextrorotatory = CW rotation of light (−) levorotatory = CCW rotation NOT correlated with R/S or D/L!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7745632" y="5994695"/>
            <a:ext cx="946492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Has chiral centers, BUT achiral overall </a:t>
            </a:r>
            <a:pPr algn="ctr" indent="0" marL="0">
              <a:lnSpc>
                <a:spcPct val="120000"/>
              </a:lnSpc>
              <a:buNone/>
            </a:pPr>
            <a:r>
              <a:rPr lang="en-US" sz="29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Internal plane of symmetry Optical rotation = 0 (inactive) </a:t>
            </a:r>
            <a:pPr algn="ctr" indent="0" marL="0">
              <a:lnSpc>
                <a:spcPct val="120000"/>
              </a:lnSpc>
              <a:buNone/>
            </a:pPr>
            <a:r>
              <a:rPr lang="en-US" sz="292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e.g. meso-tartaric acid</a:t>
            </a:r>
            <a:endParaRPr lang="en-US" sz="640" dirty="0"/>
          </a:p>
        </p:txBody>
      </p:sp>
      <p:sp>
        <p:nvSpPr>
          <p:cNvPr id="31" name="Text 28"/>
          <p:cNvSpPr/>
          <p:nvPr/>
        </p:nvSpPr>
        <p:spPr>
          <a:xfrm>
            <a:off x="9001706" y="5943898"/>
            <a:ext cx="974184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50:50 mix of enantiomers </a:t>
            </a:r>
            <a:pPr algn="ctr" indent="0" marL="0">
              <a:lnSpc>
                <a:spcPct val="120000"/>
              </a:lnSpc>
              <a:buNone/>
            </a:pPr>
            <a:r>
              <a:rPr lang="en-US" sz="26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Net optical rotation = 0 Cannot separate by standard physical methods </a:t>
            </a:r>
            <a:pPr algn="ctr" indent="0" marL="0">
              <a:lnSpc>
                <a:spcPct val="120000"/>
              </a:lnSpc>
              <a:buNone/>
            </a:pPr>
            <a:r>
              <a:rPr lang="en-US" sz="268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(need chiral column or resolving agent)</a:t>
            </a:r>
            <a:endParaRPr lang="en-US" sz="640" dirty="0"/>
          </a:p>
        </p:txBody>
      </p:sp>
      <p:sp>
        <p:nvSpPr>
          <p:cNvPr id="32" name="Text 29"/>
          <p:cNvSpPr/>
          <p:nvPr/>
        </p:nvSpPr>
        <p:spPr>
          <a:xfrm>
            <a:off x="5510849" y="6638781"/>
            <a:ext cx="2784808" cy="1355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R/S · D/L · (+)/(−) are INDEPENDENT — each must be determined separately!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11000068" y="5967264"/>
            <a:ext cx="1457768" cy="3305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Restricted rotation (C=C double bond or ring) </a:t>
            </a:r>
            <a:pPr algn="ctr" indent="0" marL="0">
              <a:lnSpc>
                <a:spcPct val="120000"/>
              </a:lnSpc>
              <a:buNone/>
            </a:pPr>
            <a:r>
              <a:rPr lang="en-US" sz="37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Cannot interconvert without breaking π bond E/Z = preferred IUPAC; cis/trans = H-based (older)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12648849" y="5994695"/>
            <a:ext cx="1258858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Differ at ONLY ONE chiral center </a:t>
            </a:r>
            <a:pPr algn="ctr" indent="0" marL="0">
              <a:lnSpc>
                <a:spcPct val="120000"/>
              </a:lnSpc>
              <a:buNone/>
            </a:pPr>
            <a:r>
              <a:rPr lang="en-US" sz="41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(always diastereomers) D-Glucose vs D-Galactose → C4 epimers D-Glucose vs D-Mannose → C2 epimers</a:t>
            </a:r>
            <a:endParaRPr lang="en-US" sz="640" dirty="0"/>
          </a:p>
        </p:txBody>
      </p:sp>
      <p:sp>
        <p:nvSpPr>
          <p:cNvPr id="35" name="Text 32"/>
          <p:cNvSpPr/>
          <p:nvPr/>
        </p:nvSpPr>
        <p:spPr>
          <a:xfrm>
            <a:off x="14098674" y="5945967"/>
            <a:ext cx="1274907" cy="525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Epimers at the anomeric carbon (C1) </a:t>
            </a:r>
            <a:pPr algn="ctr" indent="0" marL="0">
              <a:lnSpc>
                <a:spcPct val="120000"/>
              </a:lnSpc>
              <a:buNone/>
            </a:pPr>
            <a:r>
              <a:rPr lang="en-US" sz="34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Formed during ring closure of open-chain sugars α = OH axial (below ring plane) β = OH equatorial (above ring plane) Interconvert in solution via mutarotation</a:t>
            </a:r>
            <a:endParaRPr lang="en-US" sz="640" dirty="0"/>
          </a:p>
        </p:txBody>
      </p:sp>
      <p:sp>
        <p:nvSpPr>
          <p:cNvPr id="36" name="Text 33"/>
          <p:cNvSpPr/>
          <p:nvPr/>
        </p:nvSpPr>
        <p:spPr>
          <a:xfrm>
            <a:off x="11399917" y="6541247"/>
            <a:ext cx="444697" cy="239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 / Z </a:t>
            </a:r>
            <a:pPr algn="ctr" indent="0" marL="0">
              <a:lnSpc>
                <a:spcPct val="120000"/>
              </a:lnSpc>
              <a:buNone/>
            </a:pPr>
            <a:r>
              <a:rPr lang="en-US" sz="480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(CIP-based)</a:t>
            </a:r>
            <a:endParaRPr lang="en-US" sz="640" dirty="0"/>
          </a:p>
        </p:txBody>
      </p:sp>
      <p:sp>
        <p:nvSpPr>
          <p:cNvPr id="37" name="Text 34"/>
          <p:cNvSpPr/>
          <p:nvPr/>
        </p:nvSpPr>
        <p:spPr>
          <a:xfrm>
            <a:off x="12435167" y="6541247"/>
            <a:ext cx="578877" cy="239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80" b="1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cis / trans </a:t>
            </a:r>
            <a:pPr algn="ctr" indent="0" marL="0">
              <a:lnSpc>
                <a:spcPct val="120000"/>
              </a:lnSpc>
              <a:buNone/>
            </a:pPr>
            <a:r>
              <a:rPr lang="en-US" sz="480" dirty="0">
                <a:solidFill>
                  <a:srgbClr val="1A3A5C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(H-based)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10685498" y="6890779"/>
            <a:ext cx="1304672" cy="525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3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 (Entgegen) = higher priority groups on OPPOSITE sides of double bond Z (Zusammen) = higher priority groups on the SAME side of double bond Assign using CIP rules (same as R/S)</a:t>
            </a:r>
            <a:endParaRPr lang="en-US" sz="436" dirty="0"/>
          </a:p>
        </p:txBody>
      </p:sp>
      <p:sp>
        <p:nvSpPr>
          <p:cNvPr id="39" name="Text 36"/>
          <p:cNvSpPr/>
          <p:nvPr/>
        </p:nvSpPr>
        <p:spPr>
          <a:xfrm>
            <a:off x="12183916" y="6909039"/>
            <a:ext cx="1076219" cy="428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cis = same groups on same side trans = same groups on opposite side Only reliable for H-bearing carbons Use E/Z when no H on double bond carbon</a:t>
            </a:r>
            <a:endParaRPr lang="en-US" sz="328" dirty="0"/>
          </a:p>
        </p:txBody>
      </p:sp>
      <p:sp>
        <p:nvSpPr>
          <p:cNvPr id="40" name="Text 37"/>
          <p:cNvSpPr/>
          <p:nvPr/>
        </p:nvSpPr>
        <p:spPr>
          <a:xfrm>
            <a:off x="5478740" y="7451531"/>
            <a:ext cx="2849027" cy="13559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Max stereoisomers = 2ⁿ (n = # chiral centers); fewer if meso compound(s) exist</a:t>
            </a:r>
            <a:endParaRPr lang="en-US" sz="480" dirty="0"/>
          </a:p>
        </p:txBody>
      </p:sp>
      <p:sp>
        <p:nvSpPr>
          <p:cNvPr id="41" name="Text 38"/>
          <p:cNvSpPr/>
          <p:nvPr/>
        </p:nvSpPr>
        <p:spPr>
          <a:xfrm>
            <a:off x="213329" y="7896485"/>
            <a:ext cx="347161" cy="10583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40" b="1" spc="26" kern="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440" dirty="0"/>
          </a:p>
        </p:txBody>
      </p:sp>
      <p:sp>
        <p:nvSpPr>
          <p:cNvPr id="42" name="Text 39"/>
          <p:cNvSpPr/>
          <p:nvPr/>
        </p:nvSpPr>
        <p:spPr>
          <a:xfrm>
            <a:off x="660359" y="7896485"/>
            <a:ext cx="3040080" cy="10583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▱ notation / designation ⬡ special case ○ concept node ⬣ key exam rule ┄┄ conformers (not true isomers)</a:t>
            </a:r>
            <a:endParaRPr lang="en-US" sz="360" dirty="0"/>
          </a:p>
        </p:txBody>
      </p:sp>
      <p:sp>
        <p:nvSpPr>
          <p:cNvPr id="43" name="Text 40"/>
          <p:cNvSpPr/>
          <p:nvPr/>
        </p:nvSpPr>
        <p:spPr>
          <a:xfrm>
            <a:off x="660359" y="7977755"/>
            <a:ext cx="4186955" cy="917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Purple = Configurational hierarchy Teal = Enantiomers section Red = Diastereomers section Orange = Constitutional Gray dashed = Conformational</a:t>
            </a:r>
            <a:endParaRPr lang="en-US" sz="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85744"/>
            <a:ext cx="18288001" cy="101193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43840" y="122309"/>
            <a:ext cx="1240843" cy="119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42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BIOCHEMISTRY</a:t>
            </a:r>
            <a:endParaRPr lang="en-US" sz="52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5744"/>
            <a:ext cx="18288001" cy="10119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7510" y="4857713"/>
            <a:ext cx="1277567" cy="3452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8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GENERAL RULES OF METABOLISM</a:t>
            </a:r>
            <a:endParaRPr lang="en-US" sz="1008" dirty="0"/>
          </a:p>
        </p:txBody>
      </p:sp>
      <p:sp>
        <p:nvSpPr>
          <p:cNvPr id="7" name="Text 4"/>
          <p:cNvSpPr/>
          <p:nvPr/>
        </p:nvSpPr>
        <p:spPr>
          <a:xfrm>
            <a:off x="2312406" y="1221544"/>
            <a:ext cx="1196869" cy="1560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0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Reactants &amp; Products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4156393" y="724872"/>
            <a:ext cx="648282" cy="1618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Reactants</a:t>
            </a:r>
            <a:endParaRPr lang="en-US" sz="806" dirty="0"/>
          </a:p>
        </p:txBody>
      </p:sp>
      <p:sp>
        <p:nvSpPr>
          <p:cNvPr id="9" name="Text 6"/>
          <p:cNvSpPr/>
          <p:nvPr/>
        </p:nvSpPr>
        <p:spPr>
          <a:xfrm>
            <a:off x="5537676" y="728258"/>
            <a:ext cx="1055687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Aerobic vs Anaerobic</a:t>
            </a:r>
            <a:endParaRPr lang="en-US" sz="653" dirty="0"/>
          </a:p>
        </p:txBody>
      </p:sp>
      <p:sp>
        <p:nvSpPr>
          <p:cNvPr id="10" name="Text 7"/>
          <p:cNvSpPr/>
          <p:nvPr/>
        </p:nvSpPr>
        <p:spPr>
          <a:xfrm>
            <a:off x="7531259" y="586867"/>
            <a:ext cx="969910" cy="389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Anaerobic respiration </a:t>
            </a:r>
            <a:pPr algn="ctr" indent="0" marL="0">
              <a:lnSpc>
                <a:spcPct val="120000"/>
              </a:lnSpc>
              <a:buNone/>
            </a:pPr>
            <a:r>
              <a:rPr lang="en-US" sz="528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(glycolysis / fermentation) </a:t>
            </a:r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occurs in the cytosol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4185232" y="1590215"/>
            <a:ext cx="590603" cy="1624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Products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5773684" y="1412314"/>
            <a:ext cx="1376098" cy="5060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 the start of glycolysis, ↑ [reactant] shifts the reaction spontaneously toward products </a:t>
            </a:r>
            <a:pPr algn="ctr" indent="0" marL="0">
              <a:lnSpc>
                <a:spcPct val="120000"/>
              </a:lnSpc>
              <a:buNone/>
            </a:pPr>
            <a:r>
              <a:rPr lang="en-US" sz="528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(Le Châtelier’s principle)</a:t>
            </a:r>
            <a:endParaRPr lang="en-US" sz="768" dirty="0"/>
          </a:p>
        </p:txBody>
      </p:sp>
      <p:sp>
        <p:nvSpPr>
          <p:cNvPr id="13" name="Text 10"/>
          <p:cNvSpPr/>
          <p:nvPr/>
        </p:nvSpPr>
        <p:spPr>
          <a:xfrm>
            <a:off x="2355162" y="3449548"/>
            <a:ext cx="1141783" cy="272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Reduction is coupled to an oxidation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205288" y="3449548"/>
            <a:ext cx="1343025" cy="272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Couples spontaneous + nonspontaneous reactions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239087" y="2903344"/>
            <a:ext cx="1603587" cy="389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CATABOLISM — oxidative breakdown </a:t>
            </a:r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uses NAD⁺ &amp; FAD → NADH, FADH₂ releases energy (exergonic)</a:t>
            </a:r>
            <a:endParaRPr lang="en-US" sz="768" dirty="0"/>
          </a:p>
        </p:txBody>
      </p:sp>
      <p:sp>
        <p:nvSpPr>
          <p:cNvPr id="16" name="Text 13"/>
          <p:cNvSpPr/>
          <p:nvPr/>
        </p:nvSpPr>
        <p:spPr>
          <a:xfrm>
            <a:off x="6227869" y="3854309"/>
            <a:ext cx="1625971" cy="389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ANABOLISM — reductive biosynthesis </a:t>
            </a:r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uses NADPH · requires energy ↓ entropy (builds order)</a:t>
            </a:r>
            <a:endParaRPr lang="en-US" sz="768" dirty="0"/>
          </a:p>
        </p:txBody>
      </p:sp>
      <p:sp>
        <p:nvSpPr>
          <p:cNvPr id="17" name="Text 14"/>
          <p:cNvSpPr/>
          <p:nvPr/>
        </p:nvSpPr>
        <p:spPr>
          <a:xfrm>
            <a:off x="9071557" y="3020346"/>
            <a:ext cx="1364086" cy="1550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METABOLISM OVERVIEW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982605" y="3333662"/>
            <a:ext cx="1541992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Catabolism: energy nutrients (carbs, lipids, proteins) → CO₂, H₂O, NH₃ + ATP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9001125" y="3736042"/>
            <a:ext cx="1504897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Anabolism: precursors (amino acids, sugars, fatty acids) → macromolecules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8859732" y="4148105"/>
            <a:ext cx="1787736" cy="1550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28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shared currency: ADP+Pi, NAD⁺ ⇌ ATP, NADH</a:t>
            </a:r>
            <a:endParaRPr lang="en-US" sz="528" dirty="0"/>
          </a:p>
        </p:txBody>
      </p:sp>
      <p:sp>
        <p:nvSpPr>
          <p:cNvPr id="21" name="Text 18"/>
          <p:cNvSpPr/>
          <p:nvPr/>
        </p:nvSpPr>
        <p:spPr>
          <a:xfrm>
            <a:off x="2344103" y="5330735"/>
            <a:ext cx="1163902" cy="155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3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Many irreversible steps</a:t>
            </a:r>
            <a:endParaRPr lang="en-US" sz="653" dirty="0"/>
          </a:p>
        </p:txBody>
      </p:sp>
      <p:sp>
        <p:nvSpPr>
          <p:cNvPr id="22" name="Text 19"/>
          <p:cNvSpPr/>
          <p:nvPr/>
        </p:nvSpPr>
        <p:spPr>
          <a:xfrm>
            <a:off x="2460149" y="6022042"/>
            <a:ext cx="931810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2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Spontaneous = large negative ΔG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4302284" y="5272213"/>
            <a:ext cx="1149032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Highly regulated, irreversible enzymes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6398101" y="5155262"/>
            <a:ext cx="1407425" cy="506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Most key enzymes are regulated by hormones AND by their own product (feedback inhibition) acting at the allosteric site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4431453" y="6012307"/>
            <a:ext cx="1378321" cy="3890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Example: glycolysis irreversible steps 1, 3, 10 → hexokinase, PFK-1, pyruvate kinase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2478987" y="8265389"/>
            <a:ext cx="955146" cy="2721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0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Thermodynamics </a:t>
            </a:r>
            <a:pPr algn="ctr" indent="0" marL="0">
              <a:lnSpc>
                <a:spcPct val="120000"/>
              </a:lnSpc>
              <a:buNone/>
            </a:pPr>
            <a:r>
              <a:rPr lang="en-US" sz="576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(gen chem / orgo)</a:t>
            </a:r>
            <a:endParaRPr lang="en-US" sz="768" dirty="0"/>
          </a:p>
        </p:txBody>
      </p:sp>
      <p:sp>
        <p:nvSpPr>
          <p:cNvPr id="27" name="Text 24"/>
          <p:cNvSpPr/>
          <p:nvPr/>
        </p:nvSpPr>
        <p:spPr>
          <a:xfrm>
            <a:off x="8483389" y="8115426"/>
            <a:ext cx="1260263" cy="3890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Complex IV has the highest reduction potential (E°′ = +) O₂ = final electron acceptor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8357024" y="8783496"/>
            <a:ext cx="1512941" cy="2720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7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Large drops in free energy drive H⁺ pumping at Complexes I, III, IV</a:t>
            </a:r>
            <a:endParaRPr lang="en-US" sz="576" dirty="0"/>
          </a:p>
        </p:txBody>
      </p:sp>
      <p:sp>
        <p:nvSpPr>
          <p:cNvPr id="29" name="Shape 26"/>
          <p:cNvSpPr/>
          <p:nvPr/>
        </p:nvSpPr>
        <p:spPr>
          <a:xfrm>
            <a:off x="3657494" y="5351004"/>
            <a:ext cx="426932" cy="76517"/>
          </a:xfrm>
          <a:prstGeom prst="roundRect">
            <a:avLst>
              <a:gd name="adj" fmla="val 23901"/>
            </a:avLst>
          </a:prstGeom>
          <a:solidFill>
            <a:srgbClr val="FFFFFF"/>
          </a:solidFill>
          <a:ln w="3387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91361" y="5360486"/>
            <a:ext cx="401891" cy="956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666666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controlled by</a:t>
            </a:r>
            <a:endParaRPr lang="en-US" sz="384" dirty="0"/>
          </a:p>
        </p:txBody>
      </p:sp>
      <p:sp>
        <p:nvSpPr>
          <p:cNvPr id="31" name="Text 28"/>
          <p:cNvSpPr/>
          <p:nvPr/>
        </p:nvSpPr>
        <p:spPr>
          <a:xfrm>
            <a:off x="4108662" y="7693516"/>
            <a:ext cx="218281" cy="10244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8A1E1E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High</a:t>
            </a:r>
            <a:endParaRPr lang="en-US" sz="432" dirty="0"/>
          </a:p>
        </p:txBody>
      </p:sp>
      <p:sp>
        <p:nvSpPr>
          <p:cNvPr id="32" name="Text 29"/>
          <p:cNvSpPr/>
          <p:nvPr/>
        </p:nvSpPr>
        <p:spPr>
          <a:xfrm>
            <a:off x="4133056" y="9327268"/>
            <a:ext cx="202512" cy="10244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1A5C8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Low</a:t>
            </a:r>
            <a:endParaRPr lang="en-US" sz="432" dirty="0"/>
          </a:p>
        </p:txBody>
      </p:sp>
      <p:sp>
        <p:nvSpPr>
          <p:cNvPr id="33" name="Text 30"/>
          <p:cNvSpPr/>
          <p:nvPr/>
        </p:nvSpPr>
        <p:spPr>
          <a:xfrm rot="-5400000">
            <a:off x="3823864" y="9097236"/>
            <a:ext cx="563880" cy="10515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Free energy (G)</a:t>
            </a:r>
            <a:endParaRPr lang="en-US" sz="432" dirty="0"/>
          </a:p>
        </p:txBody>
      </p:sp>
      <p:sp>
        <p:nvSpPr>
          <p:cNvPr id="34" name="Text 31"/>
          <p:cNvSpPr/>
          <p:nvPr/>
        </p:nvSpPr>
        <p:spPr>
          <a:xfrm>
            <a:off x="5120640" y="9522321"/>
            <a:ext cx="966100" cy="1126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555555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Electron Transport Chain ⟶</a:t>
            </a:r>
            <a:endParaRPr lang="en-US" sz="456" dirty="0"/>
          </a:p>
        </p:txBody>
      </p:sp>
      <p:sp>
        <p:nvSpPr>
          <p:cNvPr id="35" name="Text 32"/>
          <p:cNvSpPr/>
          <p:nvPr/>
        </p:nvSpPr>
        <p:spPr>
          <a:xfrm>
            <a:off x="4474422" y="7620391"/>
            <a:ext cx="465455" cy="10583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NAD⁺ / NADH</a:t>
            </a:r>
            <a:endParaRPr lang="en-US" sz="408" dirty="0"/>
          </a:p>
        </p:txBody>
      </p:sp>
      <p:sp>
        <p:nvSpPr>
          <p:cNvPr id="36" name="Text 33"/>
          <p:cNvSpPr/>
          <p:nvPr/>
        </p:nvSpPr>
        <p:spPr>
          <a:xfrm>
            <a:off x="4919451" y="7937357"/>
            <a:ext cx="355653" cy="956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Complex I</a:t>
            </a:r>
            <a:endParaRPr lang="en-US" sz="384" dirty="0"/>
          </a:p>
        </p:txBody>
      </p:sp>
      <p:sp>
        <p:nvSpPr>
          <p:cNvPr id="37" name="Text 34"/>
          <p:cNvSpPr/>
          <p:nvPr/>
        </p:nvSpPr>
        <p:spPr>
          <a:xfrm>
            <a:off x="5340086" y="8205592"/>
            <a:ext cx="120227" cy="990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Q</a:t>
            </a:r>
            <a:endParaRPr lang="en-US" sz="408" dirty="0"/>
          </a:p>
        </p:txBody>
      </p:sp>
      <p:sp>
        <p:nvSpPr>
          <p:cNvPr id="38" name="Text 35"/>
          <p:cNvSpPr/>
          <p:nvPr/>
        </p:nvSpPr>
        <p:spPr>
          <a:xfrm>
            <a:off x="5900897" y="8498221"/>
            <a:ext cx="408887" cy="956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Complex III</a:t>
            </a:r>
            <a:endParaRPr lang="en-US" sz="384" dirty="0"/>
          </a:p>
        </p:txBody>
      </p:sp>
      <p:sp>
        <p:nvSpPr>
          <p:cNvPr id="39" name="Text 36"/>
          <p:cNvSpPr/>
          <p:nvPr/>
        </p:nvSpPr>
        <p:spPr>
          <a:xfrm>
            <a:off x="6425142" y="8827364"/>
            <a:ext cx="204259" cy="956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cyt c</a:t>
            </a:r>
            <a:endParaRPr lang="en-US" sz="384" dirty="0"/>
          </a:p>
        </p:txBody>
      </p:sp>
      <p:sp>
        <p:nvSpPr>
          <p:cNvPr id="40" name="Text 37"/>
          <p:cNvSpPr/>
          <p:nvPr/>
        </p:nvSpPr>
        <p:spPr>
          <a:xfrm>
            <a:off x="6998176" y="9156557"/>
            <a:ext cx="392906" cy="956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Complex IV</a:t>
            </a:r>
            <a:endParaRPr lang="en-US" sz="384" dirty="0"/>
          </a:p>
        </p:txBody>
      </p:sp>
      <p:sp>
        <p:nvSpPr>
          <p:cNvPr id="41" name="Text 38"/>
          <p:cNvSpPr/>
          <p:nvPr/>
        </p:nvSpPr>
        <p:spPr>
          <a:xfrm>
            <a:off x="7546816" y="9510150"/>
            <a:ext cx="144833" cy="1092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2" b="1" dirty="0">
                <a:solidFill>
                  <a:srgbClr val="222222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O₂</a:t>
            </a:r>
            <a:endParaRPr lang="en-US" sz="432" dirty="0"/>
          </a:p>
        </p:txBody>
      </p:sp>
      <p:sp>
        <p:nvSpPr>
          <p:cNvPr id="42" name="Text 39"/>
          <p:cNvSpPr/>
          <p:nvPr/>
        </p:nvSpPr>
        <p:spPr>
          <a:xfrm>
            <a:off x="4620736" y="8449433"/>
            <a:ext cx="619707" cy="10244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84" b="1" dirty="0">
                <a:solidFill>
                  <a:srgbClr val="2D7A4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FADH₂ / Complex II</a:t>
            </a:r>
            <a:endParaRPr lang="en-US" sz="384" dirty="0"/>
          </a:p>
        </p:txBody>
      </p:sp>
      <p:sp>
        <p:nvSpPr>
          <p:cNvPr id="43" name="Shape 40"/>
          <p:cNvSpPr/>
          <p:nvPr/>
        </p:nvSpPr>
        <p:spPr>
          <a:xfrm>
            <a:off x="4858491" y="8120239"/>
            <a:ext cx="334910" cy="79902"/>
          </a:xfrm>
          <a:prstGeom prst="roundRect">
            <a:avLst>
              <a:gd name="adj" fmla="val 22888"/>
            </a:avLst>
          </a:prstGeom>
          <a:solidFill>
            <a:srgbClr val="E6F5EC"/>
          </a:solidFill>
          <a:ln w="3387">
            <a:solidFill>
              <a:srgbClr val="9FD4B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86262" y="8129722"/>
            <a:ext cx="355568" cy="99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1F7A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H⁺ pumped</a:t>
            </a:r>
            <a:endParaRPr lang="en-US" sz="360" dirty="0"/>
          </a:p>
        </p:txBody>
      </p:sp>
      <p:sp>
        <p:nvSpPr>
          <p:cNvPr id="45" name="Shape 42"/>
          <p:cNvSpPr/>
          <p:nvPr/>
        </p:nvSpPr>
        <p:spPr>
          <a:xfrm>
            <a:off x="5803371" y="8681103"/>
            <a:ext cx="334910" cy="79902"/>
          </a:xfrm>
          <a:prstGeom prst="roundRect">
            <a:avLst>
              <a:gd name="adj" fmla="val 22888"/>
            </a:avLst>
          </a:prstGeom>
          <a:solidFill>
            <a:srgbClr val="E6F5EC"/>
          </a:solidFill>
          <a:ln w="3387">
            <a:solidFill>
              <a:srgbClr val="9FD4B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31141" y="8690585"/>
            <a:ext cx="355568" cy="99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1F7A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H⁺ pumped</a:t>
            </a:r>
            <a:endParaRPr lang="en-US" sz="360" dirty="0"/>
          </a:p>
        </p:txBody>
      </p:sp>
      <p:sp>
        <p:nvSpPr>
          <p:cNvPr id="47" name="Shape 44"/>
          <p:cNvSpPr/>
          <p:nvPr/>
        </p:nvSpPr>
        <p:spPr>
          <a:xfrm>
            <a:off x="6900651" y="9339444"/>
            <a:ext cx="334910" cy="79902"/>
          </a:xfrm>
          <a:prstGeom prst="roundRect">
            <a:avLst>
              <a:gd name="adj" fmla="val 22888"/>
            </a:avLst>
          </a:prstGeom>
          <a:solidFill>
            <a:srgbClr val="E6F5EC"/>
          </a:solidFill>
          <a:ln w="3387">
            <a:solidFill>
              <a:srgbClr val="9FD4B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28422" y="9348927"/>
            <a:ext cx="355568" cy="99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1F7A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H⁺ pumped</a:t>
            </a:r>
            <a:endParaRPr lang="en-US" sz="360" dirty="0"/>
          </a:p>
        </p:txBody>
      </p:sp>
      <p:sp>
        <p:nvSpPr>
          <p:cNvPr id="49" name="Text 46"/>
          <p:cNvSpPr/>
          <p:nvPr/>
        </p:nvSpPr>
        <p:spPr>
          <a:xfrm>
            <a:off x="5303520" y="9168785"/>
            <a:ext cx="686329" cy="956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8A6A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large free-energy drops</a:t>
            </a:r>
            <a:endParaRPr lang="en-US" sz="360" dirty="0"/>
          </a:p>
        </p:txBody>
      </p:sp>
      <p:sp>
        <p:nvSpPr>
          <p:cNvPr id="50" name="Text 47"/>
          <p:cNvSpPr/>
          <p:nvPr/>
        </p:nvSpPr>
        <p:spPr>
          <a:xfrm>
            <a:off x="5303520" y="9241915"/>
            <a:ext cx="519483" cy="990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" b="1" dirty="0">
                <a:solidFill>
                  <a:srgbClr val="8A6A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drive H⁺ pumping</a:t>
            </a:r>
            <a:endParaRPr lang="en-US" sz="360" dirty="0"/>
          </a:p>
        </p:txBody>
      </p:sp>
      <p:sp>
        <p:nvSpPr>
          <p:cNvPr id="51" name="Text 48"/>
          <p:cNvSpPr/>
          <p:nvPr/>
        </p:nvSpPr>
        <p:spPr>
          <a:xfrm>
            <a:off x="2194560" y="268621"/>
            <a:ext cx="1103789" cy="11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26" kern="0" dirty="0">
                <a:solidFill>
                  <a:srgbClr val="9A6A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REACTANTS &amp; PRODUCTS</a:t>
            </a:r>
            <a:endParaRPr lang="en-US" sz="528" dirty="0"/>
          </a:p>
        </p:txBody>
      </p:sp>
      <p:sp>
        <p:nvSpPr>
          <p:cNvPr id="52" name="Text 49"/>
          <p:cNvSpPr/>
          <p:nvPr/>
        </p:nvSpPr>
        <p:spPr>
          <a:xfrm>
            <a:off x="2194560" y="2572876"/>
            <a:ext cx="1245764" cy="11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26" kern="0" dirty="0">
                <a:solidFill>
                  <a:srgbClr val="9A6A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REDOX &amp; ENERGY COUPLING</a:t>
            </a:r>
            <a:endParaRPr lang="en-US" sz="528" dirty="0"/>
          </a:p>
        </p:txBody>
      </p:sp>
      <p:sp>
        <p:nvSpPr>
          <p:cNvPr id="53" name="Text 50"/>
          <p:cNvSpPr/>
          <p:nvPr/>
        </p:nvSpPr>
        <p:spPr>
          <a:xfrm>
            <a:off x="2194560" y="4901585"/>
            <a:ext cx="607483" cy="11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26" kern="0" dirty="0">
                <a:solidFill>
                  <a:srgbClr val="9A6A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REGULATION</a:t>
            </a:r>
            <a:endParaRPr lang="en-US" sz="528" dirty="0"/>
          </a:p>
        </p:txBody>
      </p:sp>
      <p:sp>
        <p:nvSpPr>
          <p:cNvPr id="54" name="Text 51"/>
          <p:cNvSpPr/>
          <p:nvPr/>
        </p:nvSpPr>
        <p:spPr>
          <a:xfrm>
            <a:off x="2194560" y="7352151"/>
            <a:ext cx="2535148" cy="11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26" kern="0" dirty="0">
                <a:solidFill>
                  <a:srgbClr val="9A6A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THERMODYNAMICS &amp; THE ELECTRON TRANSPORT CHAIN</a:t>
            </a:r>
            <a:endParaRPr lang="en-US" sz="528" dirty="0"/>
          </a:p>
        </p:txBody>
      </p:sp>
      <p:sp>
        <p:nvSpPr>
          <p:cNvPr id="55" name="Text 52"/>
          <p:cNvSpPr/>
          <p:nvPr/>
        </p:nvSpPr>
        <p:spPr>
          <a:xfrm>
            <a:off x="256011" y="6059821"/>
            <a:ext cx="401373" cy="119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8" b="1" spc="32" kern="0" dirty="0">
                <a:solidFill>
                  <a:srgbClr val="5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528" dirty="0"/>
          </a:p>
        </p:txBody>
      </p:sp>
      <p:sp>
        <p:nvSpPr>
          <p:cNvPr id="56" name="Text 53"/>
          <p:cNvSpPr/>
          <p:nvPr/>
        </p:nvSpPr>
        <p:spPr>
          <a:xfrm>
            <a:off x="256011" y="6230480"/>
            <a:ext cx="608436" cy="112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4A3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▭ concept / rule</a:t>
            </a:r>
            <a:endParaRPr lang="en-US" sz="456" dirty="0"/>
          </a:p>
        </p:txBody>
      </p:sp>
      <p:sp>
        <p:nvSpPr>
          <p:cNvPr id="57" name="Text 54"/>
          <p:cNvSpPr/>
          <p:nvPr/>
        </p:nvSpPr>
        <p:spPr>
          <a:xfrm>
            <a:off x="256011" y="6376797"/>
            <a:ext cx="435663" cy="115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9A5A18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⬭ key term</a:t>
            </a:r>
            <a:endParaRPr lang="en-US" sz="456" dirty="0"/>
          </a:p>
        </p:txBody>
      </p:sp>
      <p:sp>
        <p:nvSpPr>
          <p:cNvPr id="58" name="Text 55"/>
          <p:cNvSpPr/>
          <p:nvPr/>
        </p:nvSpPr>
        <p:spPr>
          <a:xfrm>
            <a:off x="256011" y="6523109"/>
            <a:ext cx="748030" cy="112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A8521E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▭ catabolic (orange)</a:t>
            </a:r>
            <a:endParaRPr lang="en-US" sz="456" dirty="0"/>
          </a:p>
        </p:txBody>
      </p:sp>
      <p:sp>
        <p:nvSpPr>
          <p:cNvPr id="59" name="Text 56"/>
          <p:cNvSpPr/>
          <p:nvPr/>
        </p:nvSpPr>
        <p:spPr>
          <a:xfrm>
            <a:off x="256011" y="6669425"/>
            <a:ext cx="641403" cy="112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35608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▭ anabolic (blue)</a:t>
            </a:r>
            <a:endParaRPr lang="en-US" sz="456" dirty="0"/>
          </a:p>
        </p:txBody>
      </p:sp>
      <p:sp>
        <p:nvSpPr>
          <p:cNvPr id="60" name="Text 57"/>
          <p:cNvSpPr/>
          <p:nvPr/>
        </p:nvSpPr>
        <p:spPr>
          <a:xfrm>
            <a:off x="256011" y="6815682"/>
            <a:ext cx="644948" cy="126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7A6A3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┌┄┐ note / detail</a:t>
            </a:r>
            <a:endParaRPr lang="en-US" sz="456" dirty="0"/>
          </a:p>
        </p:txBody>
      </p:sp>
      <p:sp>
        <p:nvSpPr>
          <p:cNvPr id="61" name="Text 58"/>
          <p:cNvSpPr/>
          <p:nvPr/>
        </p:nvSpPr>
        <p:spPr>
          <a:xfrm>
            <a:off x="256011" y="7096144"/>
            <a:ext cx="970492" cy="99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" b="1" dirty="0">
                <a:solidFill>
                  <a:srgbClr val="8A7A5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Reorganized from source map;</a:t>
            </a:r>
            <a:endParaRPr lang="en-US" sz="408" dirty="0"/>
          </a:p>
        </p:txBody>
      </p:sp>
      <p:sp>
        <p:nvSpPr>
          <p:cNvPr id="62" name="Text 59"/>
          <p:cNvSpPr/>
          <p:nvPr/>
        </p:nvSpPr>
        <p:spPr>
          <a:xfrm>
            <a:off x="256011" y="7181445"/>
            <a:ext cx="1254919" cy="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" b="1" dirty="0">
                <a:solidFill>
                  <a:srgbClr val="8A7A5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facts per Kaplan / UWorld / Jack Westin</a:t>
            </a:r>
            <a:endParaRPr lang="en-US" sz="40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1143000"/>
            <a:ext cx="18288002" cy="80010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165822"/>
            <a:ext cx="1069231" cy="10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" b="1" spc="36" kern="0" dirty="0">
                <a:solidFill>
                  <a:srgbClr val="9AA3A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B/B · MCAT BIOCHEMISTRY</a:t>
            </a:r>
            <a:endParaRPr lang="en-US" sz="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143000"/>
            <a:ext cx="18288002" cy="8001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2056" y="1368475"/>
            <a:ext cx="1779340" cy="1814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PROTEIN MODIFICATION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1894185" y="1608186"/>
            <a:ext cx="1355130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post-translational modifications (PTMs)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1168301" y="2056256"/>
            <a:ext cx="635149" cy="1546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Enzymatic</a:t>
            </a:r>
            <a:endParaRPr lang="en-US" sz="765" dirty="0"/>
          </a:p>
        </p:txBody>
      </p:sp>
      <p:sp>
        <p:nvSpPr>
          <p:cNvPr id="9" name="Text 6"/>
          <p:cNvSpPr/>
          <p:nvPr/>
        </p:nvSpPr>
        <p:spPr>
          <a:xfrm>
            <a:off x="3407668" y="2056256"/>
            <a:ext cx="899865" cy="1546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65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Non-Enzymatic</a:t>
            </a:r>
            <a:endParaRPr lang="en-US" sz="765" dirty="0"/>
          </a:p>
        </p:txBody>
      </p:sp>
      <p:sp>
        <p:nvSpPr>
          <p:cNvPr id="10" name="Text 7"/>
          <p:cNvSpPr/>
          <p:nvPr/>
        </p:nvSpPr>
        <p:spPr>
          <a:xfrm>
            <a:off x="259854" y="2699742"/>
            <a:ext cx="79474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Phosphorylation</a:t>
            </a:r>
            <a:endParaRPr lang="en-US" sz="616" dirty="0"/>
          </a:p>
        </p:txBody>
      </p:sp>
      <p:sp>
        <p:nvSpPr>
          <p:cNvPr id="11" name="Text 8"/>
          <p:cNvSpPr/>
          <p:nvPr/>
        </p:nvSpPr>
        <p:spPr>
          <a:xfrm>
            <a:off x="292249" y="2893023"/>
            <a:ext cx="729903" cy="3671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1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Kinase ↔ Phosphatase </a:t>
            </a:r>
            <a:pPr algn="ctr" indent="0" marL="0">
              <a:lnSpc>
                <a:spcPct val="120000"/>
              </a:lnSpc>
              <a:buNone/>
            </a:pPr>
            <a:r>
              <a:rPr lang="en-US" sz="41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PO₄ on Ser/Thr/Tyr on/off switch · signaling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346597" y="2699742"/>
            <a:ext cx="67860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Glycosylation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1335484" y="2861025"/>
            <a:ext cx="700881" cy="476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1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Glycosyltransferases </a:t>
            </a:r>
            <a:pPr algn="ctr" indent="0" marL="0">
              <a:lnSpc>
                <a:spcPct val="120000"/>
              </a:lnSpc>
              <a:buNone/>
            </a:pPr>
            <a:r>
              <a:rPr lang="en-US" sz="41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sugar on Asn (N) or Ser/Thr (O) folding · recognition tag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395734" y="3614142"/>
            <a:ext cx="52298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Lipidation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257919" y="3807423"/>
            <a:ext cx="798562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prenyl/palmitoyl/GPI </a:t>
            </a:r>
            <a:pPr algn="ctr" indent="0" marL="0">
              <a:lnSpc>
                <a:spcPct val="120000"/>
              </a:lnSpc>
              <a:buNone/>
            </a:pPr>
            <a:r>
              <a:rPr lang="en-US" sz="464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anchors protein to membrane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1328539" y="3614142"/>
            <a:ext cx="71472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Ubiquitination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1298178" y="3775425"/>
            <a:ext cx="775444" cy="476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E1-E2-E3 ligase cascade </a:t>
            </a:r>
            <a:pPr algn="ctr" indent="0" marL="0">
              <a:lnSpc>
                <a:spcPct val="120000"/>
              </a:lnSpc>
              <a:buNone/>
            </a:pPr>
            <a:r>
              <a:rPr lang="en-US" sz="405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ubiquitin tag on Lys flags for proteasome → breakdown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365423" y="4528542"/>
            <a:ext cx="583605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Acetylation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289570" y="4689821"/>
            <a:ext cx="735310" cy="476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Acetyltransferase </a:t>
            </a:r>
            <a:pPr algn="ctr" indent="0" marL="0">
              <a:lnSpc>
                <a:spcPct val="120000"/>
              </a:lnSpc>
              <a:buNone/>
            </a:pPr>
            <a:r>
              <a:rPr lang="en-US" sz="45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acetyl-CoA on Lys neutralizes + charge histones → epigenetics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1382316" y="4528542"/>
            <a:ext cx="607219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Methylation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1286173" y="4721819"/>
            <a:ext cx="799505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Methyltransferase (SAM) </a:t>
            </a:r>
            <a:pPr algn="ctr" indent="0" marL="0">
              <a:lnSpc>
                <a:spcPct val="120000"/>
              </a:lnSpc>
              <a:buNone/>
            </a:pPr>
            <a:r>
              <a:rPr lang="en-US" sz="405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methyl on Lys/Arg activate/repress genes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01440" y="5442947"/>
            <a:ext cx="865981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Proteolytic Cleavage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763141" y="5651055"/>
            <a:ext cx="942578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removes peptide segments </a:t>
            </a:r>
            <a:pPr algn="ctr" indent="0" marL="0">
              <a:lnSpc>
                <a:spcPct val="120000"/>
              </a:lnSpc>
              <a:buNone/>
            </a:pPr>
            <a:r>
              <a:rPr lang="en-US" sz="450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zymogen → active enzyme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2923431" y="2699742"/>
            <a:ext cx="496788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Glycation</a:t>
            </a:r>
            <a:endParaRPr lang="en-US" sz="630" dirty="0"/>
          </a:p>
        </p:txBody>
      </p:sp>
      <p:sp>
        <p:nvSpPr>
          <p:cNvPr id="25" name="Text 22"/>
          <p:cNvSpPr/>
          <p:nvPr/>
        </p:nvSpPr>
        <p:spPr>
          <a:xfrm>
            <a:off x="2773462" y="2861025"/>
            <a:ext cx="796726" cy="476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7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spontaneous sugar on Lys NOT enzyme-driven </a:t>
            </a:r>
            <a:pPr algn="ctr" indent="0" marL="0">
              <a:lnSpc>
                <a:spcPct val="120000"/>
              </a:lnSpc>
              <a:buNone/>
            </a:pPr>
            <a:r>
              <a:rPr lang="en-US" sz="387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HbA1c = glucose marker linked to aging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3893592" y="2699742"/>
            <a:ext cx="72816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Disulfide Bond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3897462" y="2915845"/>
            <a:ext cx="720428" cy="3671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two Cys → S–S bond </a:t>
            </a:r>
            <a:pPr algn="ctr" indent="0" marL="0">
              <a:lnSpc>
                <a:spcPct val="120000"/>
              </a:lnSpc>
              <a:buNone/>
            </a:pPr>
            <a:r>
              <a:rPr lang="en-US" sz="44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spontaneous oxidation stabilizes 3D structure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2848124" y="3614142"/>
            <a:ext cx="64740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Deamination</a:t>
            </a:r>
            <a:endParaRPr lang="en-US" sz="630" dirty="0"/>
          </a:p>
        </p:txBody>
      </p:sp>
      <p:sp>
        <p:nvSpPr>
          <p:cNvPr id="29" name="Text 26"/>
          <p:cNvSpPr/>
          <p:nvPr/>
        </p:nvSpPr>
        <p:spPr>
          <a:xfrm>
            <a:off x="2787502" y="3807423"/>
            <a:ext cx="768598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Asn→Asp · Gln→Glu </a:t>
            </a:r>
            <a:pPr algn="ctr" indent="0" marL="0">
              <a:lnSpc>
                <a:spcPct val="120000"/>
              </a:lnSpc>
              <a:buNone/>
            </a:pPr>
            <a:r>
              <a:rPr lang="en-US" sz="464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spontaneous hydrolysis alters folding · aging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4002534" y="3614142"/>
            <a:ext cx="51023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Oxidation</a:t>
            </a:r>
            <a:endParaRPr lang="en-US" sz="630" dirty="0"/>
          </a:p>
        </p:txBody>
      </p:sp>
      <p:sp>
        <p:nvSpPr>
          <p:cNvPr id="31" name="Text 28"/>
          <p:cNvSpPr/>
          <p:nvPr/>
        </p:nvSpPr>
        <p:spPr>
          <a:xfrm>
            <a:off x="3900388" y="3784550"/>
            <a:ext cx="714574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ROS modifies Met/Cys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side chain damage linked to aging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356967" y="4471392"/>
            <a:ext cx="704106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3D251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Isomerization</a:t>
            </a:r>
            <a:endParaRPr lang="en-US" sz="630" dirty="0"/>
          </a:p>
        </p:txBody>
      </p:sp>
      <p:sp>
        <p:nvSpPr>
          <p:cNvPr id="33" name="Text 30"/>
          <p:cNvSpPr/>
          <p:nvPr/>
        </p:nvSpPr>
        <p:spPr>
          <a:xfrm>
            <a:off x="3372743" y="4641800"/>
            <a:ext cx="672554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L→D or cis/trans Pro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spontaneous alters folding kinetics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1643559" y="6116241"/>
            <a:ext cx="1970633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KEY DISTINCTION </a:t>
            </a:r>
            <a:pPr algn="ctr" indent="0" marL="0">
              <a:lnSpc>
                <a:spcPct val="120000"/>
              </a:lnSpc>
              <a:buNone/>
            </a:pPr>
            <a:r>
              <a:rPr lang="en-US" sz="396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Enzymatic: specific · regulated · reversible → signaling Non-enzymatic: spontaneous · irreversible · accumulates → damage/aging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10224940" y="1368177"/>
            <a:ext cx="1438573" cy="1820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PLASMA MEMBRANE</a:t>
            </a:r>
            <a:endParaRPr lang="en-US" sz="945" dirty="0"/>
          </a:p>
        </p:txBody>
      </p:sp>
      <p:sp>
        <p:nvSpPr>
          <p:cNvPr id="36" name="Text 33"/>
          <p:cNvSpPr/>
          <p:nvPr/>
        </p:nvSpPr>
        <p:spPr>
          <a:xfrm>
            <a:off x="10603559" y="1608186"/>
            <a:ext cx="681286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fluid mosaic model</a:t>
            </a:r>
            <a:endParaRPr lang="en-US" sz="450" dirty="0"/>
          </a:p>
        </p:txBody>
      </p:sp>
      <p:sp>
        <p:nvSpPr>
          <p:cNvPr id="37" name="Text 34"/>
          <p:cNvSpPr/>
          <p:nvPr/>
        </p:nvSpPr>
        <p:spPr>
          <a:xfrm>
            <a:off x="8697020" y="2058098"/>
            <a:ext cx="551011" cy="1509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29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« Fluid »</a:t>
            </a:r>
            <a:endParaRPr lang="en-US" sz="729" dirty="0"/>
          </a:p>
        </p:txBody>
      </p:sp>
      <p:sp>
        <p:nvSpPr>
          <p:cNvPr id="38" name="Text 35"/>
          <p:cNvSpPr/>
          <p:nvPr/>
        </p:nvSpPr>
        <p:spPr>
          <a:xfrm>
            <a:off x="11877676" y="2059684"/>
            <a:ext cx="590501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« Mosaic »</a:t>
            </a:r>
            <a:endParaRPr lang="en-US" sz="653" dirty="0"/>
          </a:p>
        </p:txBody>
      </p:sp>
      <p:sp>
        <p:nvSpPr>
          <p:cNvPr id="39" name="Text 36"/>
          <p:cNvSpPr/>
          <p:nvPr/>
        </p:nvSpPr>
        <p:spPr>
          <a:xfrm>
            <a:off x="8169821" y="2619775"/>
            <a:ext cx="576710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Movement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7757171" y="3134125"/>
            <a:ext cx="716211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Lateral Diffusion</a:t>
            </a:r>
            <a:endParaRPr lang="en-US" sz="540" dirty="0"/>
          </a:p>
        </p:txBody>
      </p:sp>
      <p:sp>
        <p:nvSpPr>
          <p:cNvPr id="41" name="Text 38"/>
          <p:cNvSpPr/>
          <p:nvPr/>
        </p:nvSpPr>
        <p:spPr>
          <a:xfrm>
            <a:off x="7710439" y="3351265"/>
            <a:ext cx="809724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3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unrestricted · spontaneous</a:t>
            </a:r>
            <a:endParaRPr lang="en-US" sz="383" dirty="0"/>
          </a:p>
        </p:txBody>
      </p:sp>
      <p:sp>
        <p:nvSpPr>
          <p:cNvPr id="42" name="Text 39"/>
          <p:cNvSpPr/>
          <p:nvPr/>
        </p:nvSpPr>
        <p:spPr>
          <a:xfrm>
            <a:off x="8863410" y="3134125"/>
            <a:ext cx="675432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ATP-Driven Flip</a:t>
            </a:r>
            <a:endParaRPr lang="en-US" sz="540" dirty="0"/>
          </a:p>
        </p:txBody>
      </p:sp>
      <p:sp>
        <p:nvSpPr>
          <p:cNvPr id="43" name="Text 40"/>
          <p:cNvSpPr/>
          <p:nvPr/>
        </p:nvSpPr>
        <p:spPr>
          <a:xfrm>
            <a:off x="8808493" y="3351265"/>
            <a:ext cx="785267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moves lipid btwn leaflets</a:t>
            </a:r>
            <a:endParaRPr lang="en-US" sz="396" dirty="0"/>
          </a:p>
        </p:txBody>
      </p:sp>
      <p:sp>
        <p:nvSpPr>
          <p:cNvPr id="44" name="Text 41"/>
          <p:cNvSpPr/>
          <p:nvPr/>
        </p:nvSpPr>
        <p:spPr>
          <a:xfrm>
            <a:off x="8077598" y="3819920"/>
            <a:ext cx="87550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94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Fluidity Regulation</a:t>
            </a:r>
            <a:endParaRPr lang="en-US" sz="594" dirty="0"/>
          </a:p>
        </p:txBody>
      </p:sp>
      <p:sp>
        <p:nvSpPr>
          <p:cNvPr id="45" name="Text 42"/>
          <p:cNvSpPr/>
          <p:nvPr/>
        </p:nvSpPr>
        <p:spPr>
          <a:xfrm>
            <a:off x="7505403" y="4258866"/>
            <a:ext cx="819745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Temp ↑ → more fluid </a:t>
            </a:r>
            <a:pPr algn="ctr" indent="0" marL="0">
              <a:lnSpc>
                <a:spcPct val="120000"/>
              </a:lnSpc>
              <a:buNone/>
            </a:pPr>
            <a:r>
              <a:rPr lang="en-US" sz="45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adapt: ↑ saturated FAs + cholesterol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8703569" y="4258866"/>
            <a:ext cx="823714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4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Temp ↓ → more rigid </a:t>
            </a:r>
            <a:pPr algn="ctr" indent="0" marL="0">
              <a:lnSpc>
                <a:spcPct val="120000"/>
              </a:lnSpc>
              <a:buNone/>
            </a:pPr>
            <a:r>
              <a:rPr lang="en-US" sz="459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adapt: ↑ unsaturated FAs kinks prevent packing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8088611" y="4711457"/>
            <a:ext cx="853479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2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Cholesterol = fluidity buffer</a:t>
            </a:r>
            <a:endParaRPr lang="en-US" sz="392" dirty="0"/>
          </a:p>
        </p:txBody>
      </p:sp>
      <p:sp>
        <p:nvSpPr>
          <p:cNvPr id="48" name="Text 45"/>
          <p:cNvSpPr/>
          <p:nvPr/>
        </p:nvSpPr>
        <p:spPr>
          <a:xfrm>
            <a:off x="10956925" y="2619775"/>
            <a:ext cx="774700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Semipermeable</a:t>
            </a:r>
            <a:endParaRPr lang="en-US" sz="630" dirty="0"/>
          </a:p>
        </p:txBody>
      </p:sp>
      <p:sp>
        <p:nvSpPr>
          <p:cNvPr id="49" name="Text 46"/>
          <p:cNvSpPr/>
          <p:nvPr/>
        </p:nvSpPr>
        <p:spPr>
          <a:xfrm>
            <a:off x="10615167" y="3134125"/>
            <a:ext cx="600968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Passes Freely</a:t>
            </a:r>
            <a:endParaRPr lang="en-US" sz="540" dirty="0"/>
          </a:p>
        </p:txBody>
      </p:sp>
      <p:sp>
        <p:nvSpPr>
          <p:cNvPr id="50" name="Text 47"/>
          <p:cNvSpPr/>
          <p:nvPr/>
        </p:nvSpPr>
        <p:spPr>
          <a:xfrm>
            <a:off x="10568882" y="3319314"/>
            <a:ext cx="693490" cy="2574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uncharged · small </a:t>
            </a:r>
            <a:pPr algn="ctr" indent="0" marL="0">
              <a:lnSpc>
                <a:spcPct val="120000"/>
              </a:lnSpc>
              <a:buNone/>
            </a:pPr>
            <a:r>
              <a:rPr lang="en-US" sz="48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nonpolar (O₂, CO₂)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11688516" y="3134125"/>
            <a:ext cx="511622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Needs Help</a:t>
            </a:r>
            <a:endParaRPr lang="en-US" sz="540" dirty="0"/>
          </a:p>
        </p:txBody>
      </p:sp>
      <p:sp>
        <p:nvSpPr>
          <p:cNvPr id="52" name="Text 49"/>
          <p:cNvSpPr/>
          <p:nvPr/>
        </p:nvSpPr>
        <p:spPr>
          <a:xfrm>
            <a:off x="11691641" y="3281609"/>
            <a:ext cx="505421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charged · large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polar · ions glucose · H₂O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12669838" y="2619775"/>
            <a:ext cx="949325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Selective Transport</a:t>
            </a:r>
            <a:endParaRPr lang="en-US" sz="630" dirty="0"/>
          </a:p>
        </p:txBody>
      </p:sp>
      <p:sp>
        <p:nvSpPr>
          <p:cNvPr id="54" name="Text 51"/>
          <p:cNvSpPr/>
          <p:nvPr/>
        </p:nvSpPr>
        <p:spPr>
          <a:xfrm>
            <a:off x="12016234" y="3134125"/>
            <a:ext cx="427733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Channels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11922622" y="3351265"/>
            <a:ext cx="614958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3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Na⁺/K⁺ · aquaporins</a:t>
            </a:r>
            <a:endParaRPr lang="en-US" sz="383" dirty="0"/>
          </a:p>
        </p:txBody>
      </p:sp>
      <p:sp>
        <p:nvSpPr>
          <p:cNvPr id="56" name="Text 53"/>
          <p:cNvSpPr/>
          <p:nvPr/>
        </p:nvSpPr>
        <p:spPr>
          <a:xfrm>
            <a:off x="12838461" y="3134125"/>
            <a:ext cx="383431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Carriers</a:t>
            </a:r>
            <a:endParaRPr lang="en-US" sz="540" dirty="0"/>
          </a:p>
        </p:txBody>
      </p:sp>
      <p:sp>
        <p:nvSpPr>
          <p:cNvPr id="57" name="Text 54"/>
          <p:cNvSpPr/>
          <p:nvPr/>
        </p:nvSpPr>
        <p:spPr>
          <a:xfrm>
            <a:off x="12771538" y="3351265"/>
            <a:ext cx="517278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transporters</a:t>
            </a:r>
            <a:endParaRPr lang="en-US" sz="495" dirty="0"/>
          </a:p>
        </p:txBody>
      </p:sp>
      <p:sp>
        <p:nvSpPr>
          <p:cNvPr id="58" name="Text 55"/>
          <p:cNvSpPr/>
          <p:nvPr/>
        </p:nvSpPr>
        <p:spPr>
          <a:xfrm>
            <a:off x="13633500" y="3134125"/>
            <a:ext cx="336452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Pumps</a:t>
            </a:r>
            <a:endParaRPr lang="en-US" sz="540" dirty="0"/>
          </a:p>
        </p:txBody>
      </p:sp>
      <p:sp>
        <p:nvSpPr>
          <p:cNvPr id="59" name="Text 56"/>
          <p:cNvSpPr/>
          <p:nvPr/>
        </p:nvSpPr>
        <p:spPr>
          <a:xfrm>
            <a:off x="13504963" y="3351265"/>
            <a:ext cx="593526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Na⁺/K⁺ ATPase</a:t>
            </a:r>
            <a:endParaRPr lang="en-US" sz="495" dirty="0"/>
          </a:p>
        </p:txBody>
      </p:sp>
      <p:sp>
        <p:nvSpPr>
          <p:cNvPr id="60" name="Text 57"/>
          <p:cNvSpPr/>
          <p:nvPr/>
        </p:nvSpPr>
        <p:spPr>
          <a:xfrm>
            <a:off x="14342170" y="3134125"/>
            <a:ext cx="462161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Receptors</a:t>
            </a:r>
            <a:endParaRPr lang="en-US" sz="540" dirty="0"/>
          </a:p>
        </p:txBody>
      </p:sp>
      <p:sp>
        <p:nvSpPr>
          <p:cNvPr id="61" name="Text 58"/>
          <p:cNvSpPr/>
          <p:nvPr/>
        </p:nvSpPr>
        <p:spPr>
          <a:xfrm>
            <a:off x="14420652" y="3351265"/>
            <a:ext cx="305147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GPCRs</a:t>
            </a:r>
            <a:endParaRPr lang="en-US" sz="495" dirty="0"/>
          </a:p>
        </p:txBody>
      </p:sp>
      <p:sp>
        <p:nvSpPr>
          <p:cNvPr id="62" name="Text 59"/>
          <p:cNvSpPr/>
          <p:nvPr/>
        </p:nvSpPr>
        <p:spPr>
          <a:xfrm>
            <a:off x="10954396" y="3877070"/>
            <a:ext cx="951210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Membrane Proteins</a:t>
            </a:r>
            <a:endParaRPr lang="en-US" sz="630" dirty="0"/>
          </a:p>
        </p:txBody>
      </p:sp>
      <p:sp>
        <p:nvSpPr>
          <p:cNvPr id="63" name="Text 60"/>
          <p:cNvSpPr/>
          <p:nvPr/>
        </p:nvSpPr>
        <p:spPr>
          <a:xfrm>
            <a:off x="10654557" y="4370836"/>
            <a:ext cx="705049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Integral / Transmembrane</a:t>
            </a:r>
            <a:endParaRPr lang="en-US" sz="540" dirty="0"/>
          </a:p>
        </p:txBody>
      </p:sp>
      <p:sp>
        <p:nvSpPr>
          <p:cNvPr id="64" name="Text 61"/>
          <p:cNvSpPr/>
          <p:nvPr/>
        </p:nvSpPr>
        <p:spPr>
          <a:xfrm>
            <a:off x="10577315" y="4630345"/>
            <a:ext cx="859531" cy="3671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α-helix or β-barrel </a:t>
            </a:r>
            <a:pPr algn="ctr" indent="0" marL="0">
              <a:lnSpc>
                <a:spcPct val="120000"/>
              </a:lnSpc>
              <a:buNone/>
            </a:pPr>
            <a:r>
              <a:rPr lang="en-US" sz="495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embedded · hydrophobic permanent anchoring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11958242" y="4425707"/>
            <a:ext cx="475059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Peripheral</a:t>
            </a:r>
            <a:endParaRPr lang="en-US" sz="540" dirty="0"/>
          </a:p>
        </p:txBody>
      </p:sp>
      <p:sp>
        <p:nvSpPr>
          <p:cNvPr id="66" name="Text 63"/>
          <p:cNvSpPr/>
          <p:nvPr/>
        </p:nvSpPr>
        <p:spPr>
          <a:xfrm>
            <a:off x="11877131" y="4607472"/>
            <a:ext cx="637331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associated surfaces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loosely attached removable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13243323" y="3877070"/>
            <a:ext cx="83100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Membrane Carbs</a:t>
            </a:r>
            <a:endParaRPr lang="en-US" sz="630" dirty="0"/>
          </a:p>
        </p:txBody>
      </p:sp>
      <p:sp>
        <p:nvSpPr>
          <p:cNvPr id="68" name="Text 65"/>
          <p:cNvSpPr/>
          <p:nvPr/>
        </p:nvSpPr>
        <p:spPr>
          <a:xfrm>
            <a:off x="12974936" y="4391420"/>
            <a:ext cx="453430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Glycolipid</a:t>
            </a:r>
            <a:endParaRPr lang="en-US" sz="540" dirty="0"/>
          </a:p>
        </p:txBody>
      </p:sp>
      <p:sp>
        <p:nvSpPr>
          <p:cNvPr id="69" name="Text 66"/>
          <p:cNvSpPr/>
          <p:nvPr/>
        </p:nvSpPr>
        <p:spPr>
          <a:xfrm>
            <a:off x="13817005" y="4391420"/>
            <a:ext cx="540891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13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Glycoprotein</a:t>
            </a:r>
            <a:endParaRPr lang="en-US" sz="513" dirty="0"/>
          </a:p>
        </p:txBody>
      </p:sp>
      <p:sp>
        <p:nvSpPr>
          <p:cNvPr id="70" name="Text 67"/>
          <p:cNvSpPr/>
          <p:nvPr/>
        </p:nvSpPr>
        <p:spPr>
          <a:xfrm>
            <a:off x="12990613" y="4608561"/>
            <a:ext cx="133642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exterior face only → cell recognition</a:t>
            </a:r>
            <a:endParaRPr lang="en-US" sz="491" dirty="0"/>
          </a:p>
        </p:txBody>
      </p:sp>
      <p:sp>
        <p:nvSpPr>
          <p:cNvPr id="71" name="Text 68"/>
          <p:cNvSpPr/>
          <p:nvPr/>
        </p:nvSpPr>
        <p:spPr>
          <a:xfrm>
            <a:off x="15147729" y="3877070"/>
            <a:ext cx="336897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CAMs</a:t>
            </a:r>
            <a:endParaRPr lang="en-US" sz="675" dirty="0"/>
          </a:p>
        </p:txBody>
      </p:sp>
      <p:sp>
        <p:nvSpPr>
          <p:cNvPr id="72" name="Text 69"/>
          <p:cNvSpPr/>
          <p:nvPr/>
        </p:nvSpPr>
        <p:spPr>
          <a:xfrm>
            <a:off x="14505981" y="4414242"/>
            <a:ext cx="420241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Cadherin</a:t>
            </a:r>
            <a:endParaRPr lang="en-US" sz="540" dirty="0"/>
          </a:p>
        </p:txBody>
      </p:sp>
      <p:sp>
        <p:nvSpPr>
          <p:cNvPr id="73" name="Text 70"/>
          <p:cNvSpPr/>
          <p:nvPr/>
        </p:nvSpPr>
        <p:spPr>
          <a:xfrm>
            <a:off x="14456868" y="4622355"/>
            <a:ext cx="518518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Ca²⁺ dependent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cell-cell cohesion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15262327" y="4414242"/>
            <a:ext cx="393501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Integrin</a:t>
            </a:r>
            <a:endParaRPr lang="en-US" sz="540" dirty="0"/>
          </a:p>
        </p:txBody>
      </p:sp>
      <p:sp>
        <p:nvSpPr>
          <p:cNvPr id="75" name="Text 72"/>
          <p:cNvSpPr/>
          <p:nvPr/>
        </p:nvSpPr>
        <p:spPr>
          <a:xfrm>
            <a:off x="15206812" y="4622355"/>
            <a:ext cx="504528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α,β subunits </a:t>
            </a:r>
            <a:pPr algn="ctr" indent="0" marL="0">
              <a:lnSpc>
                <a:spcPct val="120000"/>
              </a:lnSpc>
              <a:buNone/>
            </a:pPr>
            <a:r>
              <a:rPr lang="en-US" sz="48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binds ECM</a:t>
            </a:r>
            <a:endParaRPr lang="en-US" sz="720" dirty="0"/>
          </a:p>
        </p:txBody>
      </p:sp>
      <p:sp>
        <p:nvSpPr>
          <p:cNvPr id="76" name="Text 73"/>
          <p:cNvSpPr/>
          <p:nvPr/>
        </p:nvSpPr>
        <p:spPr>
          <a:xfrm>
            <a:off x="16010386" y="4414242"/>
            <a:ext cx="383233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Selectin</a:t>
            </a:r>
            <a:endParaRPr lang="en-US" sz="540" dirty="0"/>
          </a:p>
        </p:txBody>
      </p:sp>
      <p:sp>
        <p:nvSpPr>
          <p:cNvPr id="77" name="Text 74"/>
          <p:cNvSpPr/>
          <p:nvPr/>
        </p:nvSpPr>
        <p:spPr>
          <a:xfrm>
            <a:off x="15965339" y="4622355"/>
            <a:ext cx="473323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binds carbs </a:t>
            </a:r>
            <a:pPr algn="ctr" indent="0" marL="0">
              <a:lnSpc>
                <a:spcPct val="120000"/>
              </a:lnSpc>
              <a:buNone/>
            </a:pPr>
            <a:r>
              <a:rPr lang="en-US" sz="48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immunity</a:t>
            </a:r>
            <a:endParaRPr lang="en-US" sz="720" dirty="0"/>
          </a:p>
        </p:txBody>
      </p:sp>
      <p:sp>
        <p:nvSpPr>
          <p:cNvPr id="78" name="Text 75"/>
          <p:cNvSpPr/>
          <p:nvPr/>
        </p:nvSpPr>
        <p:spPr>
          <a:xfrm>
            <a:off x="10993785" y="5248670"/>
            <a:ext cx="872431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5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Phospholipid Bilayer</a:t>
            </a:r>
            <a:endParaRPr lang="en-US" sz="545" dirty="0"/>
          </a:p>
        </p:txBody>
      </p:sp>
      <p:sp>
        <p:nvSpPr>
          <p:cNvPr id="79" name="Text 76"/>
          <p:cNvSpPr/>
          <p:nvPr/>
        </p:nvSpPr>
        <p:spPr>
          <a:xfrm>
            <a:off x="10390337" y="5763025"/>
            <a:ext cx="639119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7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Glycerophospholipid</a:t>
            </a:r>
            <a:endParaRPr lang="en-US" sz="387" dirty="0"/>
          </a:p>
        </p:txBody>
      </p:sp>
      <p:sp>
        <p:nvSpPr>
          <p:cNvPr id="80" name="Text 77"/>
          <p:cNvSpPr/>
          <p:nvPr/>
        </p:nvSpPr>
        <p:spPr>
          <a:xfrm>
            <a:off x="11358761" y="5763025"/>
            <a:ext cx="599678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Sphingomyelin</a:t>
            </a:r>
            <a:endParaRPr lang="en-US" sz="495" dirty="0"/>
          </a:p>
        </p:txBody>
      </p:sp>
      <p:sp>
        <p:nvSpPr>
          <p:cNvPr id="81" name="Text 78"/>
          <p:cNvSpPr/>
          <p:nvPr/>
        </p:nvSpPr>
        <p:spPr>
          <a:xfrm>
            <a:off x="12277726" y="5763025"/>
            <a:ext cx="476249" cy="1477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4A3D1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Cholesterol</a:t>
            </a:r>
            <a:endParaRPr lang="en-US" sz="495" dirty="0"/>
          </a:p>
        </p:txBody>
      </p:sp>
      <p:sp>
        <p:nvSpPr>
          <p:cNvPr id="82" name="Text 79"/>
          <p:cNvSpPr/>
          <p:nvPr/>
        </p:nvSpPr>
        <p:spPr>
          <a:xfrm>
            <a:off x="10545118" y="5980161"/>
            <a:ext cx="2055466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9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glycerol-based · sphingosine-based · sterol (no FA tails)</a:t>
            </a:r>
            <a:endParaRPr lang="en-US" sz="495" dirty="0"/>
          </a:p>
        </p:txBody>
      </p:sp>
      <p:sp>
        <p:nvSpPr>
          <p:cNvPr id="83" name="Text 80"/>
          <p:cNvSpPr/>
          <p:nvPr/>
        </p:nvSpPr>
        <p:spPr>
          <a:xfrm>
            <a:off x="10959853" y="6448820"/>
            <a:ext cx="1283196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FFFFFF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Cytoskeleton (anchors membrane)</a:t>
            </a:r>
            <a:endParaRPr lang="en-US" sz="486" dirty="0"/>
          </a:p>
        </p:txBody>
      </p:sp>
      <p:sp>
        <p:nvSpPr>
          <p:cNvPr id="84" name="Text 81"/>
          <p:cNvSpPr/>
          <p:nvPr/>
        </p:nvSpPr>
        <p:spPr>
          <a:xfrm>
            <a:off x="10243791" y="6985992"/>
            <a:ext cx="646460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Microfilaments</a:t>
            </a:r>
            <a:endParaRPr lang="en-US" sz="540" dirty="0"/>
          </a:p>
        </p:txBody>
      </p:sp>
      <p:sp>
        <p:nvSpPr>
          <p:cNvPr id="85" name="Text 82"/>
          <p:cNvSpPr/>
          <p:nvPr/>
        </p:nvSpPr>
        <p:spPr>
          <a:xfrm>
            <a:off x="10243940" y="7194105"/>
            <a:ext cx="646162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3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Actin · thin filaments </a:t>
            </a:r>
            <a:pPr algn="ctr" indent="0" marL="0">
              <a:lnSpc>
                <a:spcPct val="120000"/>
              </a:lnSpc>
              <a:buNone/>
            </a:pPr>
            <a:r>
              <a:rPr lang="en-US" sz="383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contractile ring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1252300" y="6985992"/>
            <a:ext cx="572542" cy="1477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Microtubules</a:t>
            </a:r>
            <a:endParaRPr lang="en-US" sz="540" dirty="0"/>
          </a:p>
        </p:txBody>
      </p:sp>
      <p:sp>
        <p:nvSpPr>
          <p:cNvPr id="87" name="Text 84"/>
          <p:cNvSpPr/>
          <p:nvPr/>
        </p:nvSpPr>
        <p:spPr>
          <a:xfrm>
            <a:off x="11233945" y="7156400"/>
            <a:ext cx="609202" cy="3671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1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Tubulin (α/β) </a:t>
            </a:r>
            <a:pPr algn="ctr" indent="0" marL="0">
              <a:lnSpc>
                <a:spcPct val="120000"/>
              </a:lnSpc>
              <a:buNone/>
            </a:pPr>
            <a:r>
              <a:rPr lang="en-US" sz="40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centrosome · spindle flagella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12246076" y="6931172"/>
            <a:ext cx="585241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1A3D3D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Intermediate Filaments</a:t>
            </a:r>
            <a:endParaRPr lang="en-US" sz="540" dirty="0"/>
          </a:p>
        </p:txBody>
      </p:sp>
      <p:sp>
        <p:nvSpPr>
          <p:cNvPr id="89" name="Text 86"/>
          <p:cNvSpPr/>
          <p:nvPr/>
        </p:nvSpPr>
        <p:spPr>
          <a:xfrm>
            <a:off x="12215912" y="7194105"/>
            <a:ext cx="645518" cy="25747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6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Keratin · desmin </a:t>
            </a:r>
            <a:pPr algn="ctr" indent="0" marL="0">
              <a:lnSpc>
                <a:spcPct val="120000"/>
              </a:lnSpc>
              <a:buNone/>
            </a:pPr>
            <a:r>
              <a:rPr lang="en-US" sz="486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tensile strength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240010" y="7669513"/>
            <a:ext cx="381050" cy="1142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" b="1" spc="30" kern="0" dirty="0">
                <a:solidFill>
                  <a:srgbClr val="3D3520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LEGEND</a:t>
            </a:r>
            <a:endParaRPr lang="en-US" sz="495" dirty="0"/>
          </a:p>
        </p:txBody>
      </p:sp>
      <p:sp>
        <p:nvSpPr>
          <p:cNvPr id="91" name="Text 88"/>
          <p:cNvSpPr/>
          <p:nvPr/>
        </p:nvSpPr>
        <p:spPr>
          <a:xfrm>
            <a:off x="742950" y="7669513"/>
            <a:ext cx="2720221" cy="1079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⬭ category ▭ concept ▱ modification ⬡ location ◆ key distinction ⬣ warning ┈┈ note</a:t>
            </a:r>
            <a:endParaRPr lang="en-US" sz="405" dirty="0"/>
          </a:p>
        </p:txBody>
      </p:sp>
      <p:sp>
        <p:nvSpPr>
          <p:cNvPr id="92" name="Text 89"/>
          <p:cNvSpPr/>
          <p:nvPr/>
        </p:nvSpPr>
        <p:spPr>
          <a:xfrm>
            <a:off x="742950" y="7783809"/>
            <a:ext cx="1757655" cy="9842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5A4E2A"/>
                </a:solidFill>
                <a:latin typeface="Geneva" pitchFamily="34" charset="0"/>
                <a:ea typeface="Geneva" pitchFamily="34" charset="-122"/>
                <a:cs typeface="Geneva" pitchFamily="34" charset="-120"/>
              </a:rPr>
              <a:t>Purple = Protein Modification Teal = Plasma Membrane</a:t>
            </a:r>
            <a:endParaRPr lang="en-US" sz="40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ln/>
          <a:effectLst>
            <a:outerShdw sx="100000" sy="100000" kx="0" ky="0" algn="bl" rotWithShape="0" blurRad="114300" dist="19050" dir="5400000">
              <a:srgbClr val="000000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19429" y="0"/>
            <a:ext cx="12452224" cy="102921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544399" y="101636"/>
            <a:ext cx="1758406" cy="119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0" b="1" spc="55" kern="0" dirty="0">
                <a:solidFill>
                  <a:srgbClr val="9AA3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C/P · MCAT PHYSICS · UNITS &amp; VARIABLES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3173556" y="203281"/>
            <a:ext cx="4612394" cy="460825"/>
          </a:xfrm>
          <a:prstGeom prst="roundRect">
            <a:avLst>
              <a:gd name="adj" fmla="val 19301"/>
            </a:avLst>
          </a:prstGeom>
          <a:ln w="7059">
            <a:solidFill>
              <a:srgbClr val="D6DA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20363" y="351081"/>
            <a:ext cx="165171" cy="165173"/>
          </a:xfrm>
          <a:prstGeom prst="roundRect">
            <a:avLst>
              <a:gd name="adj" fmla="val 23079"/>
            </a:avLst>
          </a:prstGeom>
          <a:solidFill>
            <a:srgbClr val="2F6F8F"/>
          </a:solidFill>
          <a:ln/>
        </p:spPr>
      </p:sp>
      <p:sp>
        <p:nvSpPr>
          <p:cNvPr id="7" name="Text 5"/>
          <p:cNvSpPr/>
          <p:nvPr/>
        </p:nvSpPr>
        <p:spPr>
          <a:xfrm>
            <a:off x="3549067" y="380693"/>
            <a:ext cx="670155" cy="143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Units </a:t>
            </a:r>
            <a:pPr algn="l" indent="0" marL="0"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(SI)</a:t>
            </a:r>
            <a:endParaRPr lang="en-US" sz="725" dirty="0"/>
          </a:p>
        </p:txBody>
      </p:sp>
      <p:sp>
        <p:nvSpPr>
          <p:cNvPr id="8" name="Shape 6"/>
          <p:cNvSpPr/>
          <p:nvPr/>
        </p:nvSpPr>
        <p:spPr>
          <a:xfrm>
            <a:off x="4333617" y="340491"/>
            <a:ext cx="186348" cy="186350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3498" y="380693"/>
            <a:ext cx="629400" cy="143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Units</a:t>
            </a:r>
            <a:endParaRPr lang="en-US" sz="7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7293" y="326761"/>
            <a:ext cx="266811" cy="507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57637" y="299238"/>
            <a:ext cx="786631" cy="1439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Multiplication (×)</a:t>
            </a:r>
            <a:endParaRPr lang="en-US" sz="72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7293" y="489779"/>
            <a:ext cx="266811" cy="507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7637" y="462260"/>
            <a:ext cx="537246" cy="1439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 (÷)</a:t>
            </a:r>
            <a:endParaRPr lang="en-US" sz="725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9429" y="0"/>
            <a:ext cx="12452224" cy="1029214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51901" y="1296005"/>
            <a:ext cx="584470" cy="584471"/>
          </a:xfrm>
          <a:prstGeom prst="roundRect">
            <a:avLst>
              <a:gd name="adj" fmla="val 13044"/>
            </a:avLst>
          </a:prstGeom>
          <a:solidFill>
            <a:srgbClr val="2F6F8F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386671" y="1432940"/>
            <a:ext cx="191131" cy="34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1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101" dirty="0"/>
          </a:p>
        </p:txBody>
      </p:sp>
      <p:sp>
        <p:nvSpPr>
          <p:cNvPr id="17" name="Shape 12"/>
          <p:cNvSpPr/>
          <p:nvPr/>
        </p:nvSpPr>
        <p:spPr>
          <a:xfrm>
            <a:off x="5930790" y="1296005"/>
            <a:ext cx="584470" cy="584471"/>
          </a:xfrm>
          <a:prstGeom prst="roundRect">
            <a:avLst>
              <a:gd name="adj" fmla="val 13044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108370" y="1432940"/>
            <a:ext cx="305510" cy="34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1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2101" dirty="0"/>
          </a:p>
        </p:txBody>
      </p:sp>
      <p:sp>
        <p:nvSpPr>
          <p:cNvPr id="19" name="Shape 14"/>
          <p:cNvSpPr/>
          <p:nvPr/>
        </p:nvSpPr>
        <p:spPr>
          <a:xfrm>
            <a:off x="7709679" y="1296005"/>
            <a:ext cx="584470" cy="584471"/>
          </a:xfrm>
          <a:prstGeom prst="roundRect">
            <a:avLst>
              <a:gd name="adj" fmla="val 13044"/>
            </a:avLst>
          </a:prstGeom>
          <a:solidFill>
            <a:srgbClr val="1A7A44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861836" y="1432940"/>
            <a:ext cx="356357" cy="34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1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</a:t>
            </a:r>
            <a:endParaRPr lang="en-US" sz="2101" dirty="0"/>
          </a:p>
        </p:txBody>
      </p:sp>
      <p:sp>
        <p:nvSpPr>
          <p:cNvPr id="21" name="Shape 16"/>
          <p:cNvSpPr/>
          <p:nvPr/>
        </p:nvSpPr>
        <p:spPr>
          <a:xfrm>
            <a:off x="11775710" y="1359536"/>
            <a:ext cx="584471" cy="584471"/>
          </a:xfrm>
          <a:prstGeom prst="roundRect">
            <a:avLst>
              <a:gd name="adj" fmla="val 13044"/>
            </a:avLst>
          </a:prstGeom>
          <a:solidFill>
            <a:srgbClr val="E07B1A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1986272" y="1496471"/>
            <a:ext cx="239495" cy="34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1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101" dirty="0"/>
          </a:p>
        </p:txBody>
      </p:sp>
      <p:sp>
        <p:nvSpPr>
          <p:cNvPr id="23" name="Shape 18"/>
          <p:cNvSpPr/>
          <p:nvPr/>
        </p:nvSpPr>
        <p:spPr>
          <a:xfrm>
            <a:off x="4838066" y="2808080"/>
            <a:ext cx="991084" cy="991082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56725" y="3209460"/>
            <a:ext cx="353766" cy="22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01" b="1" dirty="0">
                <a:solidFill>
                  <a:srgbClr val="3F7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301" dirty="0"/>
          </a:p>
        </p:txBody>
      </p:sp>
      <p:sp>
        <p:nvSpPr>
          <p:cNvPr id="25" name="Shape 20"/>
          <p:cNvSpPr/>
          <p:nvPr/>
        </p:nvSpPr>
        <p:spPr>
          <a:xfrm>
            <a:off x="4456875" y="4332838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51821" y="4741445"/>
            <a:ext cx="401138" cy="21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1" b="1" dirty="0">
                <a:solidFill>
                  <a:srgbClr val="6A5A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m/s²</a:t>
            </a:r>
            <a:endParaRPr lang="en-US" sz="1201" dirty="0"/>
          </a:p>
        </p:txBody>
      </p:sp>
      <p:sp>
        <p:nvSpPr>
          <p:cNvPr id="27" name="Shape 22"/>
          <p:cNvSpPr/>
          <p:nvPr/>
        </p:nvSpPr>
        <p:spPr>
          <a:xfrm>
            <a:off x="6362828" y="2490420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23471" y="2859258"/>
            <a:ext cx="469744" cy="1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708124" y="3004082"/>
            <a:ext cx="300437" cy="14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N·s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6235764" y="4332838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54439" y="4643721"/>
            <a:ext cx="553681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D81B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</a:t>
            </a:r>
            <a:endParaRPr lang="en-US" sz="1051" dirty="0"/>
          </a:p>
        </p:txBody>
      </p:sp>
      <p:sp>
        <p:nvSpPr>
          <p:cNvPr id="32" name="Text 27"/>
          <p:cNvSpPr/>
          <p:nvPr/>
        </p:nvSpPr>
        <p:spPr>
          <a:xfrm>
            <a:off x="6632129" y="4795768"/>
            <a:ext cx="198300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(N)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6467729" y="4897129"/>
            <a:ext cx="527100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kg·m/s²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887590" y="3062204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228640" y="3416540"/>
            <a:ext cx="308984" cy="219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1" b="1" dirty="0">
                <a:solidFill>
                  <a:srgbClr val="5F8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</a:t>
            </a:r>
            <a:endParaRPr lang="en-US" sz="1251" dirty="0"/>
          </a:p>
        </p:txBody>
      </p:sp>
      <p:sp>
        <p:nvSpPr>
          <p:cNvPr id="36" name="Text 31"/>
          <p:cNvSpPr/>
          <p:nvPr/>
        </p:nvSpPr>
        <p:spPr>
          <a:xfrm>
            <a:off x="8167810" y="3597594"/>
            <a:ext cx="430589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5663979" y="5921141"/>
            <a:ext cx="991084" cy="991082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950707" y="6232015"/>
            <a:ext cx="417629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8A6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Joule</a:t>
            </a:r>
            <a:endParaRPr lang="en-US" sz="1051" dirty="0"/>
          </a:p>
        </p:txBody>
      </p:sp>
      <p:sp>
        <p:nvSpPr>
          <p:cNvPr id="39" name="Text 34"/>
          <p:cNvSpPr/>
          <p:nvPr/>
        </p:nvSpPr>
        <p:spPr>
          <a:xfrm>
            <a:off x="6067567" y="6384061"/>
            <a:ext cx="183907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(J)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5980046" y="6485423"/>
            <a:ext cx="358950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N·m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202748" y="6048203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515231" y="6359077"/>
            <a:ext cx="366063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Watt</a:t>
            </a:r>
            <a:endParaRPr lang="en-US" sz="1051" dirty="0"/>
          </a:p>
        </p:txBody>
      </p:sp>
      <p:sp>
        <p:nvSpPr>
          <p:cNvPr id="43" name="Text 38"/>
          <p:cNvSpPr/>
          <p:nvPr/>
        </p:nvSpPr>
        <p:spPr>
          <a:xfrm>
            <a:off x="4589627" y="6511123"/>
            <a:ext cx="217326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(W)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4546280" y="6612485"/>
            <a:ext cx="304021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J/s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9920606" y="2935142"/>
            <a:ext cx="991085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0245443" y="3278609"/>
            <a:ext cx="341356" cy="219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1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N/C</a:t>
            </a:r>
            <a:endParaRPr lang="en-US" sz="1251" dirty="0"/>
          </a:p>
        </p:txBody>
      </p:sp>
      <p:sp>
        <p:nvSpPr>
          <p:cNvPr id="47" name="Text 42"/>
          <p:cNvSpPr/>
          <p:nvPr/>
        </p:nvSpPr>
        <p:spPr>
          <a:xfrm>
            <a:off x="10229119" y="3459668"/>
            <a:ext cx="374060" cy="161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V/m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12334813" y="2935142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2653803" y="3246020"/>
            <a:ext cx="353103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D4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</a:t>
            </a:r>
            <a:endParaRPr lang="en-US" sz="1051" dirty="0"/>
          </a:p>
        </p:txBody>
      </p:sp>
      <p:sp>
        <p:nvSpPr>
          <p:cNvPr id="50" name="Text 45"/>
          <p:cNvSpPr/>
          <p:nvPr/>
        </p:nvSpPr>
        <p:spPr>
          <a:xfrm>
            <a:off x="12733327" y="3398067"/>
            <a:ext cx="193999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(A)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12674318" y="3499428"/>
            <a:ext cx="312018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C/s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9666480" y="5095229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9997327" y="5402512"/>
            <a:ext cx="329334" cy="197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101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</a:t>
            </a:r>
            <a:endParaRPr lang="en-US" sz="1101" dirty="0"/>
          </a:p>
        </p:txBody>
      </p:sp>
      <p:sp>
        <p:nvSpPr>
          <p:cNvPr id="54" name="Text 49"/>
          <p:cNvSpPr/>
          <p:nvPr/>
        </p:nvSpPr>
        <p:spPr>
          <a:xfrm>
            <a:off x="10065105" y="5561786"/>
            <a:ext cx="193778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(V)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10000801" y="5663147"/>
            <a:ext cx="322385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J/C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12334813" y="5095229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12648455" y="5398875"/>
            <a:ext cx="363803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5566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Ohm</a:t>
            </a:r>
            <a:endParaRPr lang="en-US" sz="1051" dirty="0"/>
          </a:p>
        </p:txBody>
      </p:sp>
      <p:sp>
        <p:nvSpPr>
          <p:cNvPr id="58" name="Text 53"/>
          <p:cNvSpPr/>
          <p:nvPr/>
        </p:nvSpPr>
        <p:spPr>
          <a:xfrm>
            <a:off x="12720920" y="5550922"/>
            <a:ext cx="218871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(Ω)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12663511" y="5666794"/>
            <a:ext cx="333635" cy="15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V/A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10937115" y="6747053"/>
            <a:ext cx="991084" cy="991082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1222518" y="7057927"/>
            <a:ext cx="420276" cy="19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1" b="1" dirty="0">
                <a:solidFill>
                  <a:srgbClr val="7A3B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</a:t>
            </a:r>
            <a:endParaRPr lang="en-US" sz="1051" dirty="0"/>
          </a:p>
        </p:txBody>
      </p:sp>
      <p:sp>
        <p:nvSpPr>
          <p:cNvPr id="62" name="Text 57"/>
          <p:cNvSpPr/>
          <p:nvPr/>
        </p:nvSpPr>
        <p:spPr>
          <a:xfrm>
            <a:off x="11338552" y="7209974"/>
            <a:ext cx="188209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(F)</a:t>
            </a:r>
            <a:endParaRPr lang="en-US" sz="700" dirty="0"/>
          </a:p>
        </p:txBody>
      </p:sp>
      <p:sp>
        <p:nvSpPr>
          <p:cNvPr id="63" name="Text 58"/>
          <p:cNvSpPr/>
          <p:nvPr/>
        </p:nvSpPr>
        <p:spPr>
          <a:xfrm>
            <a:off x="11266913" y="7311335"/>
            <a:ext cx="331430" cy="153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C/V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13478384" y="1410384"/>
            <a:ext cx="991084" cy="991082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13890577" y="1714035"/>
            <a:ext cx="166700" cy="22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01" b="1" dirty="0">
                <a:solidFill>
                  <a:srgbClr val="8A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301" dirty="0"/>
          </a:p>
        </p:txBody>
      </p:sp>
      <p:sp>
        <p:nvSpPr>
          <p:cNvPr id="66" name="Text 61"/>
          <p:cNvSpPr/>
          <p:nvPr/>
        </p:nvSpPr>
        <p:spPr>
          <a:xfrm>
            <a:off x="13711286" y="1902312"/>
            <a:ext cx="525224" cy="13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8.99×10⁹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13778955" y="2003678"/>
            <a:ext cx="389943" cy="13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N·m²/C²</a:t>
            </a:r>
            <a:endParaRPr lang="en-US" sz="650" dirty="0"/>
          </a:p>
        </p:txBody>
      </p:sp>
      <p:sp>
        <p:nvSpPr>
          <p:cNvPr id="68" name="Shape 63"/>
          <p:cNvSpPr/>
          <p:nvPr/>
        </p:nvSpPr>
        <p:spPr>
          <a:xfrm>
            <a:off x="13478384" y="3062204"/>
            <a:ext cx="991084" cy="991087"/>
          </a:xfrm>
          <a:prstGeom prst="ellipse">
            <a:avLst/>
          </a:prstGeom>
          <a:solidFill>
            <a:srgbClr val="FFFFFF"/>
          </a:solidFill>
          <a:ln w="10589">
            <a:solidFill>
              <a:srgbClr val="C9CED4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13875907" y="3378487"/>
            <a:ext cx="196039" cy="21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1" b="1" dirty="0">
                <a:solidFill>
                  <a:srgbClr val="8A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ε₀</a:t>
            </a:r>
            <a:endParaRPr lang="en-US" sz="1201" dirty="0"/>
          </a:p>
        </p:txBody>
      </p:sp>
      <p:sp>
        <p:nvSpPr>
          <p:cNvPr id="70" name="Text 65"/>
          <p:cNvSpPr/>
          <p:nvPr/>
        </p:nvSpPr>
        <p:spPr>
          <a:xfrm>
            <a:off x="13694687" y="3552323"/>
            <a:ext cx="558478" cy="13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8.85×10⁻¹²</a:t>
            </a:r>
            <a:endParaRPr lang="en-US" sz="650" dirty="0"/>
          </a:p>
        </p:txBody>
      </p:sp>
      <p:sp>
        <p:nvSpPr>
          <p:cNvPr id="71" name="Text 66"/>
          <p:cNvSpPr/>
          <p:nvPr/>
        </p:nvSpPr>
        <p:spPr>
          <a:xfrm>
            <a:off x="13784967" y="3646461"/>
            <a:ext cx="377865" cy="12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6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C²/N·m²</a:t>
            </a:r>
            <a:endParaRPr lang="en-US" sz="625" dirty="0"/>
          </a:p>
        </p:txBody>
      </p:sp>
      <p:sp>
        <p:nvSpPr>
          <p:cNvPr id="72" name="Text 67"/>
          <p:cNvSpPr/>
          <p:nvPr/>
        </p:nvSpPr>
        <p:spPr>
          <a:xfrm>
            <a:off x="3535687" y="978345"/>
            <a:ext cx="1817008" cy="15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7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(t)</a:t>
            </a:r>
            <a:endParaRPr lang="en-US" sz="775" dirty="0"/>
          </a:p>
        </p:txBody>
      </p:sp>
      <p:sp>
        <p:nvSpPr>
          <p:cNvPr id="73" name="Text 68"/>
          <p:cNvSpPr/>
          <p:nvPr/>
        </p:nvSpPr>
        <p:spPr>
          <a:xfrm>
            <a:off x="3535687" y="1130829"/>
            <a:ext cx="1817008" cy="16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F6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5314576" y="978345"/>
            <a:ext cx="1817008" cy="15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7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(d, x)</a:t>
            </a:r>
            <a:endParaRPr lang="en-US" sz="775" dirty="0"/>
          </a:p>
        </p:txBody>
      </p:sp>
      <p:sp>
        <p:nvSpPr>
          <p:cNvPr id="75" name="Text 70"/>
          <p:cNvSpPr/>
          <p:nvPr/>
        </p:nvSpPr>
        <p:spPr>
          <a:xfrm>
            <a:off x="5314576" y="1130829"/>
            <a:ext cx="1817008" cy="16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7093465" y="978345"/>
            <a:ext cx="1817008" cy="15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7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(m)</a:t>
            </a:r>
            <a:endParaRPr lang="en-US" sz="775" dirty="0"/>
          </a:p>
        </p:txBody>
      </p:sp>
      <p:sp>
        <p:nvSpPr>
          <p:cNvPr id="77" name="Text 72"/>
          <p:cNvSpPr/>
          <p:nvPr/>
        </p:nvSpPr>
        <p:spPr>
          <a:xfrm>
            <a:off x="7093465" y="1130829"/>
            <a:ext cx="1817008" cy="16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kilogram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11159498" y="1041876"/>
            <a:ext cx="1817007" cy="15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7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(Q, q)</a:t>
            </a:r>
            <a:endParaRPr lang="en-US" sz="775" dirty="0"/>
          </a:p>
        </p:txBody>
      </p:sp>
      <p:sp>
        <p:nvSpPr>
          <p:cNvPr id="79" name="Text 74"/>
          <p:cNvSpPr/>
          <p:nvPr/>
        </p:nvSpPr>
        <p:spPr>
          <a:xfrm>
            <a:off x="11159498" y="1194364"/>
            <a:ext cx="1817007" cy="163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coulomb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4215477" y="3850012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(v)</a:t>
            </a:r>
            <a:endParaRPr lang="en-US" sz="725" dirty="0"/>
          </a:p>
        </p:txBody>
      </p:sp>
      <p:sp>
        <p:nvSpPr>
          <p:cNvPr id="81" name="Text 76"/>
          <p:cNvSpPr/>
          <p:nvPr/>
        </p:nvSpPr>
        <p:spPr>
          <a:xfrm>
            <a:off x="4215477" y="3970734"/>
            <a:ext cx="2236318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d / t</a:t>
            </a:r>
            <a:endParaRPr lang="en-US" sz="675" dirty="0"/>
          </a:p>
        </p:txBody>
      </p:sp>
      <p:sp>
        <p:nvSpPr>
          <p:cNvPr id="82" name="Text 77"/>
          <p:cNvSpPr/>
          <p:nvPr/>
        </p:nvSpPr>
        <p:spPr>
          <a:xfrm>
            <a:off x="3834287" y="5374774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 (a)</a:t>
            </a:r>
            <a:endParaRPr lang="en-US" sz="725" dirty="0"/>
          </a:p>
        </p:txBody>
      </p:sp>
      <p:sp>
        <p:nvSpPr>
          <p:cNvPr id="83" name="Text 78"/>
          <p:cNvSpPr/>
          <p:nvPr/>
        </p:nvSpPr>
        <p:spPr>
          <a:xfrm>
            <a:off x="3834287" y="5495502"/>
            <a:ext cx="2236318" cy="142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= Δv / t</a:t>
            </a:r>
            <a:endParaRPr lang="en-US" sz="675" dirty="0"/>
          </a:p>
        </p:txBody>
      </p:sp>
      <p:sp>
        <p:nvSpPr>
          <p:cNvPr id="84" name="Text 79"/>
          <p:cNvSpPr/>
          <p:nvPr/>
        </p:nvSpPr>
        <p:spPr>
          <a:xfrm>
            <a:off x="5740239" y="3532352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Momentum (p)</a:t>
            </a:r>
            <a:endParaRPr lang="en-US" sz="725" dirty="0"/>
          </a:p>
        </p:txBody>
      </p:sp>
      <p:sp>
        <p:nvSpPr>
          <p:cNvPr id="85" name="Text 80"/>
          <p:cNvSpPr/>
          <p:nvPr/>
        </p:nvSpPr>
        <p:spPr>
          <a:xfrm>
            <a:off x="5740239" y="3653075"/>
            <a:ext cx="2236318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mv</a:t>
            </a:r>
            <a:endParaRPr lang="en-US" sz="675" dirty="0"/>
          </a:p>
        </p:txBody>
      </p:sp>
      <p:sp>
        <p:nvSpPr>
          <p:cNvPr id="86" name="Text 81"/>
          <p:cNvSpPr/>
          <p:nvPr/>
        </p:nvSpPr>
        <p:spPr>
          <a:xfrm>
            <a:off x="5613175" y="5374774"/>
            <a:ext cx="2236319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(F)</a:t>
            </a:r>
            <a:endParaRPr lang="en-US" sz="725" dirty="0"/>
          </a:p>
        </p:txBody>
      </p:sp>
      <p:sp>
        <p:nvSpPr>
          <p:cNvPr id="87" name="Text 82"/>
          <p:cNvSpPr/>
          <p:nvPr/>
        </p:nvSpPr>
        <p:spPr>
          <a:xfrm>
            <a:off x="5613175" y="5495502"/>
            <a:ext cx="2236319" cy="142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ma · F = qE</a:t>
            </a:r>
            <a:endParaRPr lang="en-US" sz="675" dirty="0"/>
          </a:p>
        </p:txBody>
      </p:sp>
      <p:sp>
        <p:nvSpPr>
          <p:cNvPr id="88" name="Text 83"/>
          <p:cNvSpPr/>
          <p:nvPr/>
        </p:nvSpPr>
        <p:spPr>
          <a:xfrm>
            <a:off x="7265001" y="4104140"/>
            <a:ext cx="2236318" cy="15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Impulse (J)</a:t>
            </a:r>
            <a:endParaRPr lang="en-US" sz="725" dirty="0"/>
          </a:p>
        </p:txBody>
      </p:sp>
      <p:sp>
        <p:nvSpPr>
          <p:cNvPr id="89" name="Text 84"/>
          <p:cNvSpPr/>
          <p:nvPr/>
        </p:nvSpPr>
        <p:spPr>
          <a:xfrm>
            <a:off x="7265001" y="4224863"/>
            <a:ext cx="2236318" cy="142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FΔt = Δp</a:t>
            </a:r>
            <a:endParaRPr lang="en-US" sz="675" dirty="0"/>
          </a:p>
        </p:txBody>
      </p:sp>
      <p:sp>
        <p:nvSpPr>
          <p:cNvPr id="90" name="Text 85"/>
          <p:cNvSpPr/>
          <p:nvPr/>
        </p:nvSpPr>
        <p:spPr>
          <a:xfrm>
            <a:off x="5041389" y="6963068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/ Energy (W, KE, PE)</a:t>
            </a:r>
            <a:endParaRPr lang="en-US" sz="725" dirty="0"/>
          </a:p>
        </p:txBody>
      </p:sp>
      <p:sp>
        <p:nvSpPr>
          <p:cNvPr id="91" name="Text 86"/>
          <p:cNvSpPr/>
          <p:nvPr/>
        </p:nvSpPr>
        <p:spPr>
          <a:xfrm>
            <a:off x="5041389" y="7083786"/>
            <a:ext cx="2236318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Fd · U = qV</a:t>
            </a:r>
            <a:endParaRPr lang="en-US" sz="675" dirty="0"/>
          </a:p>
        </p:txBody>
      </p:sp>
      <p:sp>
        <p:nvSpPr>
          <p:cNvPr id="92" name="Text 87"/>
          <p:cNvSpPr/>
          <p:nvPr/>
        </p:nvSpPr>
        <p:spPr>
          <a:xfrm>
            <a:off x="3580160" y="7090130"/>
            <a:ext cx="2236317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(P)</a:t>
            </a:r>
            <a:endParaRPr lang="en-US" sz="725" dirty="0"/>
          </a:p>
        </p:txBody>
      </p:sp>
      <p:sp>
        <p:nvSpPr>
          <p:cNvPr id="93" name="Text 88"/>
          <p:cNvSpPr/>
          <p:nvPr/>
        </p:nvSpPr>
        <p:spPr>
          <a:xfrm>
            <a:off x="3580160" y="7210848"/>
            <a:ext cx="2236317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W/t = IV</a:t>
            </a:r>
            <a:endParaRPr lang="en-US" sz="675" dirty="0"/>
          </a:p>
        </p:txBody>
      </p:sp>
      <p:sp>
        <p:nvSpPr>
          <p:cNvPr id="94" name="Text 89"/>
          <p:cNvSpPr/>
          <p:nvPr/>
        </p:nvSpPr>
        <p:spPr>
          <a:xfrm>
            <a:off x="9298017" y="3977074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 Field (E)</a:t>
            </a:r>
            <a:endParaRPr lang="en-US" sz="725" dirty="0"/>
          </a:p>
        </p:txBody>
      </p:sp>
      <p:sp>
        <p:nvSpPr>
          <p:cNvPr id="95" name="Text 90"/>
          <p:cNvSpPr/>
          <p:nvPr/>
        </p:nvSpPr>
        <p:spPr>
          <a:xfrm>
            <a:off x="9298017" y="4097796"/>
            <a:ext cx="2236318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F/q = kq/r²</a:t>
            </a:r>
            <a:endParaRPr lang="en-US" sz="675" dirty="0"/>
          </a:p>
        </p:txBody>
      </p:sp>
      <p:sp>
        <p:nvSpPr>
          <p:cNvPr id="96" name="Text 91"/>
          <p:cNvSpPr/>
          <p:nvPr/>
        </p:nvSpPr>
        <p:spPr>
          <a:xfrm>
            <a:off x="11712223" y="3977074"/>
            <a:ext cx="2236319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(I)</a:t>
            </a:r>
            <a:endParaRPr lang="en-US" sz="725" dirty="0"/>
          </a:p>
        </p:txBody>
      </p:sp>
      <p:sp>
        <p:nvSpPr>
          <p:cNvPr id="97" name="Text 92"/>
          <p:cNvSpPr/>
          <p:nvPr/>
        </p:nvSpPr>
        <p:spPr>
          <a:xfrm>
            <a:off x="11712223" y="4097796"/>
            <a:ext cx="2236319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= Q / t</a:t>
            </a:r>
            <a:endParaRPr lang="en-US" sz="675" dirty="0"/>
          </a:p>
        </p:txBody>
      </p:sp>
      <p:sp>
        <p:nvSpPr>
          <p:cNvPr id="98" name="Text 93"/>
          <p:cNvSpPr/>
          <p:nvPr/>
        </p:nvSpPr>
        <p:spPr>
          <a:xfrm>
            <a:off x="9043890" y="6137156"/>
            <a:ext cx="2236318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/ Voltage (V)</a:t>
            </a:r>
            <a:endParaRPr lang="en-US" sz="725" dirty="0"/>
          </a:p>
        </p:txBody>
      </p:sp>
      <p:sp>
        <p:nvSpPr>
          <p:cNvPr id="99" name="Text 94"/>
          <p:cNvSpPr/>
          <p:nvPr/>
        </p:nvSpPr>
        <p:spPr>
          <a:xfrm>
            <a:off x="9043890" y="6257874"/>
            <a:ext cx="2236318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U/q = kq/r</a:t>
            </a:r>
            <a:endParaRPr lang="en-US" sz="675" dirty="0"/>
          </a:p>
        </p:txBody>
      </p:sp>
      <p:sp>
        <p:nvSpPr>
          <p:cNvPr id="100" name="Text 95"/>
          <p:cNvSpPr/>
          <p:nvPr/>
        </p:nvSpPr>
        <p:spPr>
          <a:xfrm>
            <a:off x="11712223" y="6137156"/>
            <a:ext cx="2236319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Resistance (R)</a:t>
            </a:r>
            <a:endParaRPr lang="en-US" sz="725" dirty="0"/>
          </a:p>
        </p:txBody>
      </p:sp>
      <p:sp>
        <p:nvSpPr>
          <p:cNvPr id="101" name="Text 96"/>
          <p:cNvSpPr/>
          <p:nvPr/>
        </p:nvSpPr>
        <p:spPr>
          <a:xfrm>
            <a:off x="11712223" y="6257874"/>
            <a:ext cx="2236319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IR</a:t>
            </a:r>
            <a:endParaRPr lang="en-US" sz="675" dirty="0"/>
          </a:p>
        </p:txBody>
      </p:sp>
      <p:sp>
        <p:nvSpPr>
          <p:cNvPr id="102" name="Text 97"/>
          <p:cNvSpPr/>
          <p:nvPr/>
        </p:nvSpPr>
        <p:spPr>
          <a:xfrm>
            <a:off x="10314525" y="7788980"/>
            <a:ext cx="2236317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 (C)</a:t>
            </a:r>
            <a:endParaRPr lang="en-US" sz="725" dirty="0"/>
          </a:p>
        </p:txBody>
      </p:sp>
      <p:sp>
        <p:nvSpPr>
          <p:cNvPr id="103" name="Text 98"/>
          <p:cNvSpPr/>
          <p:nvPr/>
        </p:nvSpPr>
        <p:spPr>
          <a:xfrm>
            <a:off x="10314525" y="7909708"/>
            <a:ext cx="2236317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= Q / V</a:t>
            </a:r>
            <a:endParaRPr lang="en-US" sz="675" dirty="0"/>
          </a:p>
        </p:txBody>
      </p:sp>
      <p:sp>
        <p:nvSpPr>
          <p:cNvPr id="104" name="Text 99"/>
          <p:cNvSpPr/>
          <p:nvPr/>
        </p:nvSpPr>
        <p:spPr>
          <a:xfrm>
            <a:off x="12855796" y="2452315"/>
            <a:ext cx="2236317" cy="15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Coulomb constant</a:t>
            </a:r>
            <a:endParaRPr lang="en-US" sz="725" dirty="0"/>
          </a:p>
        </p:txBody>
      </p:sp>
      <p:sp>
        <p:nvSpPr>
          <p:cNvPr id="105" name="Text 100"/>
          <p:cNvSpPr/>
          <p:nvPr/>
        </p:nvSpPr>
        <p:spPr>
          <a:xfrm>
            <a:off x="12855796" y="2573038"/>
            <a:ext cx="2236317" cy="14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1/(4πε₀)</a:t>
            </a:r>
            <a:endParaRPr lang="en-US" sz="675" dirty="0"/>
          </a:p>
        </p:txBody>
      </p:sp>
      <p:sp>
        <p:nvSpPr>
          <p:cNvPr id="106" name="Text 101"/>
          <p:cNvSpPr/>
          <p:nvPr/>
        </p:nvSpPr>
        <p:spPr>
          <a:xfrm>
            <a:off x="12855796" y="4104140"/>
            <a:ext cx="2236317" cy="15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Permittivity</a:t>
            </a:r>
            <a:endParaRPr lang="en-US" sz="725" dirty="0"/>
          </a:p>
        </p:txBody>
      </p:sp>
      <p:sp>
        <p:nvSpPr>
          <p:cNvPr id="107" name="Text 102"/>
          <p:cNvSpPr/>
          <p:nvPr/>
        </p:nvSpPr>
        <p:spPr>
          <a:xfrm>
            <a:off x="12855796" y="4224863"/>
            <a:ext cx="2236317" cy="142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free space</a:t>
            </a:r>
            <a:endParaRPr lang="en-US" sz="675" dirty="0"/>
          </a:p>
        </p:txBody>
      </p:sp>
      <p:sp>
        <p:nvSpPr>
          <p:cNvPr id="108" name="Shape 103"/>
          <p:cNvSpPr/>
          <p:nvPr/>
        </p:nvSpPr>
        <p:spPr>
          <a:xfrm>
            <a:off x="9958714" y="4459909"/>
            <a:ext cx="660686" cy="98438"/>
          </a:xfrm>
          <a:prstGeom prst="roundRect">
            <a:avLst>
              <a:gd name="adj" fmla="val 32270"/>
            </a:avLst>
          </a:prstGeom>
          <a:solidFill>
            <a:srgbClr val="FFFFFF"/>
          </a:solidFill>
          <a:ln/>
        </p:spPr>
      </p:sp>
      <p:sp>
        <p:nvSpPr>
          <p:cNvPr id="109" name="Text 104"/>
          <p:cNvSpPr/>
          <p:nvPr/>
        </p:nvSpPr>
        <p:spPr>
          <a:xfrm>
            <a:off x="9963799" y="4466262"/>
            <a:ext cx="650516" cy="123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V / d</a:t>
            </a:r>
            <a:endParaRPr lang="en-US" sz="675" dirty="0"/>
          </a:p>
        </p:txBody>
      </p:sp>
      <p:sp>
        <p:nvSpPr>
          <p:cNvPr id="110" name="Shape 105"/>
          <p:cNvSpPr/>
          <p:nvPr/>
        </p:nvSpPr>
        <p:spPr>
          <a:xfrm>
            <a:off x="3173556" y="8449721"/>
            <a:ext cx="5590795" cy="1148369"/>
          </a:xfrm>
          <a:prstGeom prst="roundRect">
            <a:avLst>
              <a:gd name="adj" fmla="val 7745"/>
            </a:avLst>
          </a:prstGeom>
          <a:solidFill>
            <a:srgbClr val="FDF6EE"/>
          </a:solidFill>
          <a:ln w="10589">
            <a:solidFill>
              <a:srgbClr val="E07B1A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3184145" y="8460307"/>
            <a:ext cx="5569617" cy="243541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12" name="Text 107"/>
          <p:cNvSpPr/>
          <p:nvPr/>
        </p:nvSpPr>
        <p:spPr>
          <a:xfrm>
            <a:off x="3298502" y="8523839"/>
            <a:ext cx="5507991" cy="1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confuse the UNIT with the VARIABLE</a:t>
            </a:r>
            <a:endParaRPr lang="en-US" sz="800" dirty="0"/>
          </a:p>
        </p:txBody>
      </p:sp>
      <p:sp>
        <p:nvSpPr>
          <p:cNvPr id="113" name="Text 108"/>
          <p:cNvSpPr/>
          <p:nvPr/>
        </p:nvSpPr>
        <p:spPr>
          <a:xfrm>
            <a:off x="3298469" y="8799151"/>
            <a:ext cx="5875066" cy="16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Coulombs (measures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variable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is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whose unit is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 (F)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725" dirty="0"/>
          </a:p>
        </p:txBody>
      </p:sp>
      <p:sp>
        <p:nvSpPr>
          <p:cNvPr id="114" name="Text 109"/>
          <p:cNvSpPr/>
          <p:nvPr/>
        </p:nvSpPr>
        <p:spPr>
          <a:xfrm>
            <a:off x="3298469" y="8991614"/>
            <a:ext cx="5875066" cy="16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Watt (measures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is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measured in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joules (J)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725" dirty="0"/>
          </a:p>
        </p:txBody>
      </p:sp>
      <p:sp>
        <p:nvSpPr>
          <p:cNvPr id="115" name="Text 110"/>
          <p:cNvSpPr/>
          <p:nvPr/>
        </p:nvSpPr>
        <p:spPr>
          <a:xfrm>
            <a:off x="3298469" y="9184095"/>
            <a:ext cx="5875066" cy="16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Volt; the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is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(and, in chem, </a:t>
            </a:r>
            <a:pPr algn="l" indent="0" marL="0">
              <a:lnSpc>
                <a:spcPct val="140000"/>
              </a:lnSpc>
              <a:buNone/>
            </a:pPr>
            <a:r>
              <a:rPr lang="en-US" sz="725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</a:t>
            </a:r>
            <a:pPr algn="l" indent="0" marL="0">
              <a:lnSpc>
                <a:spcPct val="140000"/>
              </a:lnSpc>
              <a:buNone/>
            </a:pPr>
            <a:r>
              <a:rPr lang="en-US" sz="725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liters).</a:t>
            </a:r>
            <a:endParaRPr lang="en-US" sz="725" dirty="0"/>
          </a:p>
        </p:txBody>
      </p:sp>
      <p:sp>
        <p:nvSpPr>
          <p:cNvPr id="116" name="Text 111"/>
          <p:cNvSpPr/>
          <p:nvPr/>
        </p:nvSpPr>
        <p:spPr>
          <a:xfrm>
            <a:off x="3298469" y="9376558"/>
            <a:ext cx="5875066" cy="15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9A65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letter, different roles — always read whether they mean the unit or the quantity.</a:t>
            </a:r>
            <a:endParaRPr lang="en-US" sz="650" dirty="0"/>
          </a:p>
        </p:txBody>
      </p:sp>
      <p:sp>
        <p:nvSpPr>
          <p:cNvPr id="117" name="Shape 112"/>
          <p:cNvSpPr/>
          <p:nvPr/>
        </p:nvSpPr>
        <p:spPr>
          <a:xfrm>
            <a:off x="9018478" y="8449721"/>
            <a:ext cx="6099049" cy="1599877"/>
          </a:xfrm>
          <a:prstGeom prst="roundRect">
            <a:avLst>
              <a:gd name="adj" fmla="val 5559"/>
            </a:avLst>
          </a:prstGeom>
          <a:solidFill>
            <a:srgbClr val="FAFBFC"/>
          </a:solidFill>
          <a:ln w="7059">
            <a:solidFill>
              <a:srgbClr val="C9CED4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9025537" y="8456781"/>
            <a:ext cx="6084929" cy="243541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9" name="Text 114"/>
          <p:cNvSpPr/>
          <p:nvPr/>
        </p:nvSpPr>
        <p:spPr>
          <a:xfrm>
            <a:off x="9139894" y="8520313"/>
            <a:ext cx="6038763" cy="1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other unit is this equal to?" — forms they sneak in</a:t>
            </a:r>
            <a:endParaRPr lang="en-US" sz="800" dirty="0"/>
          </a:p>
        </p:txBody>
      </p:sp>
      <p:sp>
        <p:nvSpPr>
          <p:cNvPr id="120" name="Shape 115"/>
          <p:cNvSpPr/>
          <p:nvPr/>
        </p:nvSpPr>
        <p:spPr>
          <a:xfrm>
            <a:off x="9127177" y="8789217"/>
            <a:ext cx="1384959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21" name="Text 116"/>
          <p:cNvSpPr/>
          <p:nvPr/>
        </p:nvSpPr>
        <p:spPr>
          <a:xfrm>
            <a:off x="9213264" y="8849883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kg·m/s² = N</a:t>
            </a:r>
            <a:endParaRPr lang="en-US" sz="825" dirty="0"/>
          </a:p>
        </p:txBody>
      </p:sp>
      <p:sp>
        <p:nvSpPr>
          <p:cNvPr id="122" name="Text 117"/>
          <p:cNvSpPr/>
          <p:nvPr/>
        </p:nvSpPr>
        <p:spPr>
          <a:xfrm>
            <a:off x="9213264" y="8986107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ma</a:t>
            </a:r>
            <a:endParaRPr lang="en-US" sz="600" dirty="0"/>
          </a:p>
        </p:txBody>
      </p:sp>
      <p:sp>
        <p:nvSpPr>
          <p:cNvPr id="123" name="Shape 118"/>
          <p:cNvSpPr/>
          <p:nvPr/>
        </p:nvSpPr>
        <p:spPr>
          <a:xfrm>
            <a:off x="10575667" y="8789217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24" name="Text 119"/>
          <p:cNvSpPr/>
          <p:nvPr/>
        </p:nvSpPr>
        <p:spPr>
          <a:xfrm>
            <a:off x="10661755" y="8849883"/>
            <a:ext cx="1334063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 = J</a:t>
            </a:r>
            <a:endParaRPr lang="en-US" sz="825" dirty="0"/>
          </a:p>
        </p:txBody>
      </p:sp>
      <p:sp>
        <p:nvSpPr>
          <p:cNvPr id="125" name="Text 120"/>
          <p:cNvSpPr/>
          <p:nvPr/>
        </p:nvSpPr>
        <p:spPr>
          <a:xfrm>
            <a:off x="10661755" y="8986107"/>
            <a:ext cx="1334063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Fd</a:t>
            </a:r>
            <a:endParaRPr lang="en-US" sz="600" dirty="0"/>
          </a:p>
        </p:txBody>
      </p:sp>
      <p:sp>
        <p:nvSpPr>
          <p:cNvPr id="126" name="Shape 121"/>
          <p:cNvSpPr/>
          <p:nvPr/>
        </p:nvSpPr>
        <p:spPr>
          <a:xfrm>
            <a:off x="12024158" y="8789217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12110246" y="8849883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 = kg·m/s</a:t>
            </a:r>
            <a:endParaRPr lang="en-US" sz="825" dirty="0"/>
          </a:p>
        </p:txBody>
      </p:sp>
      <p:sp>
        <p:nvSpPr>
          <p:cNvPr id="128" name="Text 123"/>
          <p:cNvSpPr/>
          <p:nvPr/>
        </p:nvSpPr>
        <p:spPr>
          <a:xfrm>
            <a:off x="12110246" y="8986107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Δp</a:t>
            </a:r>
            <a:endParaRPr lang="en-US" sz="600" dirty="0"/>
          </a:p>
        </p:txBody>
      </p:sp>
      <p:sp>
        <p:nvSpPr>
          <p:cNvPr id="129" name="Shape 124"/>
          <p:cNvSpPr/>
          <p:nvPr/>
        </p:nvSpPr>
        <p:spPr>
          <a:xfrm>
            <a:off x="13472649" y="8789217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3558736" y="8849883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J/s = W</a:t>
            </a:r>
            <a:endParaRPr lang="en-US" sz="825" dirty="0"/>
          </a:p>
        </p:txBody>
      </p:sp>
      <p:sp>
        <p:nvSpPr>
          <p:cNvPr id="131" name="Text 126"/>
          <p:cNvSpPr/>
          <p:nvPr/>
        </p:nvSpPr>
        <p:spPr>
          <a:xfrm>
            <a:off x="13558736" y="8986107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W/t</a:t>
            </a:r>
            <a:endParaRPr lang="en-US" sz="600" dirty="0"/>
          </a:p>
        </p:txBody>
      </p:sp>
      <p:sp>
        <p:nvSpPr>
          <p:cNvPr id="132" name="Shape 127"/>
          <p:cNvSpPr/>
          <p:nvPr/>
        </p:nvSpPr>
        <p:spPr>
          <a:xfrm>
            <a:off x="9127177" y="9198541"/>
            <a:ext cx="1384959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33" name="Text 128"/>
          <p:cNvSpPr/>
          <p:nvPr/>
        </p:nvSpPr>
        <p:spPr>
          <a:xfrm>
            <a:off x="9213264" y="9259207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atm·L = J</a:t>
            </a:r>
            <a:endParaRPr lang="en-US" sz="825" dirty="0"/>
          </a:p>
        </p:txBody>
      </p:sp>
      <p:sp>
        <p:nvSpPr>
          <p:cNvPr id="134" name="Text 129"/>
          <p:cNvSpPr/>
          <p:nvPr/>
        </p:nvSpPr>
        <p:spPr>
          <a:xfrm>
            <a:off x="9213264" y="9395422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−PΔV</a:t>
            </a:r>
            <a:endParaRPr lang="en-US" sz="600" dirty="0"/>
          </a:p>
        </p:txBody>
      </p:sp>
      <p:sp>
        <p:nvSpPr>
          <p:cNvPr id="135" name="Shape 130"/>
          <p:cNvSpPr/>
          <p:nvPr/>
        </p:nvSpPr>
        <p:spPr>
          <a:xfrm>
            <a:off x="10575667" y="9198541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10661755" y="9259207"/>
            <a:ext cx="1334063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N/m² = Pa</a:t>
            </a:r>
            <a:endParaRPr lang="en-US" sz="825" dirty="0"/>
          </a:p>
        </p:txBody>
      </p:sp>
      <p:sp>
        <p:nvSpPr>
          <p:cNvPr id="137" name="Text 132"/>
          <p:cNvSpPr/>
          <p:nvPr/>
        </p:nvSpPr>
        <p:spPr>
          <a:xfrm>
            <a:off x="10661755" y="9395422"/>
            <a:ext cx="1334063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F/A</a:t>
            </a:r>
            <a:endParaRPr lang="en-US" sz="600" dirty="0"/>
          </a:p>
        </p:txBody>
      </p:sp>
      <p:sp>
        <p:nvSpPr>
          <p:cNvPr id="138" name="Shape 133"/>
          <p:cNvSpPr/>
          <p:nvPr/>
        </p:nvSpPr>
        <p:spPr>
          <a:xfrm>
            <a:off x="12024158" y="9198541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39" name="Text 134"/>
          <p:cNvSpPr/>
          <p:nvPr/>
        </p:nvSpPr>
        <p:spPr>
          <a:xfrm>
            <a:off x="12110246" y="9259207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 = J</a:t>
            </a:r>
            <a:endParaRPr lang="en-US" sz="825" dirty="0"/>
          </a:p>
        </p:txBody>
      </p:sp>
      <p:sp>
        <p:nvSpPr>
          <p:cNvPr id="140" name="Text 135"/>
          <p:cNvSpPr/>
          <p:nvPr/>
        </p:nvSpPr>
        <p:spPr>
          <a:xfrm>
            <a:off x="12110246" y="9395422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 = qV</a:t>
            </a:r>
            <a:endParaRPr lang="en-US" sz="600" dirty="0"/>
          </a:p>
        </p:txBody>
      </p:sp>
      <p:sp>
        <p:nvSpPr>
          <p:cNvPr id="141" name="Shape 136"/>
          <p:cNvSpPr/>
          <p:nvPr/>
        </p:nvSpPr>
        <p:spPr>
          <a:xfrm>
            <a:off x="13472649" y="9198541"/>
            <a:ext cx="1384960" cy="345783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13558736" y="9259207"/>
            <a:ext cx="1334062" cy="161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C·V/m = N</a:t>
            </a:r>
            <a:endParaRPr lang="en-US" sz="825" dirty="0"/>
          </a:p>
        </p:txBody>
      </p:sp>
      <p:sp>
        <p:nvSpPr>
          <p:cNvPr id="143" name="Text 138"/>
          <p:cNvSpPr/>
          <p:nvPr/>
        </p:nvSpPr>
        <p:spPr>
          <a:xfrm>
            <a:off x="13558736" y="9395422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qE</a:t>
            </a:r>
            <a:endParaRPr lang="en-US" sz="600" dirty="0"/>
          </a:p>
        </p:txBody>
      </p:sp>
      <p:sp>
        <p:nvSpPr>
          <p:cNvPr id="144" name="Shape 139"/>
          <p:cNvSpPr/>
          <p:nvPr/>
        </p:nvSpPr>
        <p:spPr>
          <a:xfrm>
            <a:off x="9127177" y="9607855"/>
            <a:ext cx="1384959" cy="34578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9213264" y="9668512"/>
            <a:ext cx="1334062" cy="16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F·V = C</a:t>
            </a:r>
            <a:endParaRPr lang="en-US" sz="825" dirty="0"/>
          </a:p>
        </p:txBody>
      </p:sp>
      <p:sp>
        <p:nvSpPr>
          <p:cNvPr id="146" name="Text 141"/>
          <p:cNvSpPr/>
          <p:nvPr/>
        </p:nvSpPr>
        <p:spPr>
          <a:xfrm>
            <a:off x="9213264" y="9804736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= CV</a:t>
            </a:r>
            <a:endParaRPr lang="en-US" sz="600" dirty="0"/>
          </a:p>
        </p:txBody>
      </p:sp>
      <p:sp>
        <p:nvSpPr>
          <p:cNvPr id="147" name="Shape 142"/>
          <p:cNvSpPr/>
          <p:nvPr/>
        </p:nvSpPr>
        <p:spPr>
          <a:xfrm>
            <a:off x="10575667" y="9607855"/>
            <a:ext cx="1384960" cy="34578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10661755" y="9668512"/>
            <a:ext cx="1334063" cy="16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A·Ω = V</a:t>
            </a:r>
            <a:endParaRPr lang="en-US" sz="825" dirty="0"/>
          </a:p>
        </p:txBody>
      </p:sp>
      <p:sp>
        <p:nvSpPr>
          <p:cNvPr id="149" name="Text 144"/>
          <p:cNvSpPr/>
          <p:nvPr/>
        </p:nvSpPr>
        <p:spPr>
          <a:xfrm>
            <a:off x="10661755" y="9804736"/>
            <a:ext cx="1334063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IR</a:t>
            </a:r>
            <a:endParaRPr lang="en-US" sz="600" dirty="0"/>
          </a:p>
        </p:txBody>
      </p:sp>
      <p:sp>
        <p:nvSpPr>
          <p:cNvPr id="150" name="Shape 145"/>
          <p:cNvSpPr/>
          <p:nvPr/>
        </p:nvSpPr>
        <p:spPr>
          <a:xfrm>
            <a:off x="12024158" y="9607855"/>
            <a:ext cx="1384960" cy="34578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51" name="Text 146"/>
          <p:cNvSpPr/>
          <p:nvPr/>
        </p:nvSpPr>
        <p:spPr>
          <a:xfrm>
            <a:off x="12110246" y="9668512"/>
            <a:ext cx="1334062" cy="16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C/s = A</a:t>
            </a:r>
            <a:endParaRPr lang="en-US" sz="825" dirty="0"/>
          </a:p>
        </p:txBody>
      </p:sp>
      <p:sp>
        <p:nvSpPr>
          <p:cNvPr id="152" name="Text 147"/>
          <p:cNvSpPr/>
          <p:nvPr/>
        </p:nvSpPr>
        <p:spPr>
          <a:xfrm>
            <a:off x="12110246" y="9804736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= Q/t</a:t>
            </a:r>
            <a:endParaRPr lang="en-US" sz="600" dirty="0"/>
          </a:p>
        </p:txBody>
      </p:sp>
      <p:sp>
        <p:nvSpPr>
          <p:cNvPr id="153" name="Shape 148"/>
          <p:cNvSpPr/>
          <p:nvPr/>
        </p:nvSpPr>
        <p:spPr>
          <a:xfrm>
            <a:off x="13472649" y="9607855"/>
            <a:ext cx="1384960" cy="34578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3530">
            <a:solidFill>
              <a:srgbClr val="DFE3E7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13558736" y="9668512"/>
            <a:ext cx="1334062" cy="16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W/A = V</a:t>
            </a:r>
            <a:endParaRPr lang="en-US" sz="825" dirty="0"/>
          </a:p>
        </p:txBody>
      </p:sp>
      <p:sp>
        <p:nvSpPr>
          <p:cNvPr id="155" name="Text 150"/>
          <p:cNvSpPr/>
          <p:nvPr/>
        </p:nvSpPr>
        <p:spPr>
          <a:xfrm>
            <a:off x="13558736" y="9804736"/>
            <a:ext cx="1334062" cy="126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IV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2026-07-01T21:17:46Z</dcterms:created>
  <dcterms:modified xsi:type="dcterms:W3CDTF">2026-07-01T21:17:46Z</dcterms:modified>
</cp:coreProperties>
</file>