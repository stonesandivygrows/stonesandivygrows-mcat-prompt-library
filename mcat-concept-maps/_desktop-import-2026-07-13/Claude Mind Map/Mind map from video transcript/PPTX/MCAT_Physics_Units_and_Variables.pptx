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669000" cy="15430500"/>
  <p:notesSz cx="15430500" cy="18669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29488" y="152383"/>
            <a:ext cx="263629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9AA3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C/P · MCAT PHYSICS · UNITS &amp; VARIABLES</a:t>
            </a:r>
            <a:endParaRPr lang="en-US" sz="825" dirty="0"/>
          </a:p>
        </p:txBody>
      </p:sp>
      <p:sp>
        <p:nvSpPr>
          <p:cNvPr id="3" name="Shape 1"/>
          <p:cNvSpPr/>
          <p:nvPr/>
        </p:nvSpPr>
        <p:spPr>
          <a:xfrm>
            <a:off x="381000" y="304767"/>
            <a:ext cx="6915134" cy="690893"/>
          </a:xfrm>
          <a:prstGeom prst="roundRect">
            <a:avLst>
              <a:gd name="adj" fmla="val 19301"/>
            </a:avLst>
          </a:prstGeom>
          <a:ln w="10583">
            <a:solidFill>
              <a:srgbClr val="D6DA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1100" y="526355"/>
            <a:ext cx="247633" cy="247633"/>
          </a:xfrm>
          <a:prstGeom prst="roundRect">
            <a:avLst>
              <a:gd name="adj" fmla="val 23079"/>
            </a:avLst>
          </a:prstGeom>
          <a:solidFill>
            <a:srgbClr val="2F6F8F"/>
          </a:solidFill>
          <a:ln/>
        </p:spPr>
      </p:sp>
      <p:sp>
        <p:nvSpPr>
          <p:cNvPr id="5" name="Text 3"/>
          <p:cNvSpPr/>
          <p:nvPr/>
        </p:nvSpPr>
        <p:spPr>
          <a:xfrm>
            <a:off x="943984" y="570756"/>
            <a:ext cx="96668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Units </a:t>
            </a:r>
            <a:pPr algn="l" indent="0" marL="0"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(SI)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2120222" y="510481"/>
            <a:ext cx="279383" cy="279383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94856" y="570756"/>
            <a:ext cx="90558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Derived Units</a:t>
            </a:r>
            <a:endParaRPr lang="en-US" sz="1088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09992" y="489893"/>
            <a:ext cx="400017" cy="7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05259" y="448634"/>
            <a:ext cx="1141313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Multiplication (×)</a:t>
            </a:r>
            <a:endParaRPr lang="en-US" sz="1088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9992" y="734301"/>
            <a:ext cx="400017" cy="761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05259" y="693043"/>
            <a:ext cx="767424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 (÷)</a:t>
            </a:r>
            <a:endParaRPr lang="en-US" sz="1088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18669001" cy="1543050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847784" y="1943034"/>
            <a:ext cx="876267" cy="876267"/>
          </a:xfrm>
          <a:prstGeom prst="roundRect">
            <a:avLst>
              <a:gd name="adj" fmla="val 13044"/>
            </a:avLst>
          </a:prstGeom>
          <a:solidFill>
            <a:srgbClr val="2F6F8F"/>
          </a:solidFill>
          <a:ln/>
          <a:effectLst>
            <a:outerShdw sx="100000" sy="100000" kx="0" ky="0" algn="bl" rotWithShape="0" blurRad="57150" dist="19050" dir="5400000">
              <a:srgbClr val="000000">
                <a:alpha val="18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2199763" y="2148334"/>
            <a:ext cx="248510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3150" dirty="0"/>
          </a:p>
        </p:txBody>
      </p:sp>
      <p:sp>
        <p:nvSpPr>
          <p:cNvPr id="15" name="Shape 10"/>
          <p:cNvSpPr/>
          <p:nvPr/>
        </p:nvSpPr>
        <p:spPr>
          <a:xfrm>
            <a:off x="4514784" y="1943034"/>
            <a:ext cx="876267" cy="876267"/>
          </a:xfrm>
          <a:prstGeom prst="roundRect">
            <a:avLst>
              <a:gd name="adj" fmla="val 13044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7150" dist="19050" dir="5400000">
              <a:srgbClr val="000000">
                <a:alpha val="18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781021" y="2148334"/>
            <a:ext cx="419993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3150" dirty="0"/>
          </a:p>
        </p:txBody>
      </p:sp>
      <p:sp>
        <p:nvSpPr>
          <p:cNvPr id="17" name="Shape 12"/>
          <p:cNvSpPr/>
          <p:nvPr/>
        </p:nvSpPr>
        <p:spPr>
          <a:xfrm>
            <a:off x="7181784" y="1943034"/>
            <a:ext cx="876267" cy="876267"/>
          </a:xfrm>
          <a:prstGeom prst="roundRect">
            <a:avLst>
              <a:gd name="adj" fmla="val 13044"/>
            </a:avLst>
          </a:prstGeom>
          <a:solidFill>
            <a:srgbClr val="1A7A44"/>
          </a:solidFill>
          <a:ln/>
          <a:effectLst>
            <a:outerShdw sx="100000" sy="100000" kx="0" ky="0" algn="bl" rotWithShape="0" blurRad="57150" dist="19050" dir="5400000">
              <a:srgbClr val="000000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409905" y="2148334"/>
            <a:ext cx="496226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kg</a:t>
            </a:r>
            <a:endParaRPr lang="en-US" sz="3150" dirty="0"/>
          </a:p>
        </p:txBody>
      </p:sp>
      <p:sp>
        <p:nvSpPr>
          <p:cNvPr id="19" name="Shape 14"/>
          <p:cNvSpPr/>
          <p:nvPr/>
        </p:nvSpPr>
        <p:spPr>
          <a:xfrm>
            <a:off x="13277785" y="2038284"/>
            <a:ext cx="876267" cy="876267"/>
          </a:xfrm>
          <a:prstGeom prst="roundRect">
            <a:avLst>
              <a:gd name="adj" fmla="val 13044"/>
            </a:avLst>
          </a:prstGeom>
          <a:solidFill>
            <a:srgbClr val="E07B1A"/>
          </a:solidFill>
          <a:ln/>
          <a:effectLst>
            <a:outerShdw sx="100000" sy="100000" kx="0" ky="0" algn="bl" rotWithShape="0" blurRad="57150" dist="19050" dir="5400000">
              <a:srgbClr val="000000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13593466" y="2243584"/>
            <a:ext cx="321022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3150" dirty="0"/>
          </a:p>
        </p:txBody>
      </p:sp>
      <p:sp>
        <p:nvSpPr>
          <p:cNvPr id="21" name="Shape 16"/>
          <p:cNvSpPr/>
          <p:nvPr/>
        </p:nvSpPr>
        <p:spPr>
          <a:xfrm>
            <a:off x="2876517" y="42100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373289" y="4811779"/>
            <a:ext cx="492340" cy="320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950" b="1" dirty="0">
                <a:solidFill>
                  <a:srgbClr val="3F7F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</a:t>
            </a:r>
            <a:endParaRPr lang="en-US" sz="1950" dirty="0"/>
          </a:p>
        </p:txBody>
      </p:sp>
      <p:sp>
        <p:nvSpPr>
          <p:cNvPr id="23" name="Shape 18"/>
          <p:cNvSpPr/>
          <p:nvPr/>
        </p:nvSpPr>
        <p:spPr>
          <a:xfrm>
            <a:off x="2305017" y="64960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766236" y="7108610"/>
            <a:ext cx="563364" cy="298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6A5A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m/s²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5162517" y="373376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572307" y="4286746"/>
            <a:ext cx="666221" cy="255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2E8B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kg·m/s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699224" y="4503870"/>
            <a:ext cx="412386" cy="20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1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N·s</a:t>
            </a:r>
            <a:endParaRPr lang="en-US" sz="1125" dirty="0"/>
          </a:p>
        </p:txBody>
      </p:sp>
      <p:sp>
        <p:nvSpPr>
          <p:cNvPr id="28" name="Shape 23"/>
          <p:cNvSpPr/>
          <p:nvPr/>
        </p:nvSpPr>
        <p:spPr>
          <a:xfrm>
            <a:off x="4972017" y="64960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318886" y="6962097"/>
            <a:ext cx="792063" cy="266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75" b="1" dirty="0">
                <a:solidFill>
                  <a:srgbClr val="D81B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Newton</a:t>
            </a:r>
            <a:endParaRPr lang="en-US" sz="1575" dirty="0"/>
          </a:p>
        </p:txBody>
      </p:sp>
      <p:sp>
        <p:nvSpPr>
          <p:cNvPr id="30" name="Text 25"/>
          <p:cNvSpPr/>
          <p:nvPr/>
        </p:nvSpPr>
        <p:spPr>
          <a:xfrm>
            <a:off x="5585288" y="7190052"/>
            <a:ext cx="259259" cy="190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(N)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5338812" y="7342022"/>
            <a:ext cx="752210" cy="21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kg·m/s²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7448517" y="45910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978858" y="5122251"/>
            <a:ext cx="425202" cy="30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75" b="1" dirty="0">
                <a:solidFill>
                  <a:srgbClr val="5F8F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N·s</a:t>
            </a:r>
            <a:endParaRPr lang="en-US" sz="1875" dirty="0"/>
          </a:p>
        </p:txBody>
      </p:sp>
      <p:sp>
        <p:nvSpPr>
          <p:cNvPr id="34" name="Text 29"/>
          <p:cNvSpPr/>
          <p:nvPr/>
        </p:nvSpPr>
        <p:spPr>
          <a:xfrm>
            <a:off x="7887659" y="5393697"/>
            <a:ext cx="607516" cy="190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kg·m/s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4114767" y="887726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563666" y="9343348"/>
            <a:ext cx="588086" cy="266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75" b="1" dirty="0">
                <a:solidFill>
                  <a:srgbClr val="8A6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Joule</a:t>
            </a:r>
            <a:endParaRPr lang="en-US" sz="1575" dirty="0"/>
          </a:p>
        </p:txBody>
      </p:sp>
      <p:sp>
        <p:nvSpPr>
          <p:cNvPr id="37" name="Text 32"/>
          <p:cNvSpPr/>
          <p:nvPr/>
        </p:nvSpPr>
        <p:spPr>
          <a:xfrm>
            <a:off x="4738870" y="9571302"/>
            <a:ext cx="237679" cy="190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(J)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4607653" y="9723273"/>
            <a:ext cx="500112" cy="21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N·m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1924017" y="906776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2411528" y="9533848"/>
            <a:ext cx="510778" cy="266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75" b="1" dirty="0">
                <a:solidFill>
                  <a:srgbClr val="B56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Watt</a:t>
            </a:r>
            <a:endParaRPr lang="en-US" sz="1575" dirty="0"/>
          </a:p>
        </p:txBody>
      </p:sp>
      <p:sp>
        <p:nvSpPr>
          <p:cNvPr id="41" name="Text 36"/>
          <p:cNvSpPr/>
          <p:nvPr/>
        </p:nvSpPr>
        <p:spPr>
          <a:xfrm>
            <a:off x="2523067" y="9761803"/>
            <a:ext cx="287784" cy="190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(W)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2458078" y="9913773"/>
            <a:ext cx="417761" cy="21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J/s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10496517" y="44005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11002549" y="4915463"/>
            <a:ext cx="473736" cy="30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75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N/C</a:t>
            </a:r>
            <a:endParaRPr lang="en-US" sz="1875" dirty="0"/>
          </a:p>
        </p:txBody>
      </p:sp>
      <p:sp>
        <p:nvSpPr>
          <p:cNvPr id="45" name="Text 40"/>
          <p:cNvSpPr/>
          <p:nvPr/>
        </p:nvSpPr>
        <p:spPr>
          <a:xfrm>
            <a:off x="10978075" y="5186908"/>
            <a:ext cx="522767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V/m</a:t>
            </a:r>
            <a:endParaRPr lang="en-US" sz="1275" dirty="0"/>
          </a:p>
        </p:txBody>
      </p:sp>
      <p:sp>
        <p:nvSpPr>
          <p:cNvPr id="46" name="Shape 41"/>
          <p:cNvSpPr/>
          <p:nvPr/>
        </p:nvSpPr>
        <p:spPr>
          <a:xfrm>
            <a:off x="14116017" y="44005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14613286" y="4866597"/>
            <a:ext cx="491348" cy="266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75" b="1" dirty="0">
                <a:solidFill>
                  <a:srgbClr val="D4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</a:t>
            </a:r>
            <a:endParaRPr lang="en-US" sz="1575" dirty="0"/>
          </a:p>
        </p:txBody>
      </p:sp>
      <p:sp>
        <p:nvSpPr>
          <p:cNvPr id="48" name="Text 43"/>
          <p:cNvSpPr/>
          <p:nvPr/>
        </p:nvSpPr>
        <p:spPr>
          <a:xfrm>
            <a:off x="14732514" y="5094552"/>
            <a:ext cx="252809" cy="190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(A)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14644043" y="5246522"/>
            <a:ext cx="429749" cy="21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C/s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10115517" y="76390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10630562" y="8099723"/>
            <a:ext cx="455712" cy="276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2B8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</a:t>
            </a:r>
            <a:endParaRPr lang="en-US" sz="1650" dirty="0"/>
          </a:p>
        </p:txBody>
      </p:sp>
      <p:sp>
        <p:nvSpPr>
          <p:cNvPr id="52" name="Text 47"/>
          <p:cNvSpPr/>
          <p:nvPr/>
        </p:nvSpPr>
        <p:spPr>
          <a:xfrm>
            <a:off x="10732179" y="8338510"/>
            <a:ext cx="252479" cy="190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(V)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10635771" y="8490479"/>
            <a:ext cx="445294" cy="21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J/C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14116017" y="76390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14605265" y="8094266"/>
            <a:ext cx="507388" cy="266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75" b="1" dirty="0">
                <a:solidFill>
                  <a:srgbClr val="5566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Ohm</a:t>
            </a:r>
            <a:endParaRPr lang="en-US" sz="1575" dirty="0"/>
          </a:p>
        </p:txBody>
      </p:sp>
      <p:sp>
        <p:nvSpPr>
          <p:cNvPr id="56" name="Text 51"/>
          <p:cNvSpPr/>
          <p:nvPr/>
        </p:nvSpPr>
        <p:spPr>
          <a:xfrm>
            <a:off x="14713910" y="8322221"/>
            <a:ext cx="290099" cy="21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(Ω)</a:t>
            </a:r>
            <a:endParaRPr lang="en-US" sz="1200" dirty="0"/>
          </a:p>
        </p:txBody>
      </p:sp>
      <p:sp>
        <p:nvSpPr>
          <p:cNvPr id="57" name="Text 52"/>
          <p:cNvSpPr/>
          <p:nvPr/>
        </p:nvSpPr>
        <p:spPr>
          <a:xfrm>
            <a:off x="14627837" y="8495937"/>
            <a:ext cx="462161" cy="21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V/A</a:t>
            </a:r>
            <a:endParaRPr lang="en-US" sz="1200" dirty="0"/>
          </a:p>
        </p:txBody>
      </p:sp>
      <p:sp>
        <p:nvSpPr>
          <p:cNvPr id="58" name="Shape 53"/>
          <p:cNvSpPr/>
          <p:nvPr/>
        </p:nvSpPr>
        <p:spPr>
          <a:xfrm>
            <a:off x="12020517" y="101155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12467432" y="10581597"/>
            <a:ext cx="592055" cy="266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75" b="1" dirty="0">
                <a:solidFill>
                  <a:srgbClr val="7A3B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Farad</a:t>
            </a:r>
            <a:endParaRPr lang="en-US" sz="1575" dirty="0"/>
          </a:p>
        </p:txBody>
      </p:sp>
      <p:sp>
        <p:nvSpPr>
          <p:cNvPr id="60" name="Text 55"/>
          <p:cNvSpPr/>
          <p:nvPr/>
        </p:nvSpPr>
        <p:spPr>
          <a:xfrm>
            <a:off x="12641396" y="10809553"/>
            <a:ext cx="244128" cy="190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(F)</a:t>
            </a:r>
            <a:endParaRPr lang="en-US" sz="1050" dirty="0"/>
          </a:p>
        </p:txBody>
      </p:sp>
      <p:sp>
        <p:nvSpPr>
          <p:cNvPr id="61" name="Text 56"/>
          <p:cNvSpPr/>
          <p:nvPr/>
        </p:nvSpPr>
        <p:spPr>
          <a:xfrm>
            <a:off x="12533991" y="10961523"/>
            <a:ext cx="458854" cy="21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C/V</a:t>
            </a:r>
            <a:endParaRPr lang="en-US" sz="1200" dirty="0"/>
          </a:p>
        </p:txBody>
      </p:sp>
      <p:sp>
        <p:nvSpPr>
          <p:cNvPr id="62" name="Shape 57"/>
          <p:cNvSpPr/>
          <p:nvPr/>
        </p:nvSpPr>
        <p:spPr>
          <a:xfrm>
            <a:off x="15830517" y="21145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16467518" y="2569766"/>
            <a:ext cx="211882" cy="320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950" b="1" dirty="0">
                <a:solidFill>
                  <a:srgbClr val="8A5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950" dirty="0"/>
          </a:p>
        </p:txBody>
      </p:sp>
      <p:sp>
        <p:nvSpPr>
          <p:cNvPr id="64" name="Text 59"/>
          <p:cNvSpPr/>
          <p:nvPr/>
        </p:nvSpPr>
        <p:spPr>
          <a:xfrm>
            <a:off x="16198718" y="2852043"/>
            <a:ext cx="749399" cy="190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8.99×10⁹</a:t>
            </a:r>
            <a:endParaRPr lang="en-US" sz="1050" dirty="0"/>
          </a:p>
        </p:txBody>
      </p:sp>
      <p:sp>
        <p:nvSpPr>
          <p:cNvPr id="65" name="Text 60"/>
          <p:cNvSpPr/>
          <p:nvPr/>
        </p:nvSpPr>
        <p:spPr>
          <a:xfrm>
            <a:off x="16300170" y="3004013"/>
            <a:ext cx="546580" cy="179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N·m²/C²</a:t>
            </a:r>
            <a:endParaRPr lang="en-US" sz="975" dirty="0"/>
          </a:p>
        </p:txBody>
      </p:sp>
      <p:sp>
        <p:nvSpPr>
          <p:cNvPr id="66" name="Shape 61"/>
          <p:cNvSpPr/>
          <p:nvPr/>
        </p:nvSpPr>
        <p:spPr>
          <a:xfrm>
            <a:off x="15830517" y="45910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16445525" y="5065200"/>
            <a:ext cx="255869" cy="298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8A5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ε₀</a:t>
            </a:r>
            <a:endParaRPr lang="en-US" sz="1800" dirty="0"/>
          </a:p>
        </p:txBody>
      </p:sp>
      <p:sp>
        <p:nvSpPr>
          <p:cNvPr id="68" name="Text 63"/>
          <p:cNvSpPr/>
          <p:nvPr/>
        </p:nvSpPr>
        <p:spPr>
          <a:xfrm>
            <a:off x="16173831" y="5325814"/>
            <a:ext cx="799257" cy="179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8.85×10⁻¹²</a:t>
            </a:r>
            <a:endParaRPr lang="en-US" sz="975" dirty="0"/>
          </a:p>
        </p:txBody>
      </p:sp>
      <p:sp>
        <p:nvSpPr>
          <p:cNvPr id="69" name="Text 64"/>
          <p:cNvSpPr/>
          <p:nvPr/>
        </p:nvSpPr>
        <p:spPr>
          <a:xfrm>
            <a:off x="16309182" y="5466954"/>
            <a:ext cx="528472" cy="173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9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C²/N·m²</a:t>
            </a:r>
            <a:endParaRPr lang="en-US" sz="938" dirty="0"/>
          </a:p>
        </p:txBody>
      </p:sp>
      <p:sp>
        <p:nvSpPr>
          <p:cNvPr id="70" name="Text 65"/>
          <p:cNvSpPr/>
          <p:nvPr/>
        </p:nvSpPr>
        <p:spPr>
          <a:xfrm>
            <a:off x="923925" y="1466784"/>
            <a:ext cx="2724150" cy="20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63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(t)</a:t>
            </a:r>
            <a:endParaRPr lang="en-US" sz="1163" dirty="0"/>
          </a:p>
        </p:txBody>
      </p:sp>
      <p:sp>
        <p:nvSpPr>
          <p:cNvPr id="71" name="Text 66"/>
          <p:cNvSpPr/>
          <p:nvPr/>
        </p:nvSpPr>
        <p:spPr>
          <a:xfrm>
            <a:off x="923925" y="1695400"/>
            <a:ext cx="2724150" cy="22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F6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</a:t>
            </a:r>
            <a:endParaRPr lang="en-US" sz="1350" dirty="0"/>
          </a:p>
        </p:txBody>
      </p:sp>
      <p:sp>
        <p:nvSpPr>
          <p:cNvPr id="72" name="Text 67"/>
          <p:cNvSpPr/>
          <p:nvPr/>
        </p:nvSpPr>
        <p:spPr>
          <a:xfrm>
            <a:off x="3590925" y="1466784"/>
            <a:ext cx="2724150" cy="20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63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(d, x)</a:t>
            </a:r>
            <a:endParaRPr lang="en-US" sz="1163" dirty="0"/>
          </a:p>
        </p:txBody>
      </p:sp>
      <p:sp>
        <p:nvSpPr>
          <p:cNvPr id="73" name="Text 68"/>
          <p:cNvSpPr/>
          <p:nvPr/>
        </p:nvSpPr>
        <p:spPr>
          <a:xfrm>
            <a:off x="3590925" y="1695400"/>
            <a:ext cx="2724150" cy="22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50" dirty="0"/>
          </a:p>
        </p:txBody>
      </p:sp>
      <p:sp>
        <p:nvSpPr>
          <p:cNvPr id="74" name="Text 69"/>
          <p:cNvSpPr/>
          <p:nvPr/>
        </p:nvSpPr>
        <p:spPr>
          <a:xfrm>
            <a:off x="6257926" y="1466784"/>
            <a:ext cx="2724150" cy="20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63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(m)</a:t>
            </a:r>
            <a:endParaRPr lang="en-US" sz="1163" dirty="0"/>
          </a:p>
        </p:txBody>
      </p:sp>
      <p:sp>
        <p:nvSpPr>
          <p:cNvPr id="75" name="Text 70"/>
          <p:cNvSpPr/>
          <p:nvPr/>
        </p:nvSpPr>
        <p:spPr>
          <a:xfrm>
            <a:off x="6257926" y="1695400"/>
            <a:ext cx="2724150" cy="22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7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kilogram</a:t>
            </a:r>
            <a:endParaRPr lang="en-US" sz="1350" dirty="0"/>
          </a:p>
        </p:txBody>
      </p:sp>
      <p:sp>
        <p:nvSpPr>
          <p:cNvPr id="76" name="Text 71"/>
          <p:cNvSpPr/>
          <p:nvPr/>
        </p:nvSpPr>
        <p:spPr>
          <a:xfrm>
            <a:off x="12353926" y="1562034"/>
            <a:ext cx="2724150" cy="20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63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 (Q, q)</a:t>
            </a:r>
            <a:endParaRPr lang="en-US" sz="1163" dirty="0"/>
          </a:p>
        </p:txBody>
      </p:sp>
      <p:sp>
        <p:nvSpPr>
          <p:cNvPr id="77" name="Text 72"/>
          <p:cNvSpPr/>
          <p:nvPr/>
        </p:nvSpPr>
        <p:spPr>
          <a:xfrm>
            <a:off x="12353926" y="1790650"/>
            <a:ext cx="2724150" cy="22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coulomb</a:t>
            </a:r>
            <a:endParaRPr lang="en-US" sz="1350" dirty="0"/>
          </a:p>
        </p:txBody>
      </p:sp>
      <p:sp>
        <p:nvSpPr>
          <p:cNvPr id="78" name="Text 73"/>
          <p:cNvSpPr/>
          <p:nvPr/>
        </p:nvSpPr>
        <p:spPr>
          <a:xfrm>
            <a:off x="1943100" y="577213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 (v)</a:t>
            </a:r>
            <a:endParaRPr lang="en-US" sz="1088" dirty="0"/>
          </a:p>
        </p:txBody>
      </p:sp>
      <p:sp>
        <p:nvSpPr>
          <p:cNvPr id="79" name="Text 74"/>
          <p:cNvSpPr/>
          <p:nvPr/>
        </p:nvSpPr>
        <p:spPr>
          <a:xfrm>
            <a:off x="1943100" y="5953125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= d / t</a:t>
            </a:r>
            <a:endParaRPr lang="en-US" sz="1013" dirty="0"/>
          </a:p>
        </p:txBody>
      </p:sp>
      <p:sp>
        <p:nvSpPr>
          <p:cNvPr id="80" name="Text 75"/>
          <p:cNvSpPr/>
          <p:nvPr/>
        </p:nvSpPr>
        <p:spPr>
          <a:xfrm>
            <a:off x="1371600" y="805813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Acceleration (a)</a:t>
            </a:r>
            <a:endParaRPr lang="en-US" sz="1088" dirty="0"/>
          </a:p>
        </p:txBody>
      </p:sp>
      <p:sp>
        <p:nvSpPr>
          <p:cNvPr id="81" name="Text 76"/>
          <p:cNvSpPr/>
          <p:nvPr/>
        </p:nvSpPr>
        <p:spPr>
          <a:xfrm>
            <a:off x="1371600" y="8239126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= Δv / t</a:t>
            </a:r>
            <a:endParaRPr lang="en-US" sz="1013" dirty="0"/>
          </a:p>
        </p:txBody>
      </p:sp>
      <p:sp>
        <p:nvSpPr>
          <p:cNvPr id="82" name="Text 77"/>
          <p:cNvSpPr/>
          <p:nvPr/>
        </p:nvSpPr>
        <p:spPr>
          <a:xfrm>
            <a:off x="4229100" y="529588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Momentum (p)</a:t>
            </a:r>
            <a:endParaRPr lang="en-US" sz="1088" dirty="0"/>
          </a:p>
        </p:txBody>
      </p:sp>
      <p:sp>
        <p:nvSpPr>
          <p:cNvPr id="83" name="Text 78"/>
          <p:cNvSpPr/>
          <p:nvPr/>
        </p:nvSpPr>
        <p:spPr>
          <a:xfrm>
            <a:off x="4229100" y="5476875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mv</a:t>
            </a:r>
            <a:endParaRPr lang="en-US" sz="1013" dirty="0"/>
          </a:p>
        </p:txBody>
      </p:sp>
      <p:sp>
        <p:nvSpPr>
          <p:cNvPr id="84" name="Text 79"/>
          <p:cNvSpPr/>
          <p:nvPr/>
        </p:nvSpPr>
        <p:spPr>
          <a:xfrm>
            <a:off x="4038600" y="805813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 (F)</a:t>
            </a:r>
            <a:endParaRPr lang="en-US" sz="1088" dirty="0"/>
          </a:p>
        </p:txBody>
      </p:sp>
      <p:sp>
        <p:nvSpPr>
          <p:cNvPr id="85" name="Text 80"/>
          <p:cNvSpPr/>
          <p:nvPr/>
        </p:nvSpPr>
        <p:spPr>
          <a:xfrm>
            <a:off x="4038600" y="8239126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 = ma · F = qE</a:t>
            </a:r>
            <a:endParaRPr lang="en-US" sz="1013" dirty="0"/>
          </a:p>
        </p:txBody>
      </p:sp>
      <p:sp>
        <p:nvSpPr>
          <p:cNvPr id="86" name="Text 81"/>
          <p:cNvSpPr/>
          <p:nvPr/>
        </p:nvSpPr>
        <p:spPr>
          <a:xfrm>
            <a:off x="6515101" y="615313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Impulse (J)</a:t>
            </a:r>
            <a:endParaRPr lang="en-US" sz="1088" dirty="0"/>
          </a:p>
        </p:txBody>
      </p:sp>
      <p:sp>
        <p:nvSpPr>
          <p:cNvPr id="87" name="Text 82"/>
          <p:cNvSpPr/>
          <p:nvPr/>
        </p:nvSpPr>
        <p:spPr>
          <a:xfrm>
            <a:off x="6515101" y="6334126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 = FΔt = Δp</a:t>
            </a:r>
            <a:endParaRPr lang="en-US" sz="1013" dirty="0"/>
          </a:p>
        </p:txBody>
      </p:sp>
      <p:sp>
        <p:nvSpPr>
          <p:cNvPr id="88" name="Text 83"/>
          <p:cNvSpPr/>
          <p:nvPr/>
        </p:nvSpPr>
        <p:spPr>
          <a:xfrm>
            <a:off x="3181350" y="1043938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/ Energy (W, KE, PE)</a:t>
            </a:r>
            <a:endParaRPr lang="en-US" sz="1088" dirty="0"/>
          </a:p>
        </p:txBody>
      </p:sp>
      <p:sp>
        <p:nvSpPr>
          <p:cNvPr id="89" name="Text 84"/>
          <p:cNvSpPr/>
          <p:nvPr/>
        </p:nvSpPr>
        <p:spPr>
          <a:xfrm>
            <a:off x="3181350" y="10620375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= Fd · U = qV</a:t>
            </a:r>
            <a:endParaRPr lang="en-US" sz="1013" dirty="0"/>
          </a:p>
        </p:txBody>
      </p:sp>
      <p:sp>
        <p:nvSpPr>
          <p:cNvPr id="90" name="Text 85"/>
          <p:cNvSpPr/>
          <p:nvPr/>
        </p:nvSpPr>
        <p:spPr>
          <a:xfrm>
            <a:off x="990600" y="1062988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(P)</a:t>
            </a:r>
            <a:endParaRPr lang="en-US" sz="1088" dirty="0"/>
          </a:p>
        </p:txBody>
      </p:sp>
      <p:sp>
        <p:nvSpPr>
          <p:cNvPr id="91" name="Text 86"/>
          <p:cNvSpPr/>
          <p:nvPr/>
        </p:nvSpPr>
        <p:spPr>
          <a:xfrm>
            <a:off x="990600" y="10810875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W/t = IV</a:t>
            </a:r>
            <a:endParaRPr lang="en-US" sz="1013" dirty="0"/>
          </a:p>
        </p:txBody>
      </p:sp>
      <p:sp>
        <p:nvSpPr>
          <p:cNvPr id="92" name="Text 87"/>
          <p:cNvSpPr/>
          <p:nvPr/>
        </p:nvSpPr>
        <p:spPr>
          <a:xfrm>
            <a:off x="9563101" y="596263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Electric Field (E)</a:t>
            </a:r>
            <a:endParaRPr lang="en-US" sz="1088" dirty="0"/>
          </a:p>
        </p:txBody>
      </p:sp>
      <p:sp>
        <p:nvSpPr>
          <p:cNvPr id="93" name="Text 88"/>
          <p:cNvSpPr/>
          <p:nvPr/>
        </p:nvSpPr>
        <p:spPr>
          <a:xfrm>
            <a:off x="9563101" y="6143626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= F/q = kq/r²</a:t>
            </a:r>
            <a:endParaRPr lang="en-US" sz="1013" dirty="0"/>
          </a:p>
        </p:txBody>
      </p:sp>
      <p:sp>
        <p:nvSpPr>
          <p:cNvPr id="94" name="Text 89"/>
          <p:cNvSpPr/>
          <p:nvPr/>
        </p:nvSpPr>
        <p:spPr>
          <a:xfrm>
            <a:off x="13182601" y="596263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(I)</a:t>
            </a:r>
            <a:endParaRPr lang="en-US" sz="1088" dirty="0"/>
          </a:p>
        </p:txBody>
      </p:sp>
      <p:sp>
        <p:nvSpPr>
          <p:cNvPr id="95" name="Text 90"/>
          <p:cNvSpPr/>
          <p:nvPr/>
        </p:nvSpPr>
        <p:spPr>
          <a:xfrm>
            <a:off x="13182601" y="6143626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= Q / t</a:t>
            </a:r>
            <a:endParaRPr lang="en-US" sz="1013" dirty="0"/>
          </a:p>
        </p:txBody>
      </p:sp>
      <p:sp>
        <p:nvSpPr>
          <p:cNvPr id="96" name="Text 91"/>
          <p:cNvSpPr/>
          <p:nvPr/>
        </p:nvSpPr>
        <p:spPr>
          <a:xfrm>
            <a:off x="9182101" y="920113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 / Voltage (V)</a:t>
            </a:r>
            <a:endParaRPr lang="en-US" sz="1088" dirty="0"/>
          </a:p>
        </p:txBody>
      </p:sp>
      <p:sp>
        <p:nvSpPr>
          <p:cNvPr id="97" name="Text 92"/>
          <p:cNvSpPr/>
          <p:nvPr/>
        </p:nvSpPr>
        <p:spPr>
          <a:xfrm>
            <a:off x="9182101" y="9382126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= U/q = kq/r</a:t>
            </a:r>
            <a:endParaRPr lang="en-US" sz="1013" dirty="0"/>
          </a:p>
        </p:txBody>
      </p:sp>
      <p:sp>
        <p:nvSpPr>
          <p:cNvPr id="98" name="Text 93"/>
          <p:cNvSpPr/>
          <p:nvPr/>
        </p:nvSpPr>
        <p:spPr>
          <a:xfrm>
            <a:off x="13182601" y="920113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Resistance (R)</a:t>
            </a:r>
            <a:endParaRPr lang="en-US" sz="1088" dirty="0"/>
          </a:p>
        </p:txBody>
      </p:sp>
      <p:sp>
        <p:nvSpPr>
          <p:cNvPr id="99" name="Text 94"/>
          <p:cNvSpPr/>
          <p:nvPr/>
        </p:nvSpPr>
        <p:spPr>
          <a:xfrm>
            <a:off x="13182601" y="9382126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= IR</a:t>
            </a:r>
            <a:endParaRPr lang="en-US" sz="1013" dirty="0"/>
          </a:p>
        </p:txBody>
      </p:sp>
      <p:sp>
        <p:nvSpPr>
          <p:cNvPr id="100" name="Text 95"/>
          <p:cNvSpPr/>
          <p:nvPr/>
        </p:nvSpPr>
        <p:spPr>
          <a:xfrm>
            <a:off x="11087100" y="1167763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Capacitance (C)</a:t>
            </a:r>
            <a:endParaRPr lang="en-US" sz="1088" dirty="0"/>
          </a:p>
        </p:txBody>
      </p:sp>
      <p:sp>
        <p:nvSpPr>
          <p:cNvPr id="101" name="Text 96"/>
          <p:cNvSpPr/>
          <p:nvPr/>
        </p:nvSpPr>
        <p:spPr>
          <a:xfrm>
            <a:off x="11087100" y="11858625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= Q / V</a:t>
            </a:r>
            <a:endParaRPr lang="en-US" sz="1013" dirty="0"/>
          </a:p>
        </p:txBody>
      </p:sp>
      <p:sp>
        <p:nvSpPr>
          <p:cNvPr id="102" name="Text 97"/>
          <p:cNvSpPr/>
          <p:nvPr/>
        </p:nvSpPr>
        <p:spPr>
          <a:xfrm>
            <a:off x="14897101" y="367663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Coulomb constant</a:t>
            </a:r>
            <a:endParaRPr lang="en-US" sz="1088" dirty="0"/>
          </a:p>
        </p:txBody>
      </p:sp>
      <p:sp>
        <p:nvSpPr>
          <p:cNvPr id="103" name="Text 98"/>
          <p:cNvSpPr/>
          <p:nvPr/>
        </p:nvSpPr>
        <p:spPr>
          <a:xfrm>
            <a:off x="14897101" y="3857625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1/(4πε₀)</a:t>
            </a:r>
            <a:endParaRPr lang="en-US" sz="1013" dirty="0"/>
          </a:p>
        </p:txBody>
      </p:sp>
      <p:sp>
        <p:nvSpPr>
          <p:cNvPr id="104" name="Text 99"/>
          <p:cNvSpPr/>
          <p:nvPr/>
        </p:nvSpPr>
        <p:spPr>
          <a:xfrm>
            <a:off x="14897101" y="6153134"/>
            <a:ext cx="3352800" cy="206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Permittivity</a:t>
            </a:r>
            <a:endParaRPr lang="en-US" sz="1088" dirty="0"/>
          </a:p>
        </p:txBody>
      </p:sp>
      <p:sp>
        <p:nvSpPr>
          <p:cNvPr id="105" name="Text 100"/>
          <p:cNvSpPr/>
          <p:nvPr/>
        </p:nvSpPr>
        <p:spPr>
          <a:xfrm>
            <a:off x="14897101" y="6334126"/>
            <a:ext cx="3352800" cy="19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free space</a:t>
            </a:r>
            <a:endParaRPr lang="en-US" sz="1013" dirty="0"/>
          </a:p>
        </p:txBody>
      </p:sp>
      <p:sp>
        <p:nvSpPr>
          <p:cNvPr id="106" name="Shape 101"/>
          <p:cNvSpPr/>
          <p:nvPr/>
        </p:nvSpPr>
        <p:spPr>
          <a:xfrm>
            <a:off x="10553651" y="6686517"/>
            <a:ext cx="990534" cy="147588"/>
          </a:xfrm>
          <a:prstGeom prst="roundRect">
            <a:avLst>
              <a:gd name="adj" fmla="val 32269"/>
            </a:avLst>
          </a:prstGeom>
          <a:solidFill>
            <a:srgbClr val="FFFFFF"/>
          </a:solidFill>
          <a:ln/>
        </p:spPr>
      </p:sp>
      <p:sp>
        <p:nvSpPr>
          <p:cNvPr id="107" name="Text 102"/>
          <p:cNvSpPr/>
          <p:nvPr/>
        </p:nvSpPr>
        <p:spPr>
          <a:xfrm>
            <a:off x="10561274" y="6696042"/>
            <a:ext cx="975287" cy="1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= V / d</a:t>
            </a:r>
            <a:endParaRPr lang="en-US" sz="1013" dirty="0"/>
          </a:p>
        </p:txBody>
      </p:sp>
      <p:sp>
        <p:nvSpPr>
          <p:cNvPr id="108" name="Shape 103"/>
          <p:cNvSpPr/>
          <p:nvPr/>
        </p:nvSpPr>
        <p:spPr>
          <a:xfrm>
            <a:off x="381000" y="12668251"/>
            <a:ext cx="8382001" cy="1721693"/>
          </a:xfrm>
          <a:prstGeom prst="roundRect">
            <a:avLst>
              <a:gd name="adj" fmla="val 7745"/>
            </a:avLst>
          </a:prstGeom>
          <a:solidFill>
            <a:srgbClr val="FDF6EE"/>
          </a:solidFill>
          <a:ln w="15875">
            <a:solidFill>
              <a:srgbClr val="E07B1A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396875" y="12684126"/>
            <a:ext cx="8350250" cy="365125"/>
          </a:xfrm>
          <a:prstGeom prst="rect">
            <a:avLst/>
          </a:prstGeom>
          <a:solidFill>
            <a:srgbClr val="E07B1A"/>
          </a:solidFill>
          <a:ln/>
        </p:spPr>
      </p:sp>
      <p:sp>
        <p:nvSpPr>
          <p:cNvPr id="110" name="Text 105"/>
          <p:cNvSpPr/>
          <p:nvPr/>
        </p:nvSpPr>
        <p:spPr>
          <a:xfrm>
            <a:off x="568325" y="12779376"/>
            <a:ext cx="8257858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confuse the UNIT with the VARIABLE</a:t>
            </a:r>
            <a:endParaRPr lang="en-US" sz="1200" dirty="0"/>
          </a:p>
        </p:txBody>
      </p:sp>
      <p:sp>
        <p:nvSpPr>
          <p:cNvPr id="111" name="Text 106"/>
          <p:cNvSpPr/>
          <p:nvPr/>
        </p:nvSpPr>
        <p:spPr>
          <a:xfrm>
            <a:off x="568275" y="13192126"/>
            <a:ext cx="8808195" cy="23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the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Coulombs (measures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variable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); the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is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capacitance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whose unit is the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farad (F)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88" dirty="0"/>
          </a:p>
        </p:txBody>
      </p:sp>
      <p:sp>
        <p:nvSpPr>
          <p:cNvPr id="112" name="Text 107"/>
          <p:cNvSpPr/>
          <p:nvPr/>
        </p:nvSpPr>
        <p:spPr>
          <a:xfrm>
            <a:off x="568275" y="13480686"/>
            <a:ext cx="8808195" cy="23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B56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the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Watt (measures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); the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is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measured in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joules (J)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88" dirty="0"/>
          </a:p>
        </p:txBody>
      </p:sp>
      <p:sp>
        <p:nvSpPr>
          <p:cNvPr id="113" name="Text 108"/>
          <p:cNvSpPr/>
          <p:nvPr/>
        </p:nvSpPr>
        <p:spPr>
          <a:xfrm>
            <a:off x="568275" y="13769248"/>
            <a:ext cx="8808195" cy="23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2B8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the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Volt; the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is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voltage 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(and, in chem,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 </a:t>
            </a:r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liters).</a:t>
            </a:r>
            <a:endParaRPr lang="en-US" sz="1088" dirty="0"/>
          </a:p>
        </p:txBody>
      </p:sp>
      <p:sp>
        <p:nvSpPr>
          <p:cNvPr id="114" name="Text 109"/>
          <p:cNvSpPr/>
          <p:nvPr/>
        </p:nvSpPr>
        <p:spPr>
          <a:xfrm>
            <a:off x="568275" y="14057809"/>
            <a:ext cx="8808195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A65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letter, different roles — always read whether they mean the unit or the quantity.</a:t>
            </a:r>
            <a:endParaRPr lang="en-US" sz="975" dirty="0"/>
          </a:p>
        </p:txBody>
      </p:sp>
      <p:sp>
        <p:nvSpPr>
          <p:cNvPr id="115" name="Shape 110"/>
          <p:cNvSpPr/>
          <p:nvPr/>
        </p:nvSpPr>
        <p:spPr>
          <a:xfrm>
            <a:off x="9144001" y="12668251"/>
            <a:ext cx="9144001" cy="2398613"/>
          </a:xfrm>
          <a:prstGeom prst="roundRect">
            <a:avLst>
              <a:gd name="adj" fmla="val 5559"/>
            </a:avLst>
          </a:prstGeom>
          <a:solidFill>
            <a:srgbClr val="FAFBFC"/>
          </a:solidFill>
          <a:ln w="10583">
            <a:solidFill>
              <a:srgbClr val="C9CED4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9154584" y="12678834"/>
            <a:ext cx="9122834" cy="365125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17" name="Text 112"/>
          <p:cNvSpPr/>
          <p:nvPr/>
        </p:nvSpPr>
        <p:spPr>
          <a:xfrm>
            <a:off x="9326034" y="12774084"/>
            <a:ext cx="9053619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"What other unit is this equal to?" — forms they sneak in</a:t>
            </a:r>
            <a:endParaRPr lang="en-US" sz="1200" dirty="0"/>
          </a:p>
        </p:txBody>
      </p:sp>
      <p:sp>
        <p:nvSpPr>
          <p:cNvPr id="118" name="Shape 113"/>
          <p:cNvSpPr/>
          <p:nvPr/>
        </p:nvSpPr>
        <p:spPr>
          <a:xfrm>
            <a:off x="9306967" y="13177243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19" name="Text 114"/>
          <p:cNvSpPr/>
          <p:nvPr/>
        </p:nvSpPr>
        <p:spPr>
          <a:xfrm>
            <a:off x="9436035" y="13268194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kg·m/s² = N</a:t>
            </a:r>
            <a:endParaRPr lang="en-US" sz="1238" dirty="0"/>
          </a:p>
        </p:txBody>
      </p:sp>
      <p:sp>
        <p:nvSpPr>
          <p:cNvPr id="120" name="Text 115"/>
          <p:cNvSpPr/>
          <p:nvPr/>
        </p:nvSpPr>
        <p:spPr>
          <a:xfrm>
            <a:off x="9436035" y="13472418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 = ma</a:t>
            </a:r>
            <a:endParaRPr lang="en-US" sz="900" dirty="0"/>
          </a:p>
        </p:txBody>
      </p:sp>
      <p:sp>
        <p:nvSpPr>
          <p:cNvPr id="121" name="Shape 116"/>
          <p:cNvSpPr/>
          <p:nvPr/>
        </p:nvSpPr>
        <p:spPr>
          <a:xfrm>
            <a:off x="11478618" y="13177243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22" name="Text 117"/>
          <p:cNvSpPr/>
          <p:nvPr/>
        </p:nvSpPr>
        <p:spPr>
          <a:xfrm>
            <a:off x="11607685" y="13268194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N·m = J</a:t>
            </a:r>
            <a:endParaRPr lang="en-US" sz="1238" dirty="0"/>
          </a:p>
        </p:txBody>
      </p:sp>
      <p:sp>
        <p:nvSpPr>
          <p:cNvPr id="123" name="Text 118"/>
          <p:cNvSpPr/>
          <p:nvPr/>
        </p:nvSpPr>
        <p:spPr>
          <a:xfrm>
            <a:off x="11607685" y="13472418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= Fd</a:t>
            </a:r>
            <a:endParaRPr lang="en-US" sz="900" dirty="0"/>
          </a:p>
        </p:txBody>
      </p:sp>
      <p:sp>
        <p:nvSpPr>
          <p:cNvPr id="124" name="Shape 119"/>
          <p:cNvSpPr/>
          <p:nvPr/>
        </p:nvSpPr>
        <p:spPr>
          <a:xfrm>
            <a:off x="13650268" y="13177243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25" name="Text 120"/>
          <p:cNvSpPr/>
          <p:nvPr/>
        </p:nvSpPr>
        <p:spPr>
          <a:xfrm>
            <a:off x="13779336" y="13268194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N·s = kg·m/s</a:t>
            </a:r>
            <a:endParaRPr lang="en-US" sz="1238" dirty="0"/>
          </a:p>
        </p:txBody>
      </p:sp>
      <p:sp>
        <p:nvSpPr>
          <p:cNvPr id="126" name="Text 121"/>
          <p:cNvSpPr/>
          <p:nvPr/>
        </p:nvSpPr>
        <p:spPr>
          <a:xfrm>
            <a:off x="13779336" y="13472418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 = Δp</a:t>
            </a:r>
            <a:endParaRPr lang="en-US" sz="900" dirty="0"/>
          </a:p>
        </p:txBody>
      </p:sp>
      <p:sp>
        <p:nvSpPr>
          <p:cNvPr id="127" name="Shape 122"/>
          <p:cNvSpPr/>
          <p:nvPr/>
        </p:nvSpPr>
        <p:spPr>
          <a:xfrm>
            <a:off x="15821919" y="13177243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28" name="Text 123"/>
          <p:cNvSpPr/>
          <p:nvPr/>
        </p:nvSpPr>
        <p:spPr>
          <a:xfrm>
            <a:off x="15950986" y="13268194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J/s = W</a:t>
            </a:r>
            <a:endParaRPr lang="en-US" sz="1238" dirty="0"/>
          </a:p>
        </p:txBody>
      </p:sp>
      <p:sp>
        <p:nvSpPr>
          <p:cNvPr id="129" name="Text 124"/>
          <p:cNvSpPr/>
          <p:nvPr/>
        </p:nvSpPr>
        <p:spPr>
          <a:xfrm>
            <a:off x="15950986" y="13472418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W/t</a:t>
            </a:r>
            <a:endParaRPr lang="en-US" sz="900" dirty="0"/>
          </a:p>
        </p:txBody>
      </p:sp>
      <p:sp>
        <p:nvSpPr>
          <p:cNvPr id="130" name="Shape 125"/>
          <p:cNvSpPr/>
          <p:nvPr/>
        </p:nvSpPr>
        <p:spPr>
          <a:xfrm>
            <a:off x="9306967" y="13790911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31" name="Text 126"/>
          <p:cNvSpPr/>
          <p:nvPr/>
        </p:nvSpPr>
        <p:spPr>
          <a:xfrm>
            <a:off x="9436035" y="13881861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atm·L = J</a:t>
            </a:r>
            <a:endParaRPr lang="en-US" sz="1238" dirty="0"/>
          </a:p>
        </p:txBody>
      </p:sp>
      <p:sp>
        <p:nvSpPr>
          <p:cNvPr id="132" name="Text 127"/>
          <p:cNvSpPr/>
          <p:nvPr/>
        </p:nvSpPr>
        <p:spPr>
          <a:xfrm>
            <a:off x="9436035" y="14086087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= −PΔV</a:t>
            </a:r>
            <a:endParaRPr lang="en-US" sz="900" dirty="0"/>
          </a:p>
        </p:txBody>
      </p:sp>
      <p:sp>
        <p:nvSpPr>
          <p:cNvPr id="133" name="Shape 128"/>
          <p:cNvSpPr/>
          <p:nvPr/>
        </p:nvSpPr>
        <p:spPr>
          <a:xfrm>
            <a:off x="11478618" y="13790911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34" name="Text 129"/>
          <p:cNvSpPr/>
          <p:nvPr/>
        </p:nvSpPr>
        <p:spPr>
          <a:xfrm>
            <a:off x="11607685" y="13881861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N/m² = Pa</a:t>
            </a:r>
            <a:endParaRPr lang="en-US" sz="1238" dirty="0"/>
          </a:p>
        </p:txBody>
      </p:sp>
      <p:sp>
        <p:nvSpPr>
          <p:cNvPr id="135" name="Text 130"/>
          <p:cNvSpPr/>
          <p:nvPr/>
        </p:nvSpPr>
        <p:spPr>
          <a:xfrm>
            <a:off x="11607685" y="14086087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F/A</a:t>
            </a:r>
            <a:endParaRPr lang="en-US" sz="900" dirty="0"/>
          </a:p>
        </p:txBody>
      </p:sp>
      <p:sp>
        <p:nvSpPr>
          <p:cNvPr id="136" name="Shape 131"/>
          <p:cNvSpPr/>
          <p:nvPr/>
        </p:nvSpPr>
        <p:spPr>
          <a:xfrm>
            <a:off x="13650268" y="13790911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37" name="Text 132"/>
          <p:cNvSpPr/>
          <p:nvPr/>
        </p:nvSpPr>
        <p:spPr>
          <a:xfrm>
            <a:off x="13779336" y="13881861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C·V = J</a:t>
            </a:r>
            <a:endParaRPr lang="en-US" sz="1238" dirty="0"/>
          </a:p>
        </p:txBody>
      </p:sp>
      <p:sp>
        <p:nvSpPr>
          <p:cNvPr id="138" name="Text 133"/>
          <p:cNvSpPr/>
          <p:nvPr/>
        </p:nvSpPr>
        <p:spPr>
          <a:xfrm>
            <a:off x="13779336" y="14086087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 = qV</a:t>
            </a:r>
            <a:endParaRPr lang="en-US" sz="900" dirty="0"/>
          </a:p>
        </p:txBody>
      </p:sp>
      <p:sp>
        <p:nvSpPr>
          <p:cNvPr id="139" name="Shape 134"/>
          <p:cNvSpPr/>
          <p:nvPr/>
        </p:nvSpPr>
        <p:spPr>
          <a:xfrm>
            <a:off x="15821919" y="13790911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40" name="Text 135"/>
          <p:cNvSpPr/>
          <p:nvPr/>
        </p:nvSpPr>
        <p:spPr>
          <a:xfrm>
            <a:off x="15950986" y="13881861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C·V/m = N</a:t>
            </a:r>
            <a:endParaRPr lang="en-US" sz="1238" dirty="0"/>
          </a:p>
        </p:txBody>
      </p:sp>
      <p:sp>
        <p:nvSpPr>
          <p:cNvPr id="141" name="Text 136"/>
          <p:cNvSpPr/>
          <p:nvPr/>
        </p:nvSpPr>
        <p:spPr>
          <a:xfrm>
            <a:off x="15950986" y="14086087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 = qE</a:t>
            </a:r>
            <a:endParaRPr lang="en-US" sz="900" dirty="0"/>
          </a:p>
        </p:txBody>
      </p:sp>
      <p:sp>
        <p:nvSpPr>
          <p:cNvPr id="142" name="Shape 137"/>
          <p:cNvSpPr/>
          <p:nvPr/>
        </p:nvSpPr>
        <p:spPr>
          <a:xfrm>
            <a:off x="9306967" y="14404579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43" name="Text 138"/>
          <p:cNvSpPr/>
          <p:nvPr/>
        </p:nvSpPr>
        <p:spPr>
          <a:xfrm>
            <a:off x="9436035" y="14495529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F·V = C</a:t>
            </a:r>
            <a:endParaRPr lang="en-US" sz="1238" dirty="0"/>
          </a:p>
        </p:txBody>
      </p:sp>
      <p:sp>
        <p:nvSpPr>
          <p:cNvPr id="144" name="Text 139"/>
          <p:cNvSpPr/>
          <p:nvPr/>
        </p:nvSpPr>
        <p:spPr>
          <a:xfrm>
            <a:off x="9436035" y="14699755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= CV</a:t>
            </a:r>
            <a:endParaRPr lang="en-US" sz="900" dirty="0"/>
          </a:p>
        </p:txBody>
      </p:sp>
      <p:sp>
        <p:nvSpPr>
          <p:cNvPr id="145" name="Shape 140"/>
          <p:cNvSpPr/>
          <p:nvPr/>
        </p:nvSpPr>
        <p:spPr>
          <a:xfrm>
            <a:off x="11478618" y="14404579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46" name="Text 141"/>
          <p:cNvSpPr/>
          <p:nvPr/>
        </p:nvSpPr>
        <p:spPr>
          <a:xfrm>
            <a:off x="11607685" y="14495529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A·Ω = V</a:t>
            </a:r>
            <a:endParaRPr lang="en-US" sz="1238" dirty="0"/>
          </a:p>
        </p:txBody>
      </p:sp>
      <p:sp>
        <p:nvSpPr>
          <p:cNvPr id="147" name="Text 142"/>
          <p:cNvSpPr/>
          <p:nvPr/>
        </p:nvSpPr>
        <p:spPr>
          <a:xfrm>
            <a:off x="11607685" y="14699755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= IR</a:t>
            </a:r>
            <a:endParaRPr lang="en-US" sz="900" dirty="0"/>
          </a:p>
        </p:txBody>
      </p:sp>
      <p:sp>
        <p:nvSpPr>
          <p:cNvPr id="148" name="Shape 143"/>
          <p:cNvSpPr/>
          <p:nvPr/>
        </p:nvSpPr>
        <p:spPr>
          <a:xfrm>
            <a:off x="13650268" y="14404579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49" name="Text 144"/>
          <p:cNvSpPr/>
          <p:nvPr/>
        </p:nvSpPr>
        <p:spPr>
          <a:xfrm>
            <a:off x="13779336" y="14495529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C/s = A</a:t>
            </a:r>
            <a:endParaRPr lang="en-US" sz="1238" dirty="0"/>
          </a:p>
        </p:txBody>
      </p:sp>
      <p:sp>
        <p:nvSpPr>
          <p:cNvPr id="150" name="Text 145"/>
          <p:cNvSpPr/>
          <p:nvPr/>
        </p:nvSpPr>
        <p:spPr>
          <a:xfrm>
            <a:off x="13779336" y="14699755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= Q/t</a:t>
            </a:r>
            <a:endParaRPr lang="en-US" sz="900" dirty="0"/>
          </a:p>
        </p:txBody>
      </p:sp>
      <p:sp>
        <p:nvSpPr>
          <p:cNvPr id="151" name="Shape 146"/>
          <p:cNvSpPr/>
          <p:nvPr/>
        </p:nvSpPr>
        <p:spPr>
          <a:xfrm>
            <a:off x="15821919" y="14404579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52" name="Text 147"/>
          <p:cNvSpPr/>
          <p:nvPr/>
        </p:nvSpPr>
        <p:spPr>
          <a:xfrm>
            <a:off x="15950986" y="14495529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W/A = V</a:t>
            </a:r>
            <a:endParaRPr lang="en-US" sz="1238" dirty="0"/>
          </a:p>
        </p:txBody>
      </p:sp>
      <p:sp>
        <p:nvSpPr>
          <p:cNvPr id="153" name="Text 148"/>
          <p:cNvSpPr/>
          <p:nvPr/>
        </p:nvSpPr>
        <p:spPr>
          <a:xfrm>
            <a:off x="15950986" y="14699755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IV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2026-07-01T21:16:17Z</dcterms:created>
  <dcterms:modified xsi:type="dcterms:W3CDTF">2026-07-01T21:16:17Z</dcterms:modified>
</cp:coreProperties>
</file>